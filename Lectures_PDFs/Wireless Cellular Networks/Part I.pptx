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4"/>
  </p:notesMasterIdLst>
  <p:sldIdLst>
    <p:sldId id="256" r:id="rId2"/>
    <p:sldId id="270" r:id="rId3"/>
    <p:sldId id="266" r:id="rId4"/>
    <p:sldId id="262" r:id="rId5"/>
    <p:sldId id="263" r:id="rId6"/>
    <p:sldId id="267" r:id="rId7"/>
    <p:sldId id="265" r:id="rId8"/>
    <p:sldId id="264" r:id="rId9"/>
    <p:sldId id="268" r:id="rId10"/>
    <p:sldId id="269" r:id="rId11"/>
    <p:sldId id="272" r:id="rId12"/>
    <p:sldId id="273" r:id="rId13"/>
  </p:sldIdLst>
  <p:sldSz cx="16256000" cy="9144000"/>
  <p:notesSz cx="9144000" cy="16256000"/>
  <p:embeddedFontLst>
    <p:embeddedFont>
      <p:font typeface="Quattrocento Sans" panose="020B0502050000020003"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7C21B6-72DA-4E8B-B101-83EBE1853278}">
  <a:tblStyle styleId="{917C21B6-72DA-4E8B-B101-83EBE185327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65" d="100"/>
          <a:sy n="65" d="100"/>
        </p:scale>
        <p:origin x="70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t>‹#›</a:t>
            </a:fld>
            <a:endParaRPr sz="1200" b="0" i="0" u="none" strike="noStrike" cap="non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Welcome to this presentation on the Evolution of Cellular Networks. In this introductory session, we will explore why cellular communication was invented, what problems it solves, and what driving forces have shaped its evolution from the first generation to the intelligent 5G networks we see today.</a:t>
            </a:r>
            <a:br>
              <a:rPr lang="en-US" dirty="0"/>
            </a:br>
            <a:br>
              <a:rPr lang="en-US" dirty="0"/>
            </a:br>
            <a:r>
              <a:rPr lang="en-US" dirty="0"/>
              <a:t>Before cellular networks, communication was entirely tethered. People used wired telephones that required a physical connection to a landline. This meant you could only make or receive calls from specific locations, typically your home or office. The concept of mobility in communication was virtually nonexistent.</a:t>
            </a:r>
            <a:br>
              <a:rPr lang="en-US" dirty="0"/>
            </a:br>
            <a:br>
              <a:rPr lang="en-US" dirty="0"/>
            </a:br>
            <a:r>
              <a:rPr lang="en-US" dirty="0"/>
              <a:t>The fundamental breakthrough of cellular technology was the idea of dividing geographic areas into "cells," each served by a base station or cell tower. This cellular concept, first proposed by Bell Labs engineers in the 1940s and implemented in the 1980s, allowed frequency reuse and made large-scale mobile telephony economically viable.</a:t>
            </a:r>
            <a:br>
              <a:rPr lang="en-US" dirty="0"/>
            </a:br>
            <a:br>
              <a:rPr lang="en-US" dirty="0"/>
            </a:br>
            <a:r>
              <a:rPr lang="en-US" dirty="0"/>
              <a:t>As we trace the timeline from 1G in the 1980s through to 5G today, notice that each generation was not merely a speed upgrade. Each generation responded to fundamentally new demands: 1G solved basic mobile voice, 2G added digital clarity and texting, 3G brought the internet to our pockets, 4G enabled mobile broadband and streaming, and 5G is designed for an entirely new era of intelligent connected devices, from autonomous vehicles to smart cities.</a:t>
            </a:r>
            <a:br>
              <a:rPr lang="en-US" dirty="0"/>
            </a:br>
            <a:br>
              <a:rPr lang="en-US" dirty="0"/>
            </a:br>
            <a:r>
              <a:rPr lang="en-US" dirty="0"/>
              <a:t>By the end of Part I, you should understand the key motivations behind cellular network evolution and appreciate how user demands and technological capabilities have always advanced together.</a:t>
            </a:r>
            <a:br>
              <a:rPr lang="en-US" dirty="0"/>
            </a:b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C8A94944-D7D2-0CC4-7B1B-343C15894B2F}"/>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5B87E6EB-AAB4-B36A-57D1-867295613D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E2479021-6277-F35F-581B-824307BBB7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93669DB2-648D-2038-BB2D-7923BE6952F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2459543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8948105-16C6-0F1C-E705-03E83840CDE8}"/>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23E99C4C-9A66-1D9F-9086-B05439D23C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4B592893-A8B8-0C91-C622-2AF81E2D25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A6C15897-FA10-F4E8-022C-3B6E1DC3E29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759792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CEAB0042-2F02-B20E-7865-63E6C90120BB}"/>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CE918B7D-6E2D-7841-1A46-A5D5247741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8DB04E98-DFB4-649E-B481-ED61A96FFB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42544D62-A144-B0D1-08E9-171A47BE655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928168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11CA617-49E9-F2EB-5F26-69CCE618D4B6}"/>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68215411-B3CE-B586-69C1-B051AC3471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ACB4F7F7-95A2-2442-A303-BE454DAAE40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584D1F18-DA36-AFDE-E9B1-27B84CE6C46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4117218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9E3BF50F-5403-C23D-E893-1F92D6A50F79}"/>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36B0EBC2-F59B-6DB6-6449-F05D0B0046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54EE1EF9-B6A2-14C6-082C-8DCA7AD627C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C7DD755F-E7B3-F6DE-55E5-302F4561313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2499941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3F29C504-6488-EC16-A853-C216CC694BB3}"/>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BF2CEC21-83D2-768C-EDDD-2E37069101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E37674FC-9FD0-2C26-94A1-8EA99A8F23A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40086864-64AD-9CF7-75ED-8C78E006521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014690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158978EC-596F-2D0F-AEAB-91018FA67E04}"/>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57EF68CD-1920-130A-B843-7D74F4A110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BF7206F4-29DF-A163-6AF9-80CE03DA7C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605AB34A-2C89-9ED1-0427-E5F255987FD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610735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875EF216-7682-8600-7A5A-D4990E24B4EC}"/>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CD93DDB4-0BE1-21AD-E296-9BD337A051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B40A4024-5E83-5D14-C90C-0B9D4F42DD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E5C12677-DDA5-37FB-5F1A-0FEFF5D8EB4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4234808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8916BF13-D9C4-8FF6-6B93-C98250C775F1}"/>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03EBA317-0939-96BC-1175-B78D2DB4F6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181819FB-4875-2249-ED9C-D44E8F0461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BED8C616-5E7B-E7C6-A1A7-0601293707B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977563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E825A8A1-5733-F631-ADD8-222746788922}"/>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1D061ECD-FE5A-5C5D-12B7-A2CC5624F3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046345C3-2A0B-BCFD-4AE6-EC88EA0886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B2DEF4AB-241C-D554-E1E3-5C3BEBEB064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436990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9231B154-5A66-B757-A11D-EAF4B215F7C3}"/>
            </a:ext>
          </a:extLst>
        </p:cNvPr>
        <p:cNvGrpSpPr/>
        <p:nvPr/>
      </p:nvGrpSpPr>
      <p:grpSpPr>
        <a:xfrm>
          <a:off x="0" y="0"/>
          <a:ext cx="0" cy="0"/>
          <a:chOff x="0" y="0"/>
          <a:chExt cx="0" cy="0"/>
        </a:xfrm>
      </p:grpSpPr>
      <p:sp>
        <p:nvSpPr>
          <p:cNvPr id="133" name="Google Shape;133;p4:notes">
            <a:extLst>
              <a:ext uri="{FF2B5EF4-FFF2-40B4-BE49-F238E27FC236}">
                <a16:creationId xmlns:a16="http://schemas.microsoft.com/office/drawing/2014/main" id="{5E8535FD-0F7D-01D7-148F-8F6D4A4227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4:notes">
            <a:extLst>
              <a:ext uri="{FF2B5EF4-FFF2-40B4-BE49-F238E27FC236}">
                <a16:creationId xmlns:a16="http://schemas.microsoft.com/office/drawing/2014/main" id="{690B7415-7111-9795-2448-E7EDEDC581E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final slide of Part I summarizes the core objectives that have guided the evolution of cellular networks across all generations. Understanding these objectives helps us appreciate why each design decision was made and what the industry aims to achieve with ongoing research into 5G-Advanced and 6G.</a:t>
            </a:r>
            <a:br>
              <a:rPr lang="en-US"/>
            </a:br>
            <a:br>
              <a:rPr lang="en-US"/>
            </a:br>
            <a:r>
              <a:rPr lang="en-US"/>
              <a:t>Let's examine the ten key parameters that cellular engineers continuously optimize:</a:t>
            </a:r>
            <a:br>
              <a:rPr lang="en-US"/>
            </a:br>
            <a:br>
              <a:rPr lang="en-US"/>
            </a:br>
            <a:r>
              <a:rPr lang="en-US"/>
              <a:t>**Coverage:** From 1G to 5G, the goal has always been to extend network reach. Early cellular networks covered only major cities. Today, we expect coverage everywhere—rural areas, highways, underground trains, and even remote oceans via satellite integration. Each generation improves propagation characteristics and builds more cell towers.</a:t>
            </a:r>
            <a:br>
              <a:rPr lang="en-US"/>
            </a:br>
            <a:br>
              <a:rPr lang="en-US"/>
            </a:br>
            <a:r>
              <a:rPr lang="en-US"/>
              <a:t>**Capacity:** As more users join and each user consumes more data, networks must handle higher traffic density. Techniques like cell splitting (dividing large cells into smaller ones), spectrum expansion, and advanced modulation have multiplied network capacity by millions of times since 1G.</a:t>
            </a:r>
            <a:br>
              <a:rPr lang="en-US"/>
            </a:br>
            <a:br>
              <a:rPr lang="en-US"/>
            </a:br>
            <a:r>
              <a:rPr lang="en-US"/>
              <a:t>**Data Rate:** Perhaps the most visible metric—each generation delivers dramatically faster speeds. 1G's 2.4 kbps versus 5G's 20 Gbps represents an approximately 8-million-fold increase. This enables richer applications from text to video to immersive experiences.</a:t>
            </a:r>
            <a:br>
              <a:rPr lang="en-US"/>
            </a:br>
            <a:br>
              <a:rPr lang="en-US"/>
            </a:br>
            <a:r>
              <a:rPr lang="en-US"/>
              <a:t>**Latency:** While early networks had latency of hundreds of milliseconds, 5G aims for under 1 millisecond. Low latency is critical for real-time applications like online gaming, virtual reality, remote surgery, and autonomous vehicle coordination where delays can be dangerous.</a:t>
            </a:r>
            <a:br>
              <a:rPr lang="en-US"/>
            </a:br>
            <a:br>
              <a:rPr lang="en-US"/>
            </a:br>
            <a:r>
              <a:rPr lang="en-US"/>
              <a:t>**Reliability:** 5G targets 99.9999% reliability (six nines) for mission-critical applications. This means the network can fail for only about 30 seconds per year. Achieving this requires redundant infrastructure, intelligent routing, and self-healing network capabilities.</a:t>
            </a:r>
            <a:br>
              <a:rPr lang="en-US"/>
            </a:br>
            <a:br>
              <a:rPr lang="en-US"/>
            </a:br>
            <a:r>
              <a:rPr lang="en-US"/>
              <a:t>**Security:** Each generation has introduced stronger encryption and authentication. 5G implements advanced security features including stronger encryption algorithms, subscriber privacy protection, and network slicing isolation to prevent cross-tenant attacks.</a:t>
            </a:r>
            <a:br>
              <a:rPr lang="en-US"/>
            </a:br>
            <a:br>
              <a:rPr lang="en-US"/>
            </a:br>
            <a:r>
              <a:rPr lang="en-US"/>
              <a:t>**Energy Efficiency:** With billions of devices and millions of base stations, energy consumption matters both environmentally and economically. 5G is designed to use significantly less energy per bit transmitted, and supports features that allow IoT devices to operate for years on a single battery.</a:t>
            </a:r>
            <a:br>
              <a:rPr lang="en-US"/>
            </a:br>
            <a:br>
              <a:rPr lang="en-US"/>
            </a:br>
            <a:r>
              <a:rPr lang="en-US"/>
              <a:t>**Quality of Service (QoS):** Modern networks must prioritize different traffic types appropriately—emergency calls get highest priority, video calls need consistent bandwidth, and IoT sensors can tolerate delays. Network slicing in 5G creates virtual networks optimized for specific services.</a:t>
            </a:r>
            <a:br>
              <a:rPr lang="en-US"/>
            </a:br>
            <a:br>
              <a:rPr lang="en-US"/>
            </a:br>
            <a:r>
              <a:rPr lang="en-US"/>
              <a:t>**Mobility:** Supporting users moving at high speeds—from walking to cars to high-speed trains—is a fundamental cellular challenge. Each generation improves handover mechanisms that seamlessly transfer connections between base stations.</a:t>
            </a:r>
            <a:br>
              <a:rPr lang="en-US"/>
            </a:br>
            <a:br>
              <a:rPr lang="en-US"/>
            </a:br>
            <a:r>
              <a:rPr lang="en-US"/>
              <a:t>**Spectral Efficiency:** Spectrum is limited and expensive. Each generation packs more bits per Hertz of spectrum through advanced techniques like MIMO (Multiple Input Multiple Output), beamforming, and higher-order modulation.</a:t>
            </a:r>
            <a:br>
              <a:rPr lang="en-US"/>
            </a:br>
            <a:br>
              <a:rPr lang="en-US"/>
            </a:br>
            <a:r>
              <a:rPr lang="en-US"/>
              <a:t>The conceptual diagram shows the virtuous cycle: more users demand better spectrum usage, which enables higher capacity, which delivers higher speed, which creates better user experience—driving demand even further.</a:t>
            </a:r>
            <a:br>
              <a:rPr lang="en-US"/>
            </a:br>
            <a:endParaRPr/>
          </a:p>
        </p:txBody>
      </p:sp>
      <p:sp>
        <p:nvSpPr>
          <p:cNvPr id="135" name="Google Shape;135;p4:notes">
            <a:extLst>
              <a:ext uri="{FF2B5EF4-FFF2-40B4-BE49-F238E27FC236}">
                <a16:creationId xmlns:a16="http://schemas.microsoft.com/office/drawing/2014/main" id="{58A8BE7C-53C8-AA74-6F6C-DEC1DB1012E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888199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pic>
        <p:nvPicPr>
          <p:cNvPr id="16" name="Google Shape;16;p3" descr="https://kimi-img.moonshot.cn/pub/slides/okc/4mrj7o5krcsqw/mnt/agents/output/cellular_networks/images/3_Cell_Tower_Antennas_Types_and_Role.png"/>
          <p:cNvPicPr preferRelativeResize="0"/>
          <p:nvPr/>
        </p:nvPicPr>
        <p:blipFill rotWithShape="1">
          <a:blip r:embed="rId3">
            <a:alphaModFix/>
          </a:blip>
          <a:srcRect t="7833" b="7833"/>
          <a:stretch/>
        </p:blipFill>
        <p:spPr>
          <a:xfrm>
            <a:off x="0" y="0"/>
            <a:ext cx="16256000" cy="9144000"/>
          </a:xfrm>
          <a:prstGeom prst="rect">
            <a:avLst/>
          </a:prstGeom>
          <a:noFill/>
          <a:ln>
            <a:noFill/>
          </a:ln>
        </p:spPr>
      </p:pic>
      <p:sp>
        <p:nvSpPr>
          <p:cNvPr id="17" name="Google Shape;17;p3"/>
          <p:cNvSpPr/>
          <p:nvPr/>
        </p:nvSpPr>
        <p:spPr>
          <a:xfrm>
            <a:off x="0" y="51526"/>
            <a:ext cx="16256100" cy="9144000"/>
          </a:xfrm>
          <a:prstGeom prst="rect">
            <a:avLst/>
          </a:prstGeom>
          <a:gradFill>
            <a:gsLst>
              <a:gs pos="0">
                <a:srgbClr val="0F3D7A">
                  <a:alpha val="40000"/>
                </a:srgbClr>
              </a:gs>
              <a:gs pos="35000">
                <a:srgbClr val="0F3D7A">
                  <a:alpha val="80000"/>
                </a:srgbClr>
              </a:gs>
              <a:gs pos="70000">
                <a:srgbClr val="0F3D7A">
                  <a:alpha val="90196"/>
                </a:srgbClr>
              </a:gs>
              <a:gs pos="100000">
                <a:srgbClr val="0F3D7A">
                  <a:alpha val="94901"/>
                </a:srgbClr>
              </a:gs>
            </a:gsLst>
            <a:lin ang="5400000" scaled="0"/>
          </a:gradFill>
          <a:ln w="12700" cap="flat" cmpd="sng">
            <a:solidFill>
              <a:srgbClr val="FFFFFF">
                <a:alpha val="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0" y="0"/>
            <a:ext cx="16256000" cy="508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1778000" y="1524000"/>
            <a:ext cx="12700000" cy="16510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4800" b="1" i="0" u="none" strike="noStrike" cap="none" dirty="0">
                <a:solidFill>
                  <a:srgbClr val="FFFFFF"/>
                </a:solidFill>
                <a:latin typeface="Quattrocento Sans"/>
                <a:ea typeface="Quattrocento Sans"/>
                <a:cs typeface="Quattrocento Sans"/>
                <a:sym typeface="Quattrocento Sans"/>
              </a:rPr>
              <a:t>Part- I</a:t>
            </a:r>
          </a:p>
          <a:p>
            <a:pPr marL="0" marR="0" lvl="0" indent="0" algn="ctr" rtl="0">
              <a:lnSpc>
                <a:spcPct val="120000"/>
              </a:lnSpc>
              <a:spcBef>
                <a:spcPts val="0"/>
              </a:spcBef>
              <a:spcAft>
                <a:spcPts val="0"/>
              </a:spcAft>
              <a:buNone/>
            </a:pPr>
            <a:r>
              <a:rPr lang="en-US" sz="4800" b="1" i="0" u="none" strike="noStrike" cap="none" dirty="0">
                <a:solidFill>
                  <a:srgbClr val="FFFFFF"/>
                </a:solidFill>
                <a:latin typeface="Quattrocento Sans"/>
                <a:ea typeface="Quattrocento Sans"/>
                <a:cs typeface="Quattrocento Sans"/>
                <a:sym typeface="Quattrocento Sans"/>
              </a:rPr>
              <a:t>Introduction to Wireless Cellular Networks</a:t>
            </a:r>
            <a:endParaRPr sz="4800" b="0" i="0" u="none" strike="noStrike" cap="none" dirty="0"/>
          </a:p>
        </p:txBody>
      </p:sp>
      <p:sp>
        <p:nvSpPr>
          <p:cNvPr id="20" name="Google Shape;20;p3"/>
          <p:cNvSpPr/>
          <p:nvPr/>
        </p:nvSpPr>
        <p:spPr>
          <a:xfrm>
            <a:off x="3048000" y="3302000"/>
            <a:ext cx="10160000" cy="571500"/>
          </a:xfrm>
          <a:prstGeom prst="rect">
            <a:avLst/>
          </a:prstGeom>
          <a:noFill/>
          <a:ln>
            <a:noFill/>
          </a:ln>
        </p:spPr>
        <p:txBody>
          <a:bodyPr spcFirstLastPara="1" wrap="square" lIns="0" tIns="0" rIns="0" bIns="0" anchor="ctr" anchorCtr="0">
            <a:noAutofit/>
          </a:bodyPr>
          <a:lstStyle/>
          <a:p>
            <a:pPr marL="0" marR="0" lvl="0" indent="0" algn="ctr" rtl="0">
              <a:lnSpc>
                <a:spcPct val="140000"/>
              </a:lnSpc>
              <a:spcBef>
                <a:spcPts val="0"/>
              </a:spcBef>
              <a:spcAft>
                <a:spcPts val="0"/>
              </a:spcAft>
              <a:buNone/>
            </a:pPr>
            <a:r>
              <a:rPr lang="en-US" sz="2200" b="0" i="0" u="none" strike="noStrike" cap="none" dirty="0">
                <a:solidFill>
                  <a:srgbClr val="FFFFFF"/>
                </a:solidFill>
                <a:latin typeface="Quattrocento Sans"/>
                <a:ea typeface="Quattrocento Sans"/>
                <a:cs typeface="Quattrocento Sans"/>
                <a:sym typeface="Quattrocento Sans"/>
              </a:rPr>
              <a:t>From Analog Voice to Intelligent 5G Networks</a:t>
            </a:r>
            <a:endParaRPr sz="2200" b="0" i="0" u="none" strike="noStrike" cap="none" dirty="0"/>
          </a:p>
        </p:txBody>
      </p:sp>
      <p:sp>
        <p:nvSpPr>
          <p:cNvPr id="21" name="Google Shape;21;p3"/>
          <p:cNvSpPr/>
          <p:nvPr/>
        </p:nvSpPr>
        <p:spPr>
          <a:xfrm>
            <a:off x="6223000" y="4127500"/>
            <a:ext cx="3810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1930400" y="5334000"/>
            <a:ext cx="457200" cy="457200"/>
          </a:xfrm>
          <a:custGeom>
            <a:avLst/>
            <a:gdLst/>
            <a:ahLst/>
            <a:cxnLst/>
            <a:rect l="l" t="t" r="r" b="b"/>
            <a:pathLst>
              <a:path w="457200" h="457200" extrusionOk="0">
                <a:moveTo>
                  <a:pt x="47308" y="8751"/>
                </a:moveTo>
                <a:cubicBezTo>
                  <a:pt x="37544" y="4286"/>
                  <a:pt x="26432" y="9555"/>
                  <a:pt x="22543" y="20538"/>
                </a:cubicBezTo>
                <a:cubicBezTo>
                  <a:pt x="12065" y="49560"/>
                  <a:pt x="6350" y="81171"/>
                  <a:pt x="6350" y="114300"/>
                </a:cubicBezTo>
                <a:cubicBezTo>
                  <a:pt x="6350" y="147429"/>
                  <a:pt x="12065" y="179040"/>
                  <a:pt x="22543" y="208062"/>
                </a:cubicBezTo>
                <a:cubicBezTo>
                  <a:pt x="26511" y="219045"/>
                  <a:pt x="37624" y="224314"/>
                  <a:pt x="47387" y="219849"/>
                </a:cubicBezTo>
                <a:cubicBezTo>
                  <a:pt x="57150" y="215384"/>
                  <a:pt x="61833" y="202883"/>
                  <a:pt x="57864" y="191899"/>
                </a:cubicBezTo>
                <a:cubicBezTo>
                  <a:pt x="49213" y="168057"/>
                  <a:pt x="44450" y="141803"/>
                  <a:pt x="44450" y="114300"/>
                </a:cubicBezTo>
                <a:cubicBezTo>
                  <a:pt x="44450" y="86797"/>
                  <a:pt x="49213" y="60543"/>
                  <a:pt x="57864" y="36612"/>
                </a:cubicBezTo>
                <a:cubicBezTo>
                  <a:pt x="61833" y="25628"/>
                  <a:pt x="57071" y="13127"/>
                  <a:pt x="47387" y="8662"/>
                </a:cubicBezTo>
                <a:close/>
                <a:moveTo>
                  <a:pt x="409892" y="8751"/>
                </a:moveTo>
                <a:cubicBezTo>
                  <a:pt x="400129" y="13216"/>
                  <a:pt x="395446" y="25718"/>
                  <a:pt x="399415" y="36701"/>
                </a:cubicBezTo>
                <a:cubicBezTo>
                  <a:pt x="408067" y="60633"/>
                  <a:pt x="412829" y="86886"/>
                  <a:pt x="412829" y="114389"/>
                </a:cubicBezTo>
                <a:cubicBezTo>
                  <a:pt x="412829" y="141893"/>
                  <a:pt x="408067" y="168146"/>
                  <a:pt x="399415" y="192078"/>
                </a:cubicBezTo>
                <a:cubicBezTo>
                  <a:pt x="395446" y="203061"/>
                  <a:pt x="400209" y="215563"/>
                  <a:pt x="409893" y="220028"/>
                </a:cubicBezTo>
                <a:cubicBezTo>
                  <a:pt x="419576" y="224492"/>
                  <a:pt x="430768" y="219135"/>
                  <a:pt x="434737" y="208240"/>
                </a:cubicBezTo>
                <a:cubicBezTo>
                  <a:pt x="445135" y="179219"/>
                  <a:pt x="450929" y="147608"/>
                  <a:pt x="450929" y="114479"/>
                </a:cubicBezTo>
                <a:cubicBezTo>
                  <a:pt x="450929" y="81349"/>
                  <a:pt x="445214" y="49738"/>
                  <a:pt x="434737" y="20717"/>
                </a:cubicBezTo>
                <a:cubicBezTo>
                  <a:pt x="430768" y="9733"/>
                  <a:pt x="419656" y="4465"/>
                  <a:pt x="409893" y="8930"/>
                </a:cubicBezTo>
                <a:close/>
                <a:moveTo>
                  <a:pt x="269954" y="147518"/>
                </a:moveTo>
                <a:cubicBezTo>
                  <a:pt x="275908" y="138142"/>
                  <a:pt x="279400" y="126712"/>
                  <a:pt x="279400" y="114300"/>
                </a:cubicBezTo>
                <a:cubicBezTo>
                  <a:pt x="279400" y="82778"/>
                  <a:pt x="256619" y="57150"/>
                  <a:pt x="228600" y="57150"/>
                </a:cubicBezTo>
                <a:cubicBezTo>
                  <a:pt x="200581" y="57150"/>
                  <a:pt x="177800" y="82778"/>
                  <a:pt x="177800" y="114300"/>
                </a:cubicBezTo>
                <a:cubicBezTo>
                  <a:pt x="177800" y="126712"/>
                  <a:pt x="181293" y="138142"/>
                  <a:pt x="187246" y="147518"/>
                </a:cubicBezTo>
                <a:lnTo>
                  <a:pt x="78502" y="416838"/>
                </a:lnTo>
                <a:cubicBezTo>
                  <a:pt x="72708" y="431215"/>
                  <a:pt x="78343" y="448181"/>
                  <a:pt x="91123" y="454700"/>
                </a:cubicBezTo>
                <a:cubicBezTo>
                  <a:pt x="103902" y="461218"/>
                  <a:pt x="118983" y="454878"/>
                  <a:pt x="124778" y="440501"/>
                </a:cubicBezTo>
                <a:lnTo>
                  <a:pt x="141129" y="400139"/>
                </a:lnTo>
                <a:lnTo>
                  <a:pt x="316230" y="400139"/>
                </a:lnTo>
                <a:lnTo>
                  <a:pt x="332581" y="440501"/>
                </a:lnTo>
                <a:cubicBezTo>
                  <a:pt x="338376" y="454878"/>
                  <a:pt x="353457" y="461218"/>
                  <a:pt x="366236" y="454700"/>
                </a:cubicBezTo>
                <a:cubicBezTo>
                  <a:pt x="379016" y="448181"/>
                  <a:pt x="384651" y="431215"/>
                  <a:pt x="378857" y="416838"/>
                </a:cubicBezTo>
                <a:lnTo>
                  <a:pt x="269954" y="147518"/>
                </a:lnTo>
                <a:close/>
                <a:moveTo>
                  <a:pt x="298847" y="357188"/>
                </a:moveTo>
                <a:lnTo>
                  <a:pt x="158353" y="357188"/>
                </a:lnTo>
                <a:lnTo>
                  <a:pt x="175657" y="314325"/>
                </a:lnTo>
                <a:lnTo>
                  <a:pt x="281464" y="314325"/>
                </a:lnTo>
                <a:lnTo>
                  <a:pt x="298768" y="357188"/>
                </a:lnTo>
                <a:close/>
                <a:moveTo>
                  <a:pt x="228600" y="183326"/>
                </a:moveTo>
                <a:lnTo>
                  <a:pt x="264160" y="271463"/>
                </a:lnTo>
                <a:lnTo>
                  <a:pt x="192961" y="271463"/>
                </a:lnTo>
                <a:lnTo>
                  <a:pt x="228521" y="183326"/>
                </a:lnTo>
                <a:close/>
                <a:moveTo>
                  <a:pt x="129619" y="65723"/>
                </a:moveTo>
                <a:cubicBezTo>
                  <a:pt x="133826" y="54918"/>
                  <a:pt x="129461" y="42237"/>
                  <a:pt x="119777" y="37505"/>
                </a:cubicBezTo>
                <a:cubicBezTo>
                  <a:pt x="110093" y="32772"/>
                  <a:pt x="98901" y="37683"/>
                  <a:pt x="94694" y="48577"/>
                </a:cubicBezTo>
                <a:cubicBezTo>
                  <a:pt x="86916" y="68759"/>
                  <a:pt x="82550" y="90994"/>
                  <a:pt x="82550" y="114300"/>
                </a:cubicBezTo>
                <a:cubicBezTo>
                  <a:pt x="82550" y="137606"/>
                  <a:pt x="86916" y="159841"/>
                  <a:pt x="94694" y="180023"/>
                </a:cubicBezTo>
                <a:cubicBezTo>
                  <a:pt x="98901" y="190827"/>
                  <a:pt x="110173" y="195828"/>
                  <a:pt x="119777" y="191095"/>
                </a:cubicBezTo>
                <a:cubicBezTo>
                  <a:pt x="129381" y="186363"/>
                  <a:pt x="133826" y="173682"/>
                  <a:pt x="129619" y="162877"/>
                </a:cubicBezTo>
                <a:cubicBezTo>
                  <a:pt x="123825" y="148054"/>
                  <a:pt x="120650" y="131624"/>
                  <a:pt x="120650" y="114300"/>
                </a:cubicBezTo>
                <a:cubicBezTo>
                  <a:pt x="120650" y="96976"/>
                  <a:pt x="123825" y="80546"/>
                  <a:pt x="129619" y="65723"/>
                </a:cubicBezTo>
                <a:close/>
                <a:moveTo>
                  <a:pt x="362506" y="48578"/>
                </a:moveTo>
                <a:cubicBezTo>
                  <a:pt x="358299" y="37773"/>
                  <a:pt x="347028" y="32772"/>
                  <a:pt x="337423" y="37505"/>
                </a:cubicBezTo>
                <a:cubicBezTo>
                  <a:pt x="327819" y="42237"/>
                  <a:pt x="323374" y="54918"/>
                  <a:pt x="327581" y="65723"/>
                </a:cubicBezTo>
                <a:cubicBezTo>
                  <a:pt x="333375" y="80546"/>
                  <a:pt x="336550" y="96976"/>
                  <a:pt x="336550" y="114300"/>
                </a:cubicBezTo>
                <a:cubicBezTo>
                  <a:pt x="336550" y="131624"/>
                  <a:pt x="333375" y="148054"/>
                  <a:pt x="327581" y="162877"/>
                </a:cubicBezTo>
                <a:cubicBezTo>
                  <a:pt x="323374" y="173682"/>
                  <a:pt x="327739" y="186363"/>
                  <a:pt x="337423" y="191095"/>
                </a:cubicBezTo>
                <a:cubicBezTo>
                  <a:pt x="347107" y="195828"/>
                  <a:pt x="358299" y="190917"/>
                  <a:pt x="362506" y="180023"/>
                </a:cubicBezTo>
                <a:cubicBezTo>
                  <a:pt x="370284" y="159841"/>
                  <a:pt x="374650" y="137606"/>
                  <a:pt x="374650" y="114300"/>
                </a:cubicBezTo>
                <a:cubicBezTo>
                  <a:pt x="374650" y="90994"/>
                  <a:pt x="370284" y="68759"/>
                  <a:pt x="362506" y="4857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4724400" y="5207000"/>
            <a:ext cx="457200" cy="457200"/>
          </a:xfrm>
          <a:custGeom>
            <a:avLst/>
            <a:gdLst/>
            <a:ahLst/>
            <a:cxnLst/>
            <a:rect l="l" t="t" r="r" b="b"/>
            <a:pathLst>
              <a:path w="457200" h="457200" extrusionOk="0">
                <a:moveTo>
                  <a:pt x="19050" y="57150"/>
                </a:moveTo>
                <a:cubicBezTo>
                  <a:pt x="19050" y="25628"/>
                  <a:pt x="53221" y="0"/>
                  <a:pt x="95250" y="0"/>
                </a:cubicBezTo>
                <a:lnTo>
                  <a:pt x="361950" y="0"/>
                </a:lnTo>
                <a:cubicBezTo>
                  <a:pt x="403979" y="0"/>
                  <a:pt x="438150" y="25628"/>
                  <a:pt x="438150" y="57150"/>
                </a:cubicBezTo>
                <a:lnTo>
                  <a:pt x="438150" y="400050"/>
                </a:lnTo>
                <a:cubicBezTo>
                  <a:pt x="438150" y="431572"/>
                  <a:pt x="403979" y="457200"/>
                  <a:pt x="361950" y="457200"/>
                </a:cubicBezTo>
                <a:lnTo>
                  <a:pt x="95250" y="457200"/>
                </a:lnTo>
                <a:cubicBezTo>
                  <a:pt x="53221" y="457200"/>
                  <a:pt x="19050" y="431572"/>
                  <a:pt x="19050" y="400050"/>
                </a:cubicBezTo>
                <a:lnTo>
                  <a:pt x="19050" y="57150"/>
                </a:lnTo>
                <a:close/>
                <a:moveTo>
                  <a:pt x="95250" y="57150"/>
                </a:moveTo>
                <a:lnTo>
                  <a:pt x="95250" y="328613"/>
                </a:lnTo>
                <a:lnTo>
                  <a:pt x="361950" y="328613"/>
                </a:lnTo>
                <a:lnTo>
                  <a:pt x="361950" y="57150"/>
                </a:lnTo>
                <a:lnTo>
                  <a:pt x="95250" y="57150"/>
                </a:lnTo>
                <a:close/>
                <a:moveTo>
                  <a:pt x="228600" y="421481"/>
                </a:moveTo>
                <a:cubicBezTo>
                  <a:pt x="249674" y="421481"/>
                  <a:pt x="266700" y="408712"/>
                  <a:pt x="266700" y="392906"/>
                </a:cubicBezTo>
                <a:cubicBezTo>
                  <a:pt x="266700" y="377101"/>
                  <a:pt x="249674" y="364331"/>
                  <a:pt x="228600" y="364331"/>
                </a:cubicBezTo>
                <a:cubicBezTo>
                  <a:pt x="207526" y="364331"/>
                  <a:pt x="190500" y="377101"/>
                  <a:pt x="190500" y="392906"/>
                </a:cubicBezTo>
                <a:cubicBezTo>
                  <a:pt x="190500" y="408712"/>
                  <a:pt x="207526" y="421481"/>
                  <a:pt x="228600" y="42148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7340600" y="5207000"/>
            <a:ext cx="457200" cy="457200"/>
          </a:xfrm>
          <a:custGeom>
            <a:avLst/>
            <a:gdLst/>
            <a:ahLst/>
            <a:cxnLst/>
            <a:rect l="l" t="t" r="r" b="b"/>
            <a:pathLst>
              <a:path w="457200" h="457200" extrusionOk="0">
                <a:moveTo>
                  <a:pt x="314236" y="250031"/>
                </a:moveTo>
                <a:lnTo>
                  <a:pt x="143768" y="250031"/>
                </a:lnTo>
                <a:cubicBezTo>
                  <a:pt x="146358" y="307628"/>
                  <a:pt x="159127" y="360670"/>
                  <a:pt x="177254" y="399514"/>
                </a:cubicBezTo>
                <a:cubicBezTo>
                  <a:pt x="187434" y="421392"/>
                  <a:pt x="198418" y="436840"/>
                  <a:pt x="208597" y="446306"/>
                </a:cubicBezTo>
                <a:cubicBezTo>
                  <a:pt x="218599" y="455682"/>
                  <a:pt x="225475" y="457200"/>
                  <a:pt x="229046" y="457200"/>
                </a:cubicBezTo>
                <a:cubicBezTo>
                  <a:pt x="232618" y="457200"/>
                  <a:pt x="239494" y="455682"/>
                  <a:pt x="249495" y="446306"/>
                </a:cubicBezTo>
                <a:cubicBezTo>
                  <a:pt x="259675" y="436840"/>
                  <a:pt x="270659" y="421303"/>
                  <a:pt x="280839" y="399514"/>
                </a:cubicBezTo>
                <a:cubicBezTo>
                  <a:pt x="298966" y="360670"/>
                  <a:pt x="311735" y="307628"/>
                  <a:pt x="314325" y="250031"/>
                </a:cubicBezTo>
                <a:close/>
                <a:moveTo>
                  <a:pt x="143679" y="207169"/>
                </a:moveTo>
                <a:lnTo>
                  <a:pt x="314146" y="207169"/>
                </a:lnTo>
                <a:cubicBezTo>
                  <a:pt x="311646" y="149572"/>
                  <a:pt x="298877" y="96530"/>
                  <a:pt x="280749" y="57686"/>
                </a:cubicBezTo>
                <a:cubicBezTo>
                  <a:pt x="270570" y="35897"/>
                  <a:pt x="259586" y="20360"/>
                  <a:pt x="249406" y="10894"/>
                </a:cubicBezTo>
                <a:cubicBezTo>
                  <a:pt x="239405" y="1518"/>
                  <a:pt x="232529" y="0"/>
                  <a:pt x="228957" y="0"/>
                </a:cubicBezTo>
                <a:cubicBezTo>
                  <a:pt x="225385" y="0"/>
                  <a:pt x="218509" y="1518"/>
                  <a:pt x="208508" y="10894"/>
                </a:cubicBezTo>
                <a:cubicBezTo>
                  <a:pt x="198328" y="20360"/>
                  <a:pt x="187345" y="35897"/>
                  <a:pt x="177165" y="57686"/>
                </a:cubicBezTo>
                <a:cubicBezTo>
                  <a:pt x="159038" y="96530"/>
                  <a:pt x="146268" y="149572"/>
                  <a:pt x="143679" y="207169"/>
                </a:cubicBezTo>
                <a:close/>
                <a:moveTo>
                  <a:pt x="100816" y="207169"/>
                </a:moveTo>
                <a:cubicBezTo>
                  <a:pt x="103942" y="130731"/>
                  <a:pt x="123676" y="59740"/>
                  <a:pt x="152519" y="13127"/>
                </a:cubicBezTo>
                <a:cubicBezTo>
                  <a:pt x="70277" y="42237"/>
                  <a:pt x="9733" y="117157"/>
                  <a:pt x="1339" y="207169"/>
                </a:cubicBezTo>
                <a:lnTo>
                  <a:pt x="100816" y="207169"/>
                </a:lnTo>
                <a:close/>
                <a:moveTo>
                  <a:pt x="1339" y="250031"/>
                </a:moveTo>
                <a:cubicBezTo>
                  <a:pt x="9733" y="340043"/>
                  <a:pt x="70277" y="414963"/>
                  <a:pt x="152519" y="444073"/>
                </a:cubicBezTo>
                <a:cubicBezTo>
                  <a:pt x="123676" y="397460"/>
                  <a:pt x="103942" y="326469"/>
                  <a:pt x="100816" y="250031"/>
                </a:cubicBezTo>
                <a:lnTo>
                  <a:pt x="1339" y="250031"/>
                </a:lnTo>
                <a:close/>
                <a:moveTo>
                  <a:pt x="357098" y="250031"/>
                </a:moveTo>
                <a:cubicBezTo>
                  <a:pt x="353973" y="326469"/>
                  <a:pt x="334238" y="397460"/>
                  <a:pt x="305395" y="444073"/>
                </a:cubicBezTo>
                <a:cubicBezTo>
                  <a:pt x="387638" y="414873"/>
                  <a:pt x="448181" y="340043"/>
                  <a:pt x="456575" y="250031"/>
                </a:cubicBezTo>
                <a:lnTo>
                  <a:pt x="357098" y="250031"/>
                </a:lnTo>
                <a:close/>
                <a:moveTo>
                  <a:pt x="456575" y="207169"/>
                </a:moveTo>
                <a:cubicBezTo>
                  <a:pt x="448181" y="117157"/>
                  <a:pt x="387638" y="42237"/>
                  <a:pt x="305395" y="13127"/>
                </a:cubicBezTo>
                <a:cubicBezTo>
                  <a:pt x="334238" y="59740"/>
                  <a:pt x="353973" y="130731"/>
                  <a:pt x="357098" y="207169"/>
                </a:cubicBezTo>
                <a:lnTo>
                  <a:pt x="456575" y="207169"/>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10287000" y="5207000"/>
            <a:ext cx="457200" cy="457200"/>
          </a:xfrm>
          <a:custGeom>
            <a:avLst/>
            <a:gdLst/>
            <a:ahLst/>
            <a:cxnLst/>
            <a:rect l="l" t="t" r="r" b="b"/>
            <a:pathLst>
              <a:path w="457200" h="457200" extrusionOk="0">
                <a:moveTo>
                  <a:pt x="228600" y="85725"/>
                </a:moveTo>
                <a:cubicBezTo>
                  <a:pt x="156448" y="85725"/>
                  <a:pt x="91123" y="117872"/>
                  <a:pt x="43101" y="170200"/>
                </a:cubicBezTo>
                <a:cubicBezTo>
                  <a:pt x="33020" y="181183"/>
                  <a:pt x="16907" y="180915"/>
                  <a:pt x="7223" y="169575"/>
                </a:cubicBezTo>
                <a:cubicBezTo>
                  <a:pt x="-2461" y="158234"/>
                  <a:pt x="-2302" y="140107"/>
                  <a:pt x="7779" y="129213"/>
                </a:cubicBezTo>
                <a:cubicBezTo>
                  <a:pt x="64849" y="66883"/>
                  <a:pt x="142796" y="28575"/>
                  <a:pt x="228600" y="28575"/>
                </a:cubicBezTo>
                <a:cubicBezTo>
                  <a:pt x="314404" y="28575"/>
                  <a:pt x="392351" y="66883"/>
                  <a:pt x="449501" y="129213"/>
                </a:cubicBezTo>
                <a:cubicBezTo>
                  <a:pt x="459581" y="140196"/>
                  <a:pt x="459819" y="158323"/>
                  <a:pt x="450056" y="169575"/>
                </a:cubicBezTo>
                <a:cubicBezTo>
                  <a:pt x="440293" y="180826"/>
                  <a:pt x="424180" y="181183"/>
                  <a:pt x="414179" y="170200"/>
                </a:cubicBezTo>
                <a:cubicBezTo>
                  <a:pt x="366077" y="117872"/>
                  <a:pt x="300752" y="85725"/>
                  <a:pt x="228600" y="85725"/>
                </a:cubicBezTo>
                <a:close/>
                <a:moveTo>
                  <a:pt x="190500" y="385763"/>
                </a:moveTo>
                <a:cubicBezTo>
                  <a:pt x="190500" y="362106"/>
                  <a:pt x="207572" y="342900"/>
                  <a:pt x="228600" y="342900"/>
                </a:cubicBezTo>
                <a:cubicBezTo>
                  <a:pt x="249628" y="342900"/>
                  <a:pt x="266700" y="362106"/>
                  <a:pt x="266700" y="385763"/>
                </a:cubicBezTo>
                <a:cubicBezTo>
                  <a:pt x="266700" y="409419"/>
                  <a:pt x="249628" y="428625"/>
                  <a:pt x="228600" y="428625"/>
                </a:cubicBezTo>
                <a:cubicBezTo>
                  <a:pt x="207572" y="428625"/>
                  <a:pt x="190500" y="409419"/>
                  <a:pt x="190500" y="385763"/>
                </a:cubicBezTo>
                <a:close/>
                <a:moveTo>
                  <a:pt x="133350" y="291286"/>
                </a:moveTo>
                <a:cubicBezTo>
                  <a:pt x="124063" y="303163"/>
                  <a:pt x="108029" y="304234"/>
                  <a:pt x="97473" y="293787"/>
                </a:cubicBezTo>
                <a:cubicBezTo>
                  <a:pt x="86916" y="283339"/>
                  <a:pt x="85963" y="265301"/>
                  <a:pt x="95250" y="253425"/>
                </a:cubicBezTo>
                <a:cubicBezTo>
                  <a:pt x="127794" y="211991"/>
                  <a:pt x="175498" y="185738"/>
                  <a:pt x="228600" y="185738"/>
                </a:cubicBezTo>
                <a:cubicBezTo>
                  <a:pt x="281702" y="185738"/>
                  <a:pt x="329406" y="211991"/>
                  <a:pt x="361950" y="253425"/>
                </a:cubicBezTo>
                <a:cubicBezTo>
                  <a:pt x="371237" y="265301"/>
                  <a:pt x="370205" y="283339"/>
                  <a:pt x="359728" y="293787"/>
                </a:cubicBezTo>
                <a:cubicBezTo>
                  <a:pt x="349250" y="304234"/>
                  <a:pt x="333137" y="303074"/>
                  <a:pt x="323850" y="291286"/>
                </a:cubicBezTo>
                <a:cubicBezTo>
                  <a:pt x="300514" y="261551"/>
                  <a:pt x="266541" y="242888"/>
                  <a:pt x="228600" y="242888"/>
                </a:cubicBezTo>
                <a:cubicBezTo>
                  <a:pt x="190659" y="242888"/>
                  <a:pt x="156686" y="261551"/>
                  <a:pt x="133350" y="29128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12979400" y="5270500"/>
            <a:ext cx="457200" cy="457200"/>
          </a:xfrm>
          <a:custGeom>
            <a:avLst/>
            <a:gdLst/>
            <a:ahLst/>
            <a:cxnLst/>
            <a:rect l="l" t="t" r="r" b="b"/>
            <a:pathLst>
              <a:path w="457200" h="457200" extrusionOk="0">
                <a:moveTo>
                  <a:pt x="107156" y="50006"/>
                </a:moveTo>
                <a:cubicBezTo>
                  <a:pt x="107156" y="22414"/>
                  <a:pt x="129570" y="0"/>
                  <a:pt x="157163" y="0"/>
                </a:cubicBezTo>
                <a:lnTo>
                  <a:pt x="178594" y="0"/>
                </a:lnTo>
                <a:cubicBezTo>
                  <a:pt x="194399" y="0"/>
                  <a:pt x="207169" y="12769"/>
                  <a:pt x="207169" y="28575"/>
                </a:cubicBezTo>
                <a:lnTo>
                  <a:pt x="207169" y="428625"/>
                </a:lnTo>
                <a:cubicBezTo>
                  <a:pt x="207169" y="444431"/>
                  <a:pt x="194399" y="457200"/>
                  <a:pt x="178594" y="457200"/>
                </a:cubicBezTo>
                <a:lnTo>
                  <a:pt x="150019" y="457200"/>
                </a:lnTo>
                <a:cubicBezTo>
                  <a:pt x="123408" y="457200"/>
                  <a:pt x="100995" y="438983"/>
                  <a:pt x="94655" y="414338"/>
                </a:cubicBezTo>
                <a:cubicBezTo>
                  <a:pt x="94030" y="414338"/>
                  <a:pt x="93494" y="414338"/>
                  <a:pt x="92869" y="414338"/>
                </a:cubicBezTo>
                <a:cubicBezTo>
                  <a:pt x="53400" y="414338"/>
                  <a:pt x="21431" y="382369"/>
                  <a:pt x="21431" y="342900"/>
                </a:cubicBezTo>
                <a:cubicBezTo>
                  <a:pt x="21431" y="326827"/>
                  <a:pt x="26789" y="312003"/>
                  <a:pt x="35719" y="300038"/>
                </a:cubicBezTo>
                <a:cubicBezTo>
                  <a:pt x="18395" y="287000"/>
                  <a:pt x="7144" y="266283"/>
                  <a:pt x="7144" y="242888"/>
                </a:cubicBezTo>
                <a:cubicBezTo>
                  <a:pt x="7144" y="215295"/>
                  <a:pt x="22860" y="191274"/>
                  <a:pt x="45720" y="179397"/>
                </a:cubicBezTo>
                <a:cubicBezTo>
                  <a:pt x="39380" y="168682"/>
                  <a:pt x="35719" y="156180"/>
                  <a:pt x="35719" y="142875"/>
                </a:cubicBezTo>
                <a:cubicBezTo>
                  <a:pt x="35719" y="103406"/>
                  <a:pt x="67687" y="71438"/>
                  <a:pt x="107156" y="71438"/>
                </a:cubicBezTo>
                <a:lnTo>
                  <a:pt x="107156" y="50006"/>
                </a:lnTo>
                <a:close/>
                <a:moveTo>
                  <a:pt x="350044" y="50006"/>
                </a:moveTo>
                <a:lnTo>
                  <a:pt x="350044" y="71438"/>
                </a:lnTo>
                <a:cubicBezTo>
                  <a:pt x="389513" y="71438"/>
                  <a:pt x="421481" y="103406"/>
                  <a:pt x="421481" y="142875"/>
                </a:cubicBezTo>
                <a:cubicBezTo>
                  <a:pt x="421481" y="156270"/>
                  <a:pt x="417820" y="168771"/>
                  <a:pt x="411480" y="179397"/>
                </a:cubicBezTo>
                <a:cubicBezTo>
                  <a:pt x="434429" y="191274"/>
                  <a:pt x="450056" y="215205"/>
                  <a:pt x="450056" y="242888"/>
                </a:cubicBezTo>
                <a:cubicBezTo>
                  <a:pt x="450056" y="266283"/>
                  <a:pt x="438805" y="287000"/>
                  <a:pt x="421481" y="300038"/>
                </a:cubicBezTo>
                <a:cubicBezTo>
                  <a:pt x="430411" y="312003"/>
                  <a:pt x="435769" y="326827"/>
                  <a:pt x="435769" y="342900"/>
                </a:cubicBezTo>
                <a:cubicBezTo>
                  <a:pt x="435769" y="382369"/>
                  <a:pt x="403800" y="414338"/>
                  <a:pt x="364331" y="414338"/>
                </a:cubicBezTo>
                <a:cubicBezTo>
                  <a:pt x="363706" y="414338"/>
                  <a:pt x="363170" y="414338"/>
                  <a:pt x="362545" y="414338"/>
                </a:cubicBezTo>
                <a:cubicBezTo>
                  <a:pt x="356205" y="438983"/>
                  <a:pt x="333792" y="457200"/>
                  <a:pt x="307181" y="457200"/>
                </a:cubicBezTo>
                <a:lnTo>
                  <a:pt x="278606" y="457200"/>
                </a:lnTo>
                <a:cubicBezTo>
                  <a:pt x="262801" y="457200"/>
                  <a:pt x="250031" y="444431"/>
                  <a:pt x="250031" y="428625"/>
                </a:cubicBezTo>
                <a:lnTo>
                  <a:pt x="250031" y="28575"/>
                </a:lnTo>
                <a:cubicBezTo>
                  <a:pt x="250031" y="12769"/>
                  <a:pt x="262801" y="0"/>
                  <a:pt x="278606" y="0"/>
                </a:cubicBezTo>
                <a:lnTo>
                  <a:pt x="300038" y="0"/>
                </a:lnTo>
                <a:cubicBezTo>
                  <a:pt x="327630" y="0"/>
                  <a:pt x="350044" y="22414"/>
                  <a:pt x="350044" y="5000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1016000" y="5969000"/>
            <a:ext cx="2286000" cy="7112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3810000" y="5969000"/>
            <a:ext cx="2286000" cy="7112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6604000" y="5969000"/>
            <a:ext cx="2286000" cy="7112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9398000" y="5969000"/>
            <a:ext cx="2286000" cy="7112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12192000" y="5969000"/>
            <a:ext cx="2286000" cy="711200"/>
          </a:xfrm>
          <a:prstGeom prst="roundRect">
            <a:avLst>
              <a:gd name="adj" fmla="val 8000"/>
            </a:avLst>
          </a:prstGeom>
          <a:solidFill>
            <a:srgbClr val="FFFFFF">
              <a:alpha val="13333"/>
            </a:srgbClr>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1016000" y="59690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400" b="1" i="0" u="none" strike="noStrike" cap="none">
                <a:solidFill>
                  <a:srgbClr val="FFFFFF"/>
                </a:solidFill>
                <a:latin typeface="Quattrocento Sans"/>
                <a:ea typeface="Quattrocento Sans"/>
                <a:cs typeface="Quattrocento Sans"/>
                <a:sym typeface="Quattrocento Sans"/>
              </a:rPr>
              <a:t>1G</a:t>
            </a:r>
            <a:endParaRPr sz="2400" b="0" i="0" u="none" strike="noStrike" cap="none"/>
          </a:p>
        </p:txBody>
      </p:sp>
      <p:sp>
        <p:nvSpPr>
          <p:cNvPr id="33" name="Google Shape;33;p3"/>
          <p:cNvSpPr/>
          <p:nvPr/>
        </p:nvSpPr>
        <p:spPr>
          <a:xfrm>
            <a:off x="3810000" y="59690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400" b="1" i="0" u="none" strike="noStrike" cap="none">
                <a:solidFill>
                  <a:srgbClr val="FFFFFF"/>
                </a:solidFill>
                <a:latin typeface="Quattrocento Sans"/>
                <a:ea typeface="Quattrocento Sans"/>
                <a:cs typeface="Quattrocento Sans"/>
                <a:sym typeface="Quattrocento Sans"/>
              </a:rPr>
              <a:t>2G</a:t>
            </a:r>
            <a:endParaRPr sz="2400" b="0" i="0" u="none" strike="noStrike" cap="none"/>
          </a:p>
        </p:txBody>
      </p:sp>
      <p:sp>
        <p:nvSpPr>
          <p:cNvPr id="34" name="Google Shape;34;p3"/>
          <p:cNvSpPr/>
          <p:nvPr/>
        </p:nvSpPr>
        <p:spPr>
          <a:xfrm>
            <a:off x="6604000" y="59690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400" b="1" i="0" u="none" strike="noStrike" cap="none">
                <a:solidFill>
                  <a:srgbClr val="FFFFFF"/>
                </a:solidFill>
                <a:latin typeface="Quattrocento Sans"/>
                <a:ea typeface="Quattrocento Sans"/>
                <a:cs typeface="Quattrocento Sans"/>
                <a:sym typeface="Quattrocento Sans"/>
              </a:rPr>
              <a:t>3G</a:t>
            </a:r>
            <a:endParaRPr sz="2400" b="0" i="0" u="none" strike="noStrike" cap="none"/>
          </a:p>
        </p:txBody>
      </p:sp>
      <p:sp>
        <p:nvSpPr>
          <p:cNvPr id="35" name="Google Shape;35;p3"/>
          <p:cNvSpPr/>
          <p:nvPr/>
        </p:nvSpPr>
        <p:spPr>
          <a:xfrm>
            <a:off x="9398000" y="59690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400" b="1" i="0" u="none" strike="noStrike" cap="none" dirty="0">
                <a:solidFill>
                  <a:srgbClr val="FFFFFF"/>
                </a:solidFill>
                <a:latin typeface="Quattrocento Sans"/>
                <a:ea typeface="Quattrocento Sans"/>
                <a:cs typeface="Quattrocento Sans"/>
                <a:sym typeface="Quattrocento Sans"/>
              </a:rPr>
              <a:t>4G</a:t>
            </a:r>
            <a:endParaRPr sz="2400" b="0" i="0" u="none" strike="noStrike" cap="none" dirty="0"/>
          </a:p>
        </p:txBody>
      </p:sp>
      <p:sp>
        <p:nvSpPr>
          <p:cNvPr id="36" name="Google Shape;36;p3"/>
          <p:cNvSpPr/>
          <p:nvPr/>
        </p:nvSpPr>
        <p:spPr>
          <a:xfrm>
            <a:off x="12192000" y="59690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400" b="1" i="0" u="none" strike="noStrike" cap="none">
                <a:solidFill>
                  <a:srgbClr val="FFFFFF"/>
                </a:solidFill>
                <a:latin typeface="Quattrocento Sans"/>
                <a:ea typeface="Quattrocento Sans"/>
                <a:cs typeface="Quattrocento Sans"/>
                <a:sym typeface="Quattrocento Sans"/>
              </a:rPr>
              <a:t>5G</a:t>
            </a:r>
            <a:endParaRPr sz="2400" b="0" i="0" u="none" strike="noStrike" cap="none"/>
          </a:p>
        </p:txBody>
      </p:sp>
      <p:cxnSp>
        <p:nvCxnSpPr>
          <p:cNvPr id="37" name="Google Shape;37;p3"/>
          <p:cNvCxnSpPr/>
          <p:nvPr/>
        </p:nvCxnSpPr>
        <p:spPr>
          <a:xfrm>
            <a:off x="3327400" y="6324600"/>
            <a:ext cx="457200" cy="0"/>
          </a:xfrm>
          <a:prstGeom prst="straightConnector1">
            <a:avLst/>
          </a:prstGeom>
          <a:noFill/>
          <a:ln w="25400" cap="flat" cmpd="sng">
            <a:solidFill>
              <a:srgbClr val="FFFFFF">
                <a:alpha val="66666"/>
              </a:srgbClr>
            </a:solidFill>
            <a:prstDash val="solid"/>
            <a:round/>
            <a:headEnd type="none" w="sm" len="sm"/>
            <a:tailEnd type="stealth" w="med" len="med"/>
          </a:ln>
        </p:spPr>
      </p:cxnSp>
      <p:cxnSp>
        <p:nvCxnSpPr>
          <p:cNvPr id="38" name="Google Shape;38;p3"/>
          <p:cNvCxnSpPr/>
          <p:nvPr/>
        </p:nvCxnSpPr>
        <p:spPr>
          <a:xfrm>
            <a:off x="6121400" y="6324600"/>
            <a:ext cx="457200" cy="0"/>
          </a:xfrm>
          <a:prstGeom prst="straightConnector1">
            <a:avLst/>
          </a:prstGeom>
          <a:noFill/>
          <a:ln w="25400" cap="flat" cmpd="sng">
            <a:solidFill>
              <a:srgbClr val="FFFFFF">
                <a:alpha val="66666"/>
              </a:srgbClr>
            </a:solidFill>
            <a:prstDash val="solid"/>
            <a:round/>
            <a:headEnd type="none" w="sm" len="sm"/>
            <a:tailEnd type="stealth" w="med" len="med"/>
          </a:ln>
        </p:spPr>
      </p:cxnSp>
      <p:cxnSp>
        <p:nvCxnSpPr>
          <p:cNvPr id="39" name="Google Shape;39;p3"/>
          <p:cNvCxnSpPr/>
          <p:nvPr/>
        </p:nvCxnSpPr>
        <p:spPr>
          <a:xfrm>
            <a:off x="8915400" y="6324600"/>
            <a:ext cx="457200" cy="0"/>
          </a:xfrm>
          <a:prstGeom prst="straightConnector1">
            <a:avLst/>
          </a:prstGeom>
          <a:noFill/>
          <a:ln w="25400" cap="flat" cmpd="sng">
            <a:solidFill>
              <a:srgbClr val="FFFFFF">
                <a:alpha val="66666"/>
              </a:srgbClr>
            </a:solidFill>
            <a:prstDash val="solid"/>
            <a:round/>
            <a:headEnd type="none" w="sm" len="sm"/>
            <a:tailEnd type="stealth" w="med" len="med"/>
          </a:ln>
        </p:spPr>
      </p:cxnSp>
      <p:cxnSp>
        <p:nvCxnSpPr>
          <p:cNvPr id="40" name="Google Shape;40;p3"/>
          <p:cNvCxnSpPr/>
          <p:nvPr/>
        </p:nvCxnSpPr>
        <p:spPr>
          <a:xfrm>
            <a:off x="11709400" y="6324600"/>
            <a:ext cx="457200" cy="0"/>
          </a:xfrm>
          <a:prstGeom prst="straightConnector1">
            <a:avLst/>
          </a:prstGeom>
          <a:noFill/>
          <a:ln w="25400" cap="flat" cmpd="sng">
            <a:solidFill>
              <a:srgbClr val="FFFFFF">
                <a:alpha val="66666"/>
              </a:srgbClr>
            </a:solidFill>
            <a:prstDash val="solid"/>
            <a:round/>
            <a:headEnd type="none" w="sm" len="sm"/>
            <a:tailEnd type="stealth" w="med" len="med"/>
          </a:ln>
        </p:spPr>
      </p:cxnSp>
      <p:sp>
        <p:nvSpPr>
          <p:cNvPr id="46" name="Google Shape;46;p3"/>
          <p:cNvSpPr/>
          <p:nvPr/>
        </p:nvSpPr>
        <p:spPr>
          <a:xfrm>
            <a:off x="762000" y="8636000"/>
            <a:ext cx="2540000" cy="3810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a:solidFill>
                  <a:srgbClr val="FFFFFF"/>
                </a:solidFill>
                <a:latin typeface="Quattrocento Sans"/>
                <a:ea typeface="Quattrocento Sans"/>
                <a:cs typeface="Quattrocento Sans"/>
                <a:sym typeface="Quattrocento Sans"/>
              </a:rPr>
              <a:t>Part I: Introduction</a:t>
            </a:r>
            <a:endParaRPr sz="1400" b="0" i="0" u="none" strike="noStrike" cap="none"/>
          </a:p>
        </p:txBody>
      </p:sp>
      <p:sp>
        <p:nvSpPr>
          <p:cNvPr id="47" name="Google Shape;47;p3"/>
          <p:cNvSpPr/>
          <p:nvPr/>
        </p:nvSpPr>
        <p:spPr>
          <a:xfrm>
            <a:off x="14732000" y="8636000"/>
            <a:ext cx="762000" cy="381000"/>
          </a:xfrm>
          <a:prstGeom prst="rect">
            <a:avLst/>
          </a:prstGeom>
          <a:noFill/>
          <a:ln>
            <a:noFill/>
          </a:ln>
        </p:spPr>
        <p:txBody>
          <a:bodyPr spcFirstLastPara="1" wrap="square" lIns="0" tIns="0" rIns="0" bIns="0" anchor="ctr" anchorCtr="0">
            <a:noAutofit/>
          </a:bodyPr>
          <a:lstStyle/>
          <a:p>
            <a:pPr marL="0" marR="0" lvl="0" indent="0" algn="r" rtl="0">
              <a:lnSpc>
                <a:spcPct val="140000"/>
              </a:lnSpc>
              <a:spcBef>
                <a:spcPts val="0"/>
              </a:spcBef>
              <a:spcAft>
                <a:spcPts val="0"/>
              </a:spcAft>
              <a:buNone/>
            </a:pPr>
            <a:r>
              <a:rPr lang="en-US" sz="1400" b="0" i="0" u="none" strike="noStrike" cap="none">
                <a:solidFill>
                  <a:srgbClr val="FFFFFF"/>
                </a:solidFill>
                <a:latin typeface="Quattrocento Sans"/>
                <a:ea typeface="Quattrocento Sans"/>
                <a:cs typeface="Quattrocento Sans"/>
                <a:sym typeface="Quattrocento Sans"/>
              </a:rPr>
              <a:t>1 / 4</a:t>
            </a:r>
            <a:endParaRPr sz="1400" b="0" i="0" u="none" strike="noStrike" cap="non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CF21FBCD-33B0-BE49-28E8-FC62743E40CB}"/>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D9C4C545-B2BF-F157-D6CF-9501B88D08C1}"/>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A609FAF2-040C-5969-1E9F-54FD8CBE5F13}"/>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Contents</a:t>
            </a:r>
            <a:endParaRPr sz="3200" b="0" i="0" u="none" strike="noStrike" cap="none" dirty="0"/>
          </a:p>
        </p:txBody>
      </p:sp>
      <p:sp>
        <p:nvSpPr>
          <p:cNvPr id="139" name="Google Shape;139;p6">
            <a:extLst>
              <a:ext uri="{FF2B5EF4-FFF2-40B4-BE49-F238E27FC236}">
                <a16:creationId xmlns:a16="http://schemas.microsoft.com/office/drawing/2014/main" id="{00823C31-2D3C-07F4-483B-21A2C1FACA2E}"/>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3B33A58F-E5F7-9AE1-1423-AC1368172988}"/>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996963A6-722B-DB0B-3EA6-85B327344E6F}"/>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3D847D0E-7130-FDBB-53E8-82C7076B5813}"/>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6E4BB1B7-3B8C-7297-5D44-A9E8E0DAAE7B}"/>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DB66C931-FAE5-E932-B8AE-4272A0C6B968}"/>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60" name="Google Shape;160;p6">
            <a:extLst>
              <a:ext uri="{FF2B5EF4-FFF2-40B4-BE49-F238E27FC236}">
                <a16:creationId xmlns:a16="http://schemas.microsoft.com/office/drawing/2014/main" id="{C1D8A897-E16D-3697-3CF9-5F37D6F9845F}"/>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6">
            <a:extLst>
              <a:ext uri="{FF2B5EF4-FFF2-40B4-BE49-F238E27FC236}">
                <a16:creationId xmlns:a16="http://schemas.microsoft.com/office/drawing/2014/main" id="{78AEC4AC-5DFA-EA86-FDC3-232F3A3B7EC8}"/>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
        <p:nvSpPr>
          <p:cNvPr id="3" name="TextBox 2">
            <a:extLst>
              <a:ext uri="{FF2B5EF4-FFF2-40B4-BE49-F238E27FC236}">
                <a16:creationId xmlns:a16="http://schemas.microsoft.com/office/drawing/2014/main" id="{D6919F47-C5E4-70ED-D995-F4F9CFDE8E15}"/>
              </a:ext>
            </a:extLst>
          </p:cNvPr>
          <p:cNvSpPr txBox="1"/>
          <p:nvPr/>
        </p:nvSpPr>
        <p:spPr>
          <a:xfrm>
            <a:off x="762000" y="1077416"/>
            <a:ext cx="11231716" cy="4154984"/>
          </a:xfrm>
          <a:prstGeom prst="rect">
            <a:avLst/>
          </a:prstGeom>
          <a:noFill/>
        </p:spPr>
        <p:txBody>
          <a:bodyPr wrap="square" rtlCol="0">
            <a:spAutoFit/>
          </a:bodyPr>
          <a:lstStyle/>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 Introduction to Wireless Cellular Networks</a:t>
            </a:r>
          </a:p>
          <a:p>
            <a:pPr marL="342900" indent="-342900">
              <a:buFont typeface="Arial" panose="020B0604020202020204" pitchFamily="34" charset="0"/>
              <a:buChar char="•"/>
            </a:pPr>
            <a:r>
              <a:rPr lang="en-US" sz="2400" dirty="0"/>
              <a:t> Before Cellular Networks</a:t>
            </a:r>
          </a:p>
          <a:p>
            <a:pPr marL="342900" indent="-342900">
              <a:buFont typeface="Arial" panose="020B0604020202020204" pitchFamily="34" charset="0"/>
              <a:buChar char="•"/>
            </a:pPr>
            <a:r>
              <a:rPr lang="en-US" sz="2400" dirty="0"/>
              <a:t> Limitations of Pre-Cellular Networks</a:t>
            </a:r>
          </a:p>
          <a:p>
            <a:pPr marL="342900" indent="-342900">
              <a:buFont typeface="Arial" panose="020B0604020202020204" pitchFamily="34" charset="0"/>
              <a:buChar char="•"/>
            </a:pPr>
            <a:r>
              <a:rPr lang="en-US" sz="2400" dirty="0"/>
              <a:t> The Cellular Concept</a:t>
            </a:r>
          </a:p>
          <a:p>
            <a:pPr marL="342900" indent="-342900">
              <a:buFont typeface="Arial" panose="020B0604020202020204" pitchFamily="34" charset="0"/>
              <a:buChar char="•"/>
            </a:pPr>
            <a:r>
              <a:rPr lang="en-US" sz="2400" dirty="0"/>
              <a:t> Frequency Reuse</a:t>
            </a:r>
          </a:p>
          <a:p>
            <a:pPr marL="342900" indent="-342900">
              <a:buFont typeface="Arial" panose="020B0604020202020204" pitchFamily="34" charset="0"/>
              <a:buChar char="•"/>
            </a:pPr>
            <a:r>
              <a:rPr lang="en-US" sz="2400" dirty="0"/>
              <a:t> Basic Mobile Network Architecture</a:t>
            </a:r>
          </a:p>
          <a:p>
            <a:pPr marL="342900" indent="-342900">
              <a:buFont typeface="Arial" panose="020B0604020202020204" pitchFamily="34" charset="0"/>
              <a:buChar char="•"/>
            </a:pPr>
            <a:r>
              <a:rPr lang="en-US" sz="2400" dirty="0"/>
              <a:t> First Generation (1G) Cellular Networks</a:t>
            </a:r>
          </a:p>
          <a:p>
            <a:pPr marL="342900" indent="-342900">
              <a:buFont typeface="Arial" panose="020B0604020202020204" pitchFamily="34" charset="0"/>
              <a:buChar char="•"/>
            </a:pPr>
            <a:r>
              <a:rPr lang="en-US" sz="2400" dirty="0"/>
              <a:t> 1G Network Architecture</a:t>
            </a:r>
          </a:p>
          <a:p>
            <a:pPr marL="342900" indent="-342900">
              <a:buFont typeface="Arial" panose="020B0604020202020204" pitchFamily="34" charset="0"/>
              <a:buChar char="•"/>
            </a:pPr>
            <a:r>
              <a:rPr lang="en-US" sz="2400" dirty="0"/>
              <a:t> Why Was 2G Needed?</a:t>
            </a:r>
          </a:p>
          <a:p>
            <a:pPr marL="342900" indent="-342900">
              <a:buFont typeface="Arial" panose="020B0604020202020204" pitchFamily="34" charset="0"/>
              <a:buChar char="•"/>
            </a:pPr>
            <a:r>
              <a:rPr lang="en-US" sz="2400" dirty="0"/>
              <a:t> Transition from Analog to Digital Communication (Introduction to 2G)</a:t>
            </a:r>
          </a:p>
        </p:txBody>
      </p:sp>
    </p:spTree>
    <p:extLst>
      <p:ext uri="{BB962C8B-B14F-4D97-AF65-F5344CB8AC3E}">
        <p14:creationId xmlns:p14="http://schemas.microsoft.com/office/powerpoint/2010/main" val="253646392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FF6304F0-DAC5-912C-EB83-11CC1B0FA6F0}"/>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D26033CF-21C1-95F3-3591-98E1AF0B4953}"/>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DDF0D747-EF4E-66FD-81E3-9041BD4D35E9}"/>
              </a:ext>
            </a:extLst>
          </p:cNvPr>
          <p:cNvSpPr/>
          <p:nvPr/>
        </p:nvSpPr>
        <p:spPr>
          <a:xfrm>
            <a:off x="762000" y="317500"/>
            <a:ext cx="14732000" cy="596900"/>
          </a:xfrm>
          <a:prstGeom prst="rect">
            <a:avLst/>
          </a:prstGeom>
          <a:noFill/>
          <a:ln>
            <a:noFill/>
          </a:ln>
        </p:spPr>
        <p:txBody>
          <a:bodyPr spcFirstLastPara="1" wrap="square" lIns="0" tIns="0" rIns="0" bIns="0" anchor="ctr" anchorCtr="0">
            <a:noAutofit/>
          </a:bodyPr>
          <a:lstStyle/>
          <a:p>
            <a:r>
              <a:rPr lang="en-IN" sz="3200" b="1" dirty="0">
                <a:solidFill>
                  <a:schemeClr val="accent1"/>
                </a:solidFill>
              </a:rPr>
              <a:t>Before Cellular Networks: The Early Days of Mobile Communication</a:t>
            </a:r>
            <a:endParaRPr lang="en-IN" sz="3200" dirty="0">
              <a:solidFill>
                <a:schemeClr val="accent1"/>
              </a:solidFill>
            </a:endParaRPr>
          </a:p>
        </p:txBody>
      </p:sp>
      <p:sp>
        <p:nvSpPr>
          <p:cNvPr id="139" name="Google Shape;139;p6">
            <a:extLst>
              <a:ext uri="{FF2B5EF4-FFF2-40B4-BE49-F238E27FC236}">
                <a16:creationId xmlns:a16="http://schemas.microsoft.com/office/drawing/2014/main" id="{7DBB5194-0832-9F25-AB9F-AE74B9D86D45}"/>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21B90741-273A-80DE-9B80-C5C55CCD28D7}"/>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C65CAAE0-7DC7-CCDB-0FF8-3B19F0E9E533}"/>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EA2D7134-E099-FEF3-8D00-DC75A9578BA5}"/>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4BB06029-F6C2-90D6-C074-E996B5DDEC90}"/>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4AF8A84C-5070-77FE-AF0D-E73B9A51171D}"/>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6BCDD760-55B4-AF46-E29E-E6F6D0DBE827}"/>
              </a:ext>
            </a:extLst>
          </p:cNvPr>
          <p:cNvSpPr/>
          <p:nvPr/>
        </p:nvSpPr>
        <p:spPr>
          <a:xfrm>
            <a:off x="761999" y="7315200"/>
            <a:ext cx="15139261"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a:extLst>
              <a:ext uri="{FF2B5EF4-FFF2-40B4-BE49-F238E27FC236}">
                <a16:creationId xmlns:a16="http://schemas.microsoft.com/office/drawing/2014/main" id="{621B998B-AC53-F9DC-FEAB-1A8D28105190}"/>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4C7BFDFD-746C-857F-0D05-91C71024863B}"/>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r>
              <a:rPr lang="en-IN" sz="2000" b="1" dirty="0">
                <a:solidFill>
                  <a:schemeClr val="accent1"/>
                </a:solidFill>
              </a:rPr>
              <a:t>If one transmitter could cover an entire city, why wasn't it enough?</a:t>
            </a:r>
            <a:endParaRPr lang="en-IN" sz="2000" dirty="0">
              <a:solidFill>
                <a:schemeClr val="accent1"/>
              </a:solidFill>
            </a:endParaRPr>
          </a:p>
        </p:txBody>
      </p:sp>
      <p:sp>
        <p:nvSpPr>
          <p:cNvPr id="160" name="Google Shape;160;p6">
            <a:extLst>
              <a:ext uri="{FF2B5EF4-FFF2-40B4-BE49-F238E27FC236}">
                <a16:creationId xmlns:a16="http://schemas.microsoft.com/office/drawing/2014/main" id="{04EB5967-C0C0-2D20-CADC-9A5A1E11E187}"/>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6" name="Table 5">
            <a:extLst>
              <a:ext uri="{FF2B5EF4-FFF2-40B4-BE49-F238E27FC236}">
                <a16:creationId xmlns:a16="http://schemas.microsoft.com/office/drawing/2014/main" id="{A9F7B2C5-C5D1-40E7-CB1E-E5F6920054FC}"/>
              </a:ext>
            </a:extLst>
          </p:cNvPr>
          <p:cNvGraphicFramePr>
            <a:graphicFrameLocks noGrp="1"/>
          </p:cNvGraphicFramePr>
          <p:nvPr>
            <p:extLst>
              <p:ext uri="{D42A27DB-BD31-4B8C-83A1-F6EECF244321}">
                <p14:modId xmlns:p14="http://schemas.microsoft.com/office/powerpoint/2010/main" val="373365621"/>
              </p:ext>
            </p:extLst>
          </p:nvPr>
        </p:nvGraphicFramePr>
        <p:xfrm>
          <a:off x="7592447" y="1136756"/>
          <a:ext cx="7901553" cy="3272296"/>
        </p:xfrm>
        <a:graphic>
          <a:graphicData uri="http://schemas.openxmlformats.org/drawingml/2006/table">
            <a:tbl>
              <a:tblPr firstRow="1" bandRow="1">
                <a:tableStyleId>{917C21B6-72DA-4E8B-B101-83EBE1853278}</a:tableStyleId>
              </a:tblPr>
              <a:tblGrid>
                <a:gridCol w="2633851">
                  <a:extLst>
                    <a:ext uri="{9D8B030D-6E8A-4147-A177-3AD203B41FA5}">
                      <a16:colId xmlns:a16="http://schemas.microsoft.com/office/drawing/2014/main" val="4234093045"/>
                    </a:ext>
                  </a:extLst>
                </a:gridCol>
                <a:gridCol w="2633851">
                  <a:extLst>
                    <a:ext uri="{9D8B030D-6E8A-4147-A177-3AD203B41FA5}">
                      <a16:colId xmlns:a16="http://schemas.microsoft.com/office/drawing/2014/main" val="1463231387"/>
                    </a:ext>
                  </a:extLst>
                </a:gridCol>
                <a:gridCol w="2633851">
                  <a:extLst>
                    <a:ext uri="{9D8B030D-6E8A-4147-A177-3AD203B41FA5}">
                      <a16:colId xmlns:a16="http://schemas.microsoft.com/office/drawing/2014/main" val="3550984048"/>
                    </a:ext>
                  </a:extLst>
                </a:gridCol>
              </a:tblGrid>
              <a:tr h="818074">
                <a:tc>
                  <a:txBody>
                    <a:bodyPr/>
                    <a:lstStyle/>
                    <a:p>
                      <a:pPr algn="ctr"/>
                      <a:r>
                        <a:rPr lang="en-US" sz="1600" b="1" dirty="0"/>
                        <a:t>Year</a:t>
                      </a:r>
                      <a:endParaRPr lang="en-IN" sz="1600" b="1" dirty="0"/>
                    </a:p>
                  </a:txBody>
                  <a:tcPr/>
                </a:tc>
                <a:tc>
                  <a:txBody>
                    <a:bodyPr/>
                    <a:lstStyle/>
                    <a:p>
                      <a:pPr algn="ctr"/>
                      <a:r>
                        <a:rPr lang="en-US" sz="1600" b="1" dirty="0"/>
                        <a:t>System</a:t>
                      </a:r>
                      <a:endParaRPr lang="en-IN" sz="1600" b="1" dirty="0"/>
                    </a:p>
                  </a:txBody>
                  <a:tcPr/>
                </a:tc>
                <a:tc>
                  <a:txBody>
                    <a:bodyPr/>
                    <a:lstStyle/>
                    <a:p>
                      <a:pPr algn="ctr"/>
                      <a:r>
                        <a:rPr lang="en-US" sz="1600" b="1" dirty="0"/>
                        <a:t>Key Development</a:t>
                      </a:r>
                      <a:endParaRPr lang="en-IN" sz="1600" b="1" dirty="0"/>
                    </a:p>
                  </a:txBody>
                  <a:tcPr/>
                </a:tc>
                <a:extLst>
                  <a:ext uri="{0D108BD9-81ED-4DB2-BD59-A6C34878D82A}">
                    <a16:rowId xmlns:a16="http://schemas.microsoft.com/office/drawing/2014/main" val="1478336808"/>
                  </a:ext>
                </a:extLst>
              </a:tr>
              <a:tr h="818074">
                <a:tc>
                  <a:txBody>
                    <a:bodyPr/>
                    <a:lstStyle/>
                    <a:p>
                      <a:pPr algn="ctr"/>
                      <a:r>
                        <a:rPr lang="en-IN" sz="1600" dirty="0"/>
                        <a:t>1946</a:t>
                      </a:r>
                    </a:p>
                  </a:txBody>
                  <a:tcPr/>
                </a:tc>
                <a:tc>
                  <a:txBody>
                    <a:bodyPr/>
                    <a:lstStyle/>
                    <a:p>
                      <a:pPr algn="ctr"/>
                      <a:r>
                        <a:rPr lang="en-IN" sz="1600" dirty="0"/>
                        <a:t>Mobile Telephone Service (MTS)</a:t>
                      </a:r>
                    </a:p>
                  </a:txBody>
                  <a:tcPr/>
                </a:tc>
                <a:tc>
                  <a:txBody>
                    <a:bodyPr/>
                    <a:lstStyle/>
                    <a:p>
                      <a:pPr algn="ctr"/>
                      <a:r>
                        <a:rPr lang="en-IN" sz="1600" dirty="0"/>
                        <a:t>First public mobile telephone service</a:t>
                      </a:r>
                    </a:p>
                  </a:txBody>
                  <a:tcPr/>
                </a:tc>
                <a:extLst>
                  <a:ext uri="{0D108BD9-81ED-4DB2-BD59-A6C34878D82A}">
                    <a16:rowId xmlns:a16="http://schemas.microsoft.com/office/drawing/2014/main" val="607062853"/>
                  </a:ext>
                </a:extLst>
              </a:tr>
              <a:tr h="818074">
                <a:tc>
                  <a:txBody>
                    <a:bodyPr/>
                    <a:lstStyle/>
                    <a:p>
                      <a:pPr algn="ctr"/>
                      <a:r>
                        <a:rPr lang="en-IN" sz="1600" dirty="0"/>
                        <a:t>1964</a:t>
                      </a:r>
                    </a:p>
                  </a:txBody>
                  <a:tcPr/>
                </a:tc>
                <a:tc>
                  <a:txBody>
                    <a:bodyPr/>
                    <a:lstStyle/>
                    <a:p>
                      <a:pPr algn="ctr"/>
                      <a:r>
                        <a:rPr lang="en-IN" sz="1600" dirty="0"/>
                        <a:t>Improved Mobile Telephone Service (IMTS)</a:t>
                      </a:r>
                    </a:p>
                  </a:txBody>
                  <a:tcPr/>
                </a:tc>
                <a:tc>
                  <a:txBody>
                    <a:bodyPr/>
                    <a:lstStyle/>
                    <a:p>
                      <a:pPr algn="ctr"/>
                      <a:r>
                        <a:rPr lang="en-IN" sz="1600" dirty="0"/>
                        <a:t>Automatic </a:t>
                      </a:r>
                      <a:r>
                        <a:rPr lang="en-IN" sz="1600" dirty="0" err="1"/>
                        <a:t>dialing</a:t>
                      </a:r>
                      <a:r>
                        <a:rPr lang="en-IN" sz="1600" dirty="0"/>
                        <a:t> and more channels</a:t>
                      </a:r>
                    </a:p>
                  </a:txBody>
                  <a:tcPr/>
                </a:tc>
                <a:extLst>
                  <a:ext uri="{0D108BD9-81ED-4DB2-BD59-A6C34878D82A}">
                    <a16:rowId xmlns:a16="http://schemas.microsoft.com/office/drawing/2014/main" val="351406414"/>
                  </a:ext>
                </a:extLst>
              </a:tr>
              <a:tr h="818074">
                <a:tc>
                  <a:txBody>
                    <a:bodyPr/>
                    <a:lstStyle/>
                    <a:p>
                      <a:pPr algn="ctr"/>
                      <a:r>
                        <a:rPr lang="en-IN" sz="1600" dirty="0"/>
                        <a:t>1980s</a:t>
                      </a:r>
                    </a:p>
                  </a:txBody>
                  <a:tcPr/>
                </a:tc>
                <a:tc>
                  <a:txBody>
                    <a:bodyPr/>
                    <a:lstStyle/>
                    <a:p>
                      <a:pPr algn="ctr"/>
                      <a:r>
                        <a:rPr lang="en-IN" sz="1600" dirty="0"/>
                        <a:t>First Generation (1G)</a:t>
                      </a:r>
                    </a:p>
                  </a:txBody>
                  <a:tcPr/>
                </a:tc>
                <a:tc>
                  <a:txBody>
                    <a:bodyPr/>
                    <a:lstStyle/>
                    <a:p>
                      <a:pPr algn="ctr"/>
                      <a:r>
                        <a:rPr lang="en-IN" sz="1600" dirty="0"/>
                        <a:t>Birth of cellular communication</a:t>
                      </a:r>
                    </a:p>
                  </a:txBody>
                  <a:tcPr/>
                </a:tc>
                <a:extLst>
                  <a:ext uri="{0D108BD9-81ED-4DB2-BD59-A6C34878D82A}">
                    <a16:rowId xmlns:a16="http://schemas.microsoft.com/office/drawing/2014/main" val="1902575697"/>
                  </a:ext>
                </a:extLst>
              </a:tr>
            </a:tbl>
          </a:graphicData>
        </a:graphic>
      </p:graphicFrame>
      <p:sp>
        <p:nvSpPr>
          <p:cNvPr id="8" name="TextBox 7">
            <a:extLst>
              <a:ext uri="{FF2B5EF4-FFF2-40B4-BE49-F238E27FC236}">
                <a16:creationId xmlns:a16="http://schemas.microsoft.com/office/drawing/2014/main" id="{82CC84DF-6B85-439D-CDC0-6D92242C1253}"/>
              </a:ext>
            </a:extLst>
          </p:cNvPr>
          <p:cNvSpPr txBox="1"/>
          <p:nvPr/>
        </p:nvSpPr>
        <p:spPr>
          <a:xfrm>
            <a:off x="807849" y="1136756"/>
            <a:ext cx="7002651" cy="5078313"/>
          </a:xfrm>
          <a:prstGeom prst="rect">
            <a:avLst/>
          </a:prstGeom>
          <a:noFill/>
        </p:spPr>
        <p:txBody>
          <a:bodyPr wrap="square" rtlCol="0">
            <a:spAutoFit/>
          </a:bodyPr>
          <a:lstStyle/>
          <a:p>
            <a:r>
              <a:rPr lang="en-IN" sz="1800" b="1" u="sng" dirty="0"/>
              <a:t>Mobile Telephone Service (MTS)</a:t>
            </a:r>
          </a:p>
          <a:p>
            <a:pPr marL="285750" indent="-285750">
              <a:buFont typeface="Arial" panose="020B0604020202020204" pitchFamily="34" charset="0"/>
              <a:buChar char="•"/>
            </a:pPr>
            <a:r>
              <a:rPr lang="en-IN" sz="1800" dirty="0"/>
              <a:t>Introduced in </a:t>
            </a:r>
            <a:r>
              <a:rPr lang="en-IN" sz="1800" b="1" dirty="0"/>
              <a:t>1946</a:t>
            </a:r>
            <a:r>
              <a:rPr lang="en-IN" sz="1800" dirty="0"/>
              <a:t>. </a:t>
            </a:r>
          </a:p>
          <a:p>
            <a:pPr marL="285750" indent="-285750">
              <a:buFont typeface="Arial" panose="020B0604020202020204" pitchFamily="34" charset="0"/>
              <a:buChar char="•"/>
            </a:pPr>
            <a:r>
              <a:rPr lang="en-IN" sz="1800" dirty="0"/>
              <a:t>Designed mainly for </a:t>
            </a:r>
            <a:r>
              <a:rPr lang="en-IN" sz="1800" b="1" dirty="0"/>
              <a:t>vehicles</a:t>
            </a:r>
            <a:r>
              <a:rPr lang="en-IN" sz="1800" dirty="0"/>
              <a:t> (car telephones). </a:t>
            </a:r>
          </a:p>
          <a:p>
            <a:pPr marL="285750" indent="-285750">
              <a:buFont typeface="Arial" panose="020B0604020202020204" pitchFamily="34" charset="0"/>
              <a:buChar char="•"/>
            </a:pPr>
            <a:r>
              <a:rPr lang="en-IN" sz="1800" dirty="0"/>
              <a:t>Used </a:t>
            </a:r>
            <a:r>
              <a:rPr lang="en-IN" sz="1800" b="1" dirty="0"/>
              <a:t>analogue radio communication</a:t>
            </a:r>
            <a:r>
              <a:rPr lang="en-IN" sz="1800" dirty="0"/>
              <a:t>. </a:t>
            </a:r>
          </a:p>
          <a:p>
            <a:pPr marL="285750" indent="-285750">
              <a:buFont typeface="Arial" panose="020B0604020202020204" pitchFamily="34" charset="0"/>
              <a:buChar char="•"/>
            </a:pPr>
            <a:r>
              <a:rPr lang="en-IN" sz="1800" dirty="0"/>
              <a:t>Calls were connected </a:t>
            </a:r>
            <a:r>
              <a:rPr lang="en-IN" sz="1800" b="1" dirty="0"/>
              <a:t>manually</a:t>
            </a:r>
            <a:r>
              <a:rPr lang="en-IN" sz="1800" dirty="0"/>
              <a:t> by a telephone operator. </a:t>
            </a:r>
          </a:p>
          <a:p>
            <a:pPr marL="285750" indent="-285750">
              <a:buFont typeface="Arial" panose="020B0604020202020204" pitchFamily="34" charset="0"/>
              <a:buChar char="•"/>
            </a:pPr>
            <a:r>
              <a:rPr lang="en-IN" sz="1800" dirty="0"/>
              <a:t>Only a </a:t>
            </a:r>
            <a:r>
              <a:rPr lang="en-IN" sz="1800" b="1" dirty="0"/>
              <a:t>small number of users</a:t>
            </a:r>
            <a:r>
              <a:rPr lang="en-IN" sz="1800" dirty="0"/>
              <a:t> could communicate simultaneously.</a:t>
            </a:r>
          </a:p>
          <a:p>
            <a:r>
              <a:rPr lang="en-IN" sz="1800" b="1" u="sng" dirty="0"/>
              <a:t>Improved Mobile Telephone Service (IMTS)</a:t>
            </a:r>
          </a:p>
          <a:p>
            <a:pPr marL="285750" indent="-285750">
              <a:buFont typeface="Arial" panose="020B0604020202020204" pitchFamily="34" charset="0"/>
              <a:buChar char="•"/>
            </a:pPr>
            <a:r>
              <a:rPr lang="en-IN" sz="1800" dirty="0"/>
              <a:t>Introduced in </a:t>
            </a:r>
            <a:r>
              <a:rPr lang="en-IN" sz="1800" b="1" dirty="0"/>
              <a:t>1964</a:t>
            </a:r>
            <a:r>
              <a:rPr lang="en-IN" sz="1800" dirty="0"/>
              <a:t> with several improvements:</a:t>
            </a:r>
          </a:p>
          <a:p>
            <a:pPr marL="285750" indent="-285750">
              <a:buFont typeface="Arial" panose="020B0604020202020204" pitchFamily="34" charset="0"/>
              <a:buChar char="•"/>
            </a:pPr>
            <a:r>
              <a:rPr lang="en-IN" sz="1800" dirty="0"/>
              <a:t>Automatic call setup (no manual operator). </a:t>
            </a:r>
          </a:p>
          <a:p>
            <a:pPr marL="285750" indent="-285750">
              <a:buFont typeface="Arial" panose="020B0604020202020204" pitchFamily="34" charset="0"/>
              <a:buChar char="•"/>
            </a:pPr>
            <a:r>
              <a:rPr lang="en-IN" sz="1800" dirty="0"/>
              <a:t>More available radio channels. </a:t>
            </a:r>
          </a:p>
          <a:p>
            <a:pPr marL="285750" indent="-285750">
              <a:buFont typeface="Arial" panose="020B0604020202020204" pitchFamily="34" charset="0"/>
              <a:buChar char="•"/>
            </a:pPr>
            <a:r>
              <a:rPr lang="en-IN" sz="1800" dirty="0"/>
              <a:t>Better coverage than MTS. </a:t>
            </a:r>
          </a:p>
          <a:p>
            <a:pPr marL="285750" indent="-285750">
              <a:buFont typeface="Arial" panose="020B0604020202020204" pitchFamily="34" charset="0"/>
              <a:buChar char="•"/>
            </a:pPr>
            <a:r>
              <a:rPr lang="en-IN" sz="1800" dirty="0"/>
              <a:t>Improved voice quality. </a:t>
            </a:r>
          </a:p>
          <a:p>
            <a:pPr marL="285750" indent="-285750">
              <a:buFont typeface="Arial" panose="020B0604020202020204" pitchFamily="34" charset="0"/>
              <a:buChar char="•"/>
            </a:pPr>
            <a:r>
              <a:rPr lang="en-IN" sz="1800" dirty="0"/>
              <a:t>Despite these improvements, IMTS still suffered from major limitations.</a:t>
            </a:r>
          </a:p>
          <a:p>
            <a:endParaRPr lang="en-IN" sz="1800" dirty="0"/>
          </a:p>
          <a:p>
            <a:r>
              <a:rPr lang="en-IN" sz="1800" dirty="0"/>
              <a:t> </a:t>
            </a:r>
          </a:p>
          <a:p>
            <a:endParaRPr lang="en-IN" sz="1800" dirty="0"/>
          </a:p>
        </p:txBody>
      </p:sp>
      <p:sp>
        <p:nvSpPr>
          <p:cNvPr id="3" name="Google Shape;161;p6">
            <a:extLst>
              <a:ext uri="{FF2B5EF4-FFF2-40B4-BE49-F238E27FC236}">
                <a16:creationId xmlns:a16="http://schemas.microsoft.com/office/drawing/2014/main" id="{E1E2D097-4822-B563-7A2F-53803A165659}"/>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194209542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E6D3C2A1-7F96-E867-3D32-FA596D4644B4}"/>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B20A35B0-F192-2DB7-C06D-9570DF5BE641}"/>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2778E2E5-8CA5-43C6-7AA1-31D529DDDCB2}"/>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Why Did Pre-Cellular Networks Fail?</a:t>
            </a:r>
            <a:endParaRPr sz="3200" b="0" i="0" u="none" strike="noStrike" cap="none" dirty="0"/>
          </a:p>
        </p:txBody>
      </p:sp>
      <p:sp>
        <p:nvSpPr>
          <p:cNvPr id="139" name="Google Shape;139;p6">
            <a:extLst>
              <a:ext uri="{FF2B5EF4-FFF2-40B4-BE49-F238E27FC236}">
                <a16:creationId xmlns:a16="http://schemas.microsoft.com/office/drawing/2014/main" id="{E1C673AD-2025-B3A1-8A66-A269893097CB}"/>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611D5D01-629A-A0C3-F77F-AE8C59D42DE5}"/>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C01AEF51-DDD4-745B-9C59-7626ADFBF01E}"/>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5F5C5F69-BF3A-3E71-9F05-6B9553AFE308}"/>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2A78AE59-0861-3CB5-F1DD-C86406CA6700}"/>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091BD760-75FF-F464-B715-6BAC7E798EDD}"/>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82A1E57F-AE13-2023-305B-7B9E10BF6FA2}"/>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6">
            <a:extLst>
              <a:ext uri="{FF2B5EF4-FFF2-40B4-BE49-F238E27FC236}">
                <a16:creationId xmlns:a16="http://schemas.microsoft.com/office/drawing/2014/main" id="{DBEAF0C6-B8AD-061A-A40C-EA200B8FFFC1}"/>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32766348-04D8-BFD6-8240-6F4EEBD71C2E}"/>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Instead of making one transmitter more powerful, what if we divided the city into many smaller coverage areas?</a:t>
            </a:r>
            <a:endParaRPr sz="2000" b="0" i="0" u="none" strike="noStrike" cap="none" dirty="0"/>
          </a:p>
        </p:txBody>
      </p:sp>
      <p:sp>
        <p:nvSpPr>
          <p:cNvPr id="160" name="Google Shape;160;p6">
            <a:extLst>
              <a:ext uri="{FF2B5EF4-FFF2-40B4-BE49-F238E27FC236}">
                <a16:creationId xmlns:a16="http://schemas.microsoft.com/office/drawing/2014/main" id="{7429DA2E-616D-E7EE-D37F-F80C0A1B626B}"/>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3" name="Table 2">
            <a:extLst>
              <a:ext uri="{FF2B5EF4-FFF2-40B4-BE49-F238E27FC236}">
                <a16:creationId xmlns:a16="http://schemas.microsoft.com/office/drawing/2014/main" id="{9FA7E722-4BD7-33AC-E2A9-CEC479DEF381}"/>
              </a:ext>
            </a:extLst>
          </p:cNvPr>
          <p:cNvGraphicFramePr>
            <a:graphicFrameLocks noGrp="1"/>
          </p:cNvGraphicFramePr>
          <p:nvPr>
            <p:extLst>
              <p:ext uri="{D42A27DB-BD31-4B8C-83A1-F6EECF244321}">
                <p14:modId xmlns:p14="http://schemas.microsoft.com/office/powerpoint/2010/main" val="3672312045"/>
              </p:ext>
            </p:extLst>
          </p:nvPr>
        </p:nvGraphicFramePr>
        <p:xfrm>
          <a:off x="762000" y="1402925"/>
          <a:ext cx="7982268" cy="4060050"/>
        </p:xfrm>
        <a:graphic>
          <a:graphicData uri="http://schemas.openxmlformats.org/drawingml/2006/table">
            <a:tbl>
              <a:tblPr firstRow="1" bandRow="1">
                <a:tableStyleId>{917C21B6-72DA-4E8B-B101-83EBE1853278}</a:tableStyleId>
              </a:tblPr>
              <a:tblGrid>
                <a:gridCol w="3378518">
                  <a:extLst>
                    <a:ext uri="{9D8B030D-6E8A-4147-A177-3AD203B41FA5}">
                      <a16:colId xmlns:a16="http://schemas.microsoft.com/office/drawing/2014/main" val="208060366"/>
                    </a:ext>
                  </a:extLst>
                </a:gridCol>
                <a:gridCol w="4603750">
                  <a:extLst>
                    <a:ext uri="{9D8B030D-6E8A-4147-A177-3AD203B41FA5}">
                      <a16:colId xmlns:a16="http://schemas.microsoft.com/office/drawing/2014/main" val="3668744796"/>
                    </a:ext>
                  </a:extLst>
                </a:gridCol>
              </a:tblGrid>
              <a:tr h="676675">
                <a:tc>
                  <a:txBody>
                    <a:bodyPr/>
                    <a:lstStyle/>
                    <a:p>
                      <a:pPr algn="ctr"/>
                      <a:r>
                        <a:rPr lang="en-IN" sz="1600" b="1" dirty="0"/>
                        <a:t>Problem</a:t>
                      </a:r>
                    </a:p>
                  </a:txBody>
                  <a:tcPr/>
                </a:tc>
                <a:tc>
                  <a:txBody>
                    <a:bodyPr/>
                    <a:lstStyle/>
                    <a:p>
                      <a:pPr algn="ctr"/>
                      <a:r>
                        <a:rPr lang="en-IN" sz="1600" b="1" dirty="0"/>
                        <a:t>Impact</a:t>
                      </a:r>
                    </a:p>
                  </a:txBody>
                  <a:tcPr/>
                </a:tc>
                <a:extLst>
                  <a:ext uri="{0D108BD9-81ED-4DB2-BD59-A6C34878D82A}">
                    <a16:rowId xmlns:a16="http://schemas.microsoft.com/office/drawing/2014/main" val="2316939473"/>
                  </a:ext>
                </a:extLst>
              </a:tr>
              <a:tr h="676675">
                <a:tc>
                  <a:txBody>
                    <a:bodyPr/>
                    <a:lstStyle/>
                    <a:p>
                      <a:pPr algn="ctr"/>
                      <a:r>
                        <a:rPr lang="en-IN" sz="1600" dirty="0"/>
                        <a:t>One high-power transmitter</a:t>
                      </a:r>
                    </a:p>
                  </a:txBody>
                  <a:tcPr/>
                </a:tc>
                <a:tc>
                  <a:txBody>
                    <a:bodyPr/>
                    <a:lstStyle/>
                    <a:p>
                      <a:pPr algn="ctr"/>
                      <a:r>
                        <a:rPr lang="en-IN" sz="1600" dirty="0"/>
                        <a:t>Entire city depended on one station</a:t>
                      </a:r>
                    </a:p>
                  </a:txBody>
                  <a:tcPr/>
                </a:tc>
                <a:extLst>
                  <a:ext uri="{0D108BD9-81ED-4DB2-BD59-A6C34878D82A}">
                    <a16:rowId xmlns:a16="http://schemas.microsoft.com/office/drawing/2014/main" val="465157034"/>
                  </a:ext>
                </a:extLst>
              </a:tr>
              <a:tr h="676675">
                <a:tc>
                  <a:txBody>
                    <a:bodyPr/>
                    <a:lstStyle/>
                    <a:p>
                      <a:pPr algn="ctr"/>
                      <a:r>
                        <a:rPr lang="en-IN" sz="1600" dirty="0"/>
                        <a:t>Limited radio spectrum</a:t>
                      </a:r>
                    </a:p>
                  </a:txBody>
                  <a:tcPr/>
                </a:tc>
                <a:tc>
                  <a:txBody>
                    <a:bodyPr/>
                    <a:lstStyle/>
                    <a:p>
                      <a:pPr algn="ctr"/>
                      <a:r>
                        <a:rPr lang="en-IN" sz="1600" dirty="0"/>
                        <a:t>Only a few radio channels available</a:t>
                      </a:r>
                    </a:p>
                  </a:txBody>
                  <a:tcPr/>
                </a:tc>
                <a:extLst>
                  <a:ext uri="{0D108BD9-81ED-4DB2-BD59-A6C34878D82A}">
                    <a16:rowId xmlns:a16="http://schemas.microsoft.com/office/drawing/2014/main" val="3284452845"/>
                  </a:ext>
                </a:extLst>
              </a:tr>
              <a:tr h="676675">
                <a:tc>
                  <a:txBody>
                    <a:bodyPr/>
                    <a:lstStyle/>
                    <a:p>
                      <a:pPr algn="ctr"/>
                      <a:r>
                        <a:rPr lang="en-IN" sz="1600" dirty="0"/>
                        <a:t>Manual / Semi-automatic switching</a:t>
                      </a:r>
                    </a:p>
                  </a:txBody>
                  <a:tcPr/>
                </a:tc>
                <a:tc>
                  <a:txBody>
                    <a:bodyPr/>
                    <a:lstStyle/>
                    <a:p>
                      <a:pPr algn="ctr"/>
                      <a:r>
                        <a:rPr lang="en-IN" sz="1600" dirty="0"/>
                        <a:t>Slow call setup</a:t>
                      </a:r>
                    </a:p>
                  </a:txBody>
                  <a:tcPr/>
                </a:tc>
                <a:extLst>
                  <a:ext uri="{0D108BD9-81ED-4DB2-BD59-A6C34878D82A}">
                    <a16:rowId xmlns:a16="http://schemas.microsoft.com/office/drawing/2014/main" val="3170873385"/>
                  </a:ext>
                </a:extLst>
              </a:tr>
              <a:tr h="676675">
                <a:tc>
                  <a:txBody>
                    <a:bodyPr/>
                    <a:lstStyle/>
                    <a:p>
                      <a:pPr algn="ctr"/>
                      <a:r>
                        <a:rPr lang="en-IN" sz="1600" dirty="0"/>
                        <a:t>High transmit power</a:t>
                      </a:r>
                    </a:p>
                  </a:txBody>
                  <a:tcPr/>
                </a:tc>
                <a:tc>
                  <a:txBody>
                    <a:bodyPr/>
                    <a:lstStyle/>
                    <a:p>
                      <a:pPr algn="ctr"/>
                      <a:r>
                        <a:rPr lang="en-IN" sz="1600" dirty="0"/>
                        <a:t>Large, bulky car phones</a:t>
                      </a:r>
                    </a:p>
                  </a:txBody>
                  <a:tcPr/>
                </a:tc>
                <a:extLst>
                  <a:ext uri="{0D108BD9-81ED-4DB2-BD59-A6C34878D82A}">
                    <a16:rowId xmlns:a16="http://schemas.microsoft.com/office/drawing/2014/main" val="114087653"/>
                  </a:ext>
                </a:extLst>
              </a:tr>
              <a:tr h="676675">
                <a:tc>
                  <a:txBody>
                    <a:bodyPr/>
                    <a:lstStyle/>
                    <a:p>
                      <a:pPr algn="ctr"/>
                      <a:r>
                        <a:rPr lang="en-IN" sz="1600" dirty="0"/>
                        <a:t>Analog communication</a:t>
                      </a:r>
                    </a:p>
                  </a:txBody>
                  <a:tcPr/>
                </a:tc>
                <a:tc>
                  <a:txBody>
                    <a:bodyPr/>
                    <a:lstStyle/>
                    <a:p>
                      <a:pPr algn="ctr"/>
                      <a:r>
                        <a:rPr lang="en-IN" sz="1600" dirty="0"/>
                        <a:t>Poor voice quality and low security</a:t>
                      </a:r>
                    </a:p>
                  </a:txBody>
                  <a:tcPr/>
                </a:tc>
                <a:extLst>
                  <a:ext uri="{0D108BD9-81ED-4DB2-BD59-A6C34878D82A}">
                    <a16:rowId xmlns:a16="http://schemas.microsoft.com/office/drawing/2014/main" val="1316075888"/>
                  </a:ext>
                </a:extLst>
              </a:tr>
            </a:tbl>
          </a:graphicData>
        </a:graphic>
      </p:graphicFrame>
      <p:pic>
        <p:nvPicPr>
          <p:cNvPr id="5" name="Picture 4">
            <a:extLst>
              <a:ext uri="{FF2B5EF4-FFF2-40B4-BE49-F238E27FC236}">
                <a16:creationId xmlns:a16="http://schemas.microsoft.com/office/drawing/2014/main" id="{C19FC2BC-CEFF-8B8F-1F45-97C19E1346BA}"/>
              </a:ext>
            </a:extLst>
          </p:cNvPr>
          <p:cNvPicPr>
            <a:picLocks noChangeAspect="1"/>
          </p:cNvPicPr>
          <p:nvPr/>
        </p:nvPicPr>
        <p:blipFill>
          <a:blip r:embed="rId3"/>
          <a:stretch>
            <a:fillRect/>
          </a:stretch>
        </p:blipFill>
        <p:spPr>
          <a:xfrm>
            <a:off x="10004199" y="939800"/>
            <a:ext cx="5108801" cy="4312075"/>
          </a:xfrm>
          <a:prstGeom prst="rect">
            <a:avLst/>
          </a:prstGeom>
        </p:spPr>
      </p:pic>
      <p:sp>
        <p:nvSpPr>
          <p:cNvPr id="6" name="TextBox 5">
            <a:extLst>
              <a:ext uri="{FF2B5EF4-FFF2-40B4-BE49-F238E27FC236}">
                <a16:creationId xmlns:a16="http://schemas.microsoft.com/office/drawing/2014/main" id="{64608E5B-77BE-9087-87A7-1414FF25BD6B}"/>
              </a:ext>
            </a:extLst>
          </p:cNvPr>
          <p:cNvSpPr txBox="1"/>
          <p:nvPr/>
        </p:nvSpPr>
        <p:spPr>
          <a:xfrm>
            <a:off x="762000" y="5718875"/>
            <a:ext cx="14351000" cy="1015663"/>
          </a:xfrm>
          <a:prstGeom prst="rect">
            <a:avLst/>
          </a:prstGeom>
          <a:noFill/>
        </p:spPr>
        <p:txBody>
          <a:bodyPr wrap="square" rtlCol="0">
            <a:spAutoFit/>
          </a:bodyPr>
          <a:lstStyle/>
          <a:p>
            <a:endParaRPr lang="en-US" sz="2000" dirty="0"/>
          </a:p>
          <a:p>
            <a:r>
              <a:rPr lang="en-US" sz="2000" dirty="0"/>
              <a:t>A city has 500,000 people but only 25 radio channels. What will be its implications?</a:t>
            </a:r>
          </a:p>
          <a:p>
            <a:endParaRPr lang="en-IN" sz="2000" dirty="0"/>
          </a:p>
        </p:txBody>
      </p:sp>
      <p:sp>
        <p:nvSpPr>
          <p:cNvPr id="4" name="Google Shape;161;p6">
            <a:extLst>
              <a:ext uri="{FF2B5EF4-FFF2-40B4-BE49-F238E27FC236}">
                <a16:creationId xmlns:a16="http://schemas.microsoft.com/office/drawing/2014/main" id="{692F1F7D-FF12-177A-F212-E9053481DE07}"/>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139871945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9E4C5F30-1AD5-C2EE-331E-3D9D95BEE732}"/>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D988D915-EDF1-4D87-DDD0-911A55433BF6}"/>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B79B398B-0905-CCF0-E049-F075FD9DC2C2}"/>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lvl="0">
              <a:lnSpc>
                <a:spcPct val="130000"/>
              </a:lnSpc>
            </a:pPr>
            <a:r>
              <a:rPr lang="en-IN" sz="3200" dirty="0">
                <a:solidFill>
                  <a:schemeClr val="accent1"/>
                </a:solidFill>
              </a:rPr>
              <a:t>The Cellular Concept</a:t>
            </a:r>
            <a:endParaRPr sz="3200" b="0" i="0" u="none" strike="noStrike" cap="none" dirty="0">
              <a:solidFill>
                <a:schemeClr val="accent1"/>
              </a:solidFill>
            </a:endParaRPr>
          </a:p>
        </p:txBody>
      </p:sp>
      <p:sp>
        <p:nvSpPr>
          <p:cNvPr id="139" name="Google Shape;139;p6">
            <a:extLst>
              <a:ext uri="{FF2B5EF4-FFF2-40B4-BE49-F238E27FC236}">
                <a16:creationId xmlns:a16="http://schemas.microsoft.com/office/drawing/2014/main" id="{E1F6DCAC-3E9C-61C4-8796-C4CE6729FA3A}"/>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7A1D0966-A978-3C64-9C6C-60C48835E033}"/>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12912ED2-234A-79E6-8FDA-9652EA5F1EF4}"/>
              </a:ext>
            </a:extLst>
          </p:cNvPr>
          <p:cNvSpPr/>
          <p:nvPr/>
        </p:nvSpPr>
        <p:spPr>
          <a:xfrm>
            <a:off x="9652000" y="6159500"/>
            <a:ext cx="5743844" cy="10287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000" b="1" i="0" u="none" strike="noStrike" cap="none" dirty="0">
                <a:solidFill>
                  <a:schemeClr val="tx1"/>
                </a:solidFill>
                <a:latin typeface="Quattrocento Sans"/>
                <a:ea typeface="Quattrocento Sans"/>
                <a:cs typeface="Quattrocento Sans"/>
                <a:sym typeface="Quattrocento Sans"/>
              </a:rPr>
              <a:t>The Solution</a:t>
            </a:r>
          </a:p>
          <a:p>
            <a:pPr lvl="0" algn="ctr">
              <a:lnSpc>
                <a:spcPct val="120000"/>
              </a:lnSpc>
            </a:pPr>
            <a:r>
              <a:rPr lang="en-IN" sz="2000" dirty="0"/>
              <a:t>The service area is divided into smaller cells, each served by its own Base Station (BS).</a:t>
            </a:r>
            <a:endParaRPr sz="2000" b="0" i="0" u="none" strike="noStrike" cap="none" dirty="0">
              <a:solidFill>
                <a:schemeClr val="tx1"/>
              </a:solidFill>
            </a:endParaRPr>
          </a:p>
        </p:txBody>
      </p:sp>
      <p:sp>
        <p:nvSpPr>
          <p:cNvPr id="150" name="Google Shape;150;p6">
            <a:extLst>
              <a:ext uri="{FF2B5EF4-FFF2-40B4-BE49-F238E27FC236}">
                <a16:creationId xmlns:a16="http://schemas.microsoft.com/office/drawing/2014/main" id="{EAAA786E-F698-6680-B8DE-3656A8F64A98}"/>
              </a:ext>
            </a:extLst>
          </p:cNvPr>
          <p:cNvSpPr/>
          <p:nvPr/>
        </p:nvSpPr>
        <p:spPr>
          <a:xfrm>
            <a:off x="557559" y="6237877"/>
            <a:ext cx="8220238" cy="9525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000" b="1" i="0" u="none" strike="noStrike" cap="none" dirty="0">
                <a:solidFill>
                  <a:schemeClr val="tx1"/>
                </a:solidFill>
                <a:latin typeface="Quattrocento Sans"/>
                <a:ea typeface="Quattrocento Sans"/>
                <a:cs typeface="Quattrocento Sans"/>
                <a:sym typeface="Quattrocento Sans"/>
              </a:rPr>
              <a:t>The Problem</a:t>
            </a:r>
          </a:p>
          <a:p>
            <a:pPr lvl="0" algn="ctr">
              <a:lnSpc>
                <a:spcPct val="120000"/>
              </a:lnSpc>
            </a:pPr>
            <a:r>
              <a:rPr lang="en-IN" sz="2000" dirty="0"/>
              <a:t>One base station cannot efficiently serve a </a:t>
            </a:r>
          </a:p>
          <a:p>
            <a:pPr lvl="0" algn="ctr">
              <a:lnSpc>
                <a:spcPct val="120000"/>
              </a:lnSpc>
            </a:pPr>
            <a:r>
              <a:rPr lang="en-IN" sz="2000" dirty="0"/>
              <a:t>large number of users.</a:t>
            </a:r>
            <a:endParaRPr sz="2000" b="1" i="0" u="none" strike="noStrike" cap="none" dirty="0">
              <a:solidFill>
                <a:schemeClr val="tx1"/>
              </a:solidFill>
            </a:endParaRPr>
          </a:p>
        </p:txBody>
      </p:sp>
      <p:sp>
        <p:nvSpPr>
          <p:cNvPr id="153" name="Google Shape;153;p6">
            <a:extLst>
              <a:ext uri="{FF2B5EF4-FFF2-40B4-BE49-F238E27FC236}">
                <a16:creationId xmlns:a16="http://schemas.microsoft.com/office/drawing/2014/main" id="{3082F31D-3A84-0E29-FEDD-218433A811FD}"/>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BB79FDE0-A28C-345A-473C-A5A83BF134BA}"/>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4DE466F7-3173-4EA5-B45B-278BB817DAAA}"/>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a:extLst>
              <a:ext uri="{FF2B5EF4-FFF2-40B4-BE49-F238E27FC236}">
                <a16:creationId xmlns:a16="http://schemas.microsoft.com/office/drawing/2014/main" id="{DF5F7CC4-51FE-A0A5-0FE2-5ADF9ED7CC14}"/>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C5348AA7-E33F-E948-A4E5-91FDBF297AFF}"/>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What is a Cell?</a:t>
            </a:r>
          </a:p>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A cell is a small geographical area served by a dedicated Base Station (BS).</a:t>
            </a:r>
            <a:endParaRPr sz="2000" b="0" i="0" u="none" strike="noStrike" cap="none" dirty="0"/>
          </a:p>
        </p:txBody>
      </p:sp>
      <p:sp>
        <p:nvSpPr>
          <p:cNvPr id="160" name="Google Shape;160;p6">
            <a:extLst>
              <a:ext uri="{FF2B5EF4-FFF2-40B4-BE49-F238E27FC236}">
                <a16:creationId xmlns:a16="http://schemas.microsoft.com/office/drawing/2014/main" id="{DC9CF87A-A2BE-5282-7814-3635D5FE347D}"/>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A53E64B5-82D5-7DDF-9E16-A619EB67DAC4}"/>
              </a:ext>
            </a:extLst>
          </p:cNvPr>
          <p:cNvPicPr>
            <a:picLocks noChangeAspect="1"/>
          </p:cNvPicPr>
          <p:nvPr/>
        </p:nvPicPr>
        <p:blipFill>
          <a:blip r:embed="rId3"/>
          <a:stretch>
            <a:fillRect/>
          </a:stretch>
        </p:blipFill>
        <p:spPr>
          <a:xfrm>
            <a:off x="9652000" y="1422400"/>
            <a:ext cx="4900908" cy="4470400"/>
          </a:xfrm>
          <a:prstGeom prst="rect">
            <a:avLst/>
          </a:prstGeom>
        </p:spPr>
      </p:pic>
      <p:pic>
        <p:nvPicPr>
          <p:cNvPr id="5" name="Picture 4">
            <a:extLst>
              <a:ext uri="{FF2B5EF4-FFF2-40B4-BE49-F238E27FC236}">
                <a16:creationId xmlns:a16="http://schemas.microsoft.com/office/drawing/2014/main" id="{1DEF999E-2C2A-61E0-F658-DF90270FF4F3}"/>
              </a:ext>
            </a:extLst>
          </p:cNvPr>
          <p:cNvPicPr>
            <a:picLocks noChangeAspect="1"/>
          </p:cNvPicPr>
          <p:nvPr/>
        </p:nvPicPr>
        <p:blipFill>
          <a:blip r:embed="rId4"/>
          <a:stretch>
            <a:fillRect/>
          </a:stretch>
        </p:blipFill>
        <p:spPr>
          <a:xfrm>
            <a:off x="2117079" y="1422400"/>
            <a:ext cx="4624738" cy="4470400"/>
          </a:xfrm>
          <a:prstGeom prst="rect">
            <a:avLst/>
          </a:prstGeom>
        </p:spPr>
      </p:pic>
      <p:sp>
        <p:nvSpPr>
          <p:cNvPr id="4" name="Google Shape;161;p6">
            <a:extLst>
              <a:ext uri="{FF2B5EF4-FFF2-40B4-BE49-F238E27FC236}">
                <a16:creationId xmlns:a16="http://schemas.microsoft.com/office/drawing/2014/main" id="{0CF72618-8F11-C092-1936-F367539FD3AD}"/>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362930034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737D61EA-5E0C-2861-E723-7B46EFF5CD7B}"/>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F267BB96-7646-80E5-9E09-378B097B7FD1}"/>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C9F464D5-94F3-0A7F-1870-10A84A0218A9}"/>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Frequency Reuse: The Foundation of Cellular Networks</a:t>
            </a:r>
            <a:endParaRPr sz="3200" b="0" i="0" u="none" strike="noStrike" cap="none" dirty="0"/>
          </a:p>
        </p:txBody>
      </p:sp>
      <p:sp>
        <p:nvSpPr>
          <p:cNvPr id="139" name="Google Shape;139;p6">
            <a:extLst>
              <a:ext uri="{FF2B5EF4-FFF2-40B4-BE49-F238E27FC236}">
                <a16:creationId xmlns:a16="http://schemas.microsoft.com/office/drawing/2014/main" id="{DAA21E9B-A39D-ED21-1F5F-89F2697F9865}"/>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504553CE-AA00-F759-DC44-1CDFD8AC86FE}"/>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E58AF96A-AE88-C132-0E35-61FFF0EB4944}"/>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30583B8D-DC7C-C826-FD2A-61654D1B8D5E}"/>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AAD3DAA7-7192-7CE0-ADBA-68C0E4F519CC}"/>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FBA9DD73-944C-188B-47ED-3AF5E7A01D3D}"/>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A41B53E4-0AB6-A0ED-CC36-44FAC1B75BEC}"/>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a:extLst>
              <a:ext uri="{FF2B5EF4-FFF2-40B4-BE49-F238E27FC236}">
                <a16:creationId xmlns:a16="http://schemas.microsoft.com/office/drawing/2014/main" id="{B88F0703-5FF0-5441-226E-1D29D3325587}"/>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4BF216CB-9A1E-C302-617B-B629D738CE73}"/>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Frequency reuse is the technique of using the same radio frequency channels in different cells that are sufficiently far apart to avoid interference.</a:t>
            </a:r>
            <a:endParaRPr sz="2000" b="0" i="0" u="none" strike="noStrike" cap="none" dirty="0"/>
          </a:p>
        </p:txBody>
      </p:sp>
      <p:sp>
        <p:nvSpPr>
          <p:cNvPr id="160" name="Google Shape;160;p6">
            <a:extLst>
              <a:ext uri="{FF2B5EF4-FFF2-40B4-BE49-F238E27FC236}">
                <a16:creationId xmlns:a16="http://schemas.microsoft.com/office/drawing/2014/main" id="{74F3F025-F234-419E-491B-11FBFFEB8CC0}"/>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717FB14A-8C21-9481-A99A-EE2379C9D52F}"/>
              </a:ext>
            </a:extLst>
          </p:cNvPr>
          <p:cNvSpPr txBox="1"/>
          <p:nvPr/>
        </p:nvSpPr>
        <p:spPr>
          <a:xfrm>
            <a:off x="762000" y="1155700"/>
            <a:ext cx="10160000" cy="646331"/>
          </a:xfrm>
          <a:prstGeom prst="rect">
            <a:avLst/>
          </a:prstGeom>
          <a:noFill/>
        </p:spPr>
        <p:txBody>
          <a:bodyPr wrap="square" rtlCol="0">
            <a:spAutoFit/>
          </a:bodyPr>
          <a:lstStyle/>
          <a:p>
            <a:r>
              <a:rPr lang="en-US" sz="1800" dirty="0"/>
              <a:t>Suppose every cell is assigned a unique set of frequencies.</a:t>
            </a:r>
          </a:p>
          <a:p>
            <a:r>
              <a:rPr lang="en-US" sz="1800" dirty="0"/>
              <a:t>Can we keep adding new cells forever?</a:t>
            </a:r>
            <a:endParaRPr lang="en-IN" sz="1800" dirty="0"/>
          </a:p>
        </p:txBody>
      </p:sp>
      <p:pic>
        <p:nvPicPr>
          <p:cNvPr id="4" name="Picture 3">
            <a:extLst>
              <a:ext uri="{FF2B5EF4-FFF2-40B4-BE49-F238E27FC236}">
                <a16:creationId xmlns:a16="http://schemas.microsoft.com/office/drawing/2014/main" id="{F8D9F0E2-8622-ED22-ACE7-7D85E602E5CE}"/>
              </a:ext>
            </a:extLst>
          </p:cNvPr>
          <p:cNvPicPr>
            <a:picLocks noChangeAspect="1"/>
          </p:cNvPicPr>
          <p:nvPr/>
        </p:nvPicPr>
        <p:blipFill>
          <a:blip r:embed="rId3"/>
          <a:stretch>
            <a:fillRect/>
          </a:stretch>
        </p:blipFill>
        <p:spPr>
          <a:xfrm>
            <a:off x="1282699" y="2305050"/>
            <a:ext cx="4647837" cy="4591050"/>
          </a:xfrm>
          <a:prstGeom prst="rect">
            <a:avLst/>
          </a:prstGeom>
        </p:spPr>
      </p:pic>
      <p:pic>
        <p:nvPicPr>
          <p:cNvPr id="6" name="Picture 5">
            <a:extLst>
              <a:ext uri="{FF2B5EF4-FFF2-40B4-BE49-F238E27FC236}">
                <a16:creationId xmlns:a16="http://schemas.microsoft.com/office/drawing/2014/main" id="{DE5D63D3-65DD-DED1-4699-53D38090935B}"/>
              </a:ext>
            </a:extLst>
          </p:cNvPr>
          <p:cNvPicPr>
            <a:picLocks noChangeAspect="1"/>
          </p:cNvPicPr>
          <p:nvPr/>
        </p:nvPicPr>
        <p:blipFill>
          <a:blip r:embed="rId4"/>
          <a:stretch>
            <a:fillRect/>
          </a:stretch>
        </p:blipFill>
        <p:spPr>
          <a:xfrm>
            <a:off x="10363200" y="2305050"/>
            <a:ext cx="4419600" cy="4591050"/>
          </a:xfrm>
          <a:prstGeom prst="rect">
            <a:avLst/>
          </a:prstGeom>
        </p:spPr>
      </p:pic>
      <p:sp>
        <p:nvSpPr>
          <p:cNvPr id="5" name="Google Shape;161;p6">
            <a:extLst>
              <a:ext uri="{FF2B5EF4-FFF2-40B4-BE49-F238E27FC236}">
                <a16:creationId xmlns:a16="http://schemas.microsoft.com/office/drawing/2014/main" id="{1AF71DB0-B2D2-5989-BB13-9A8E91422A61}"/>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253404698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0DE3EAEB-13BC-680F-9502-2C0CB402CB77}"/>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6BA915DE-4BF1-A313-2895-D6DE704F6FDA}"/>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F53D1F1B-6276-FF42-8139-DC3B57D5397C}"/>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How Does a Mobile Network Work?</a:t>
            </a:r>
            <a:endParaRPr sz="3200" b="0" i="0" u="none" strike="noStrike" cap="none" dirty="0"/>
          </a:p>
        </p:txBody>
      </p:sp>
      <p:sp>
        <p:nvSpPr>
          <p:cNvPr id="139" name="Google Shape;139;p6">
            <a:extLst>
              <a:ext uri="{FF2B5EF4-FFF2-40B4-BE49-F238E27FC236}">
                <a16:creationId xmlns:a16="http://schemas.microsoft.com/office/drawing/2014/main" id="{D537BADE-E365-537B-08A3-85B62B2680E7}"/>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5B88CED2-19FE-AAFC-07EC-92E2C70E9299}"/>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A7E18166-AB31-A313-015B-821A146BF597}"/>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601DCF21-D995-1AE1-09F2-254BE8C8C48E}"/>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E0DF4789-4E55-62D9-FBC8-52D7DB3B6EA8}"/>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3E6AFEB6-885E-9A4C-55D0-AE6D279DB03D}"/>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FB3A9D74-EFB9-69D7-69CA-382EA50E072B}"/>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a:extLst>
              <a:ext uri="{FF2B5EF4-FFF2-40B4-BE49-F238E27FC236}">
                <a16:creationId xmlns:a16="http://schemas.microsoft.com/office/drawing/2014/main" id="{9D4A24A3-0318-E810-55BE-B3191CECF3E2}"/>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B39C7EAC-DAE1-372E-4689-D5F5669DF1BC}"/>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This basic architecture has remained the foundation of mobile networks. Although the technologies have evolved from 1G to 5G, every generation still contains these essential functional blocks</a:t>
            </a:r>
            <a:endParaRPr sz="2000" b="0" i="0" u="none" strike="noStrike" cap="none" dirty="0"/>
          </a:p>
        </p:txBody>
      </p:sp>
      <p:sp>
        <p:nvSpPr>
          <p:cNvPr id="160" name="Google Shape;160;p6">
            <a:extLst>
              <a:ext uri="{FF2B5EF4-FFF2-40B4-BE49-F238E27FC236}">
                <a16:creationId xmlns:a16="http://schemas.microsoft.com/office/drawing/2014/main" id="{0E6E6969-2273-1D86-4BEE-012687F9D0DD}"/>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62D2D73E-76B7-D92C-0E26-D9382DFDB591}"/>
              </a:ext>
            </a:extLst>
          </p:cNvPr>
          <p:cNvPicPr>
            <a:picLocks noChangeAspect="1"/>
          </p:cNvPicPr>
          <p:nvPr/>
        </p:nvPicPr>
        <p:blipFill>
          <a:blip r:embed="rId3"/>
          <a:stretch>
            <a:fillRect/>
          </a:stretch>
        </p:blipFill>
        <p:spPr>
          <a:xfrm>
            <a:off x="7699194" y="1309098"/>
            <a:ext cx="7794806" cy="4621802"/>
          </a:xfrm>
          <a:prstGeom prst="rect">
            <a:avLst/>
          </a:prstGeom>
        </p:spPr>
      </p:pic>
      <p:sp>
        <p:nvSpPr>
          <p:cNvPr id="4" name="TextBox 3">
            <a:extLst>
              <a:ext uri="{FF2B5EF4-FFF2-40B4-BE49-F238E27FC236}">
                <a16:creationId xmlns:a16="http://schemas.microsoft.com/office/drawing/2014/main" id="{FD0D2845-9BA6-639E-90C7-94B56E32D01D}"/>
              </a:ext>
            </a:extLst>
          </p:cNvPr>
          <p:cNvSpPr txBox="1"/>
          <p:nvPr/>
        </p:nvSpPr>
        <p:spPr>
          <a:xfrm>
            <a:off x="761999" y="1135897"/>
            <a:ext cx="6816671" cy="5078313"/>
          </a:xfrm>
          <a:prstGeom prst="rect">
            <a:avLst/>
          </a:prstGeom>
          <a:noFill/>
        </p:spPr>
        <p:txBody>
          <a:bodyPr wrap="square" rtlCol="0">
            <a:spAutoFit/>
          </a:bodyPr>
          <a:lstStyle/>
          <a:p>
            <a:r>
              <a:rPr lang="en-US" sz="1800" dirty="0"/>
              <a:t>The three main components if of mobile communication networks are –</a:t>
            </a:r>
          </a:p>
          <a:p>
            <a:pPr marL="400050" indent="-400050">
              <a:buFont typeface="+mj-lt"/>
              <a:buAutoNum type="romanUcPeriod"/>
            </a:pPr>
            <a:r>
              <a:rPr lang="en-US" sz="1800" b="1" dirty="0"/>
              <a:t>Radio Access Networks(RANs</a:t>
            </a:r>
            <a:r>
              <a:rPr lang="en-US" sz="1800" dirty="0"/>
              <a:t>):The RAN provides the wireless interface between the user device (User Equipment or UE) and the mobile network</a:t>
            </a:r>
          </a:p>
          <a:p>
            <a:pPr marL="400050" indent="-400050">
              <a:buFont typeface="+mj-lt"/>
              <a:buAutoNum type="romanUcPeriod"/>
            </a:pPr>
            <a:r>
              <a:rPr lang="en-US" sz="1800" b="1" dirty="0"/>
              <a:t>Mobile Transport and Backhaul: </a:t>
            </a:r>
            <a:r>
              <a:rPr lang="en-US" sz="1800" dirty="0"/>
              <a:t>The transport and backhaul network connects the RAN to the mobile core. It carries user data, signaling traffic, and synchronization information using high-speed fiber, microwave, or Ethernet links, ensuring reliable and low-latency communication between different network elements.</a:t>
            </a:r>
          </a:p>
          <a:p>
            <a:pPr marL="400050" indent="-400050">
              <a:buFont typeface="+mj-lt"/>
              <a:buAutoNum type="romanUcPeriod"/>
            </a:pPr>
            <a:r>
              <a:rPr lang="en-US" sz="1800" b="1" dirty="0"/>
              <a:t>Mobile core</a:t>
            </a:r>
            <a:r>
              <a:rPr lang="en-US" sz="1800" dirty="0"/>
              <a:t>:</a:t>
            </a:r>
            <a:r>
              <a:rPr lang="en-IN" sz="1800" dirty="0"/>
              <a:t>The mobile core is the central intelligence of the network. It performs functions such as user authentication, mobility management, session establishment, policy enforcement, billing, and routing of voice and data traffic to external networks such as the Internet or other mobile networks.</a:t>
            </a:r>
            <a:endParaRPr lang="en-US" sz="1800" dirty="0"/>
          </a:p>
          <a:p>
            <a:pPr marL="400050" indent="-400050">
              <a:buFont typeface="+mj-lt"/>
              <a:buAutoNum type="romanUcPeriod"/>
            </a:pPr>
            <a:endParaRPr lang="en-IN" sz="1800" dirty="0"/>
          </a:p>
        </p:txBody>
      </p:sp>
      <p:sp>
        <p:nvSpPr>
          <p:cNvPr id="6" name="Google Shape;161;p6">
            <a:extLst>
              <a:ext uri="{FF2B5EF4-FFF2-40B4-BE49-F238E27FC236}">
                <a16:creationId xmlns:a16="http://schemas.microsoft.com/office/drawing/2014/main" id="{174A1378-1CB5-5869-62F9-B02A5DA29F81}"/>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333884913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A50DF046-4F22-11BA-AE3F-C5ED467C4049}"/>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9A3E5A7C-5180-D3D1-A65B-8195339E31E6}"/>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74778A29-AE5D-5486-7A37-0E47CF59719E}"/>
              </a:ext>
            </a:extLst>
          </p:cNvPr>
          <p:cNvSpPr/>
          <p:nvPr/>
        </p:nvSpPr>
        <p:spPr>
          <a:xfrm>
            <a:off x="761999" y="317500"/>
            <a:ext cx="14534827"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First Generation (1G): The Birth of Cellular Mobile Networks</a:t>
            </a:r>
            <a:endParaRPr sz="3200" b="0" i="0" u="none" strike="noStrike" cap="none" dirty="0"/>
          </a:p>
        </p:txBody>
      </p:sp>
      <p:sp>
        <p:nvSpPr>
          <p:cNvPr id="139" name="Google Shape;139;p6">
            <a:extLst>
              <a:ext uri="{FF2B5EF4-FFF2-40B4-BE49-F238E27FC236}">
                <a16:creationId xmlns:a16="http://schemas.microsoft.com/office/drawing/2014/main" id="{3F184096-8AC0-5B3F-A942-4676FD41C12B}"/>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DC6D3FCC-A29A-41E5-7D98-4E1B3B27F34C}"/>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41C4409A-07CF-C1EF-6370-54002AA3ECDD}"/>
              </a:ext>
            </a:extLst>
          </p:cNvPr>
          <p:cNvSpPr/>
          <p:nvPr/>
        </p:nvSpPr>
        <p:spPr>
          <a:xfrm>
            <a:off x="761999" y="762000"/>
            <a:ext cx="6626603" cy="2311399"/>
          </a:xfrm>
          <a:prstGeom prst="rect">
            <a:avLst/>
          </a:prstGeom>
          <a:noFill/>
          <a:ln>
            <a:noFill/>
          </a:ln>
        </p:spPr>
        <p:txBody>
          <a:bodyPr spcFirstLastPara="1" wrap="square" lIns="0" tIns="0" rIns="0" bIns="0" anchor="ctr" anchorCtr="0">
            <a:noAutofit/>
          </a:bodyPr>
          <a:lstStyle/>
          <a:p>
            <a:r>
              <a:rPr lang="en-IN" sz="1800" b="1" dirty="0"/>
              <a:t>First Generation (1G)</a:t>
            </a:r>
          </a:p>
          <a:p>
            <a:pPr marL="285750" indent="-285750">
              <a:buFont typeface="Arial" panose="020B0604020202020204" pitchFamily="34" charset="0"/>
              <a:buChar char="•"/>
            </a:pPr>
            <a:r>
              <a:rPr lang="en-IN" sz="1800" dirty="0"/>
              <a:t>Introduced in the early 1980s. </a:t>
            </a:r>
          </a:p>
          <a:p>
            <a:pPr marL="285750" indent="-285750">
              <a:buFont typeface="Arial" panose="020B0604020202020204" pitchFamily="34" charset="0"/>
              <a:buChar char="•"/>
            </a:pPr>
            <a:r>
              <a:rPr lang="en-IN" sz="1800" dirty="0"/>
              <a:t>First commercially deployed cellular mobile network. </a:t>
            </a:r>
          </a:p>
          <a:p>
            <a:pPr marL="285750" indent="-285750">
              <a:buFont typeface="Arial" panose="020B0604020202020204" pitchFamily="34" charset="0"/>
              <a:buChar char="•"/>
            </a:pPr>
            <a:r>
              <a:rPr lang="en-IN" sz="1800" dirty="0"/>
              <a:t>Used analogue voice communication. </a:t>
            </a:r>
          </a:p>
          <a:p>
            <a:pPr marL="285750" indent="-285750">
              <a:buFont typeface="Arial" panose="020B0604020202020204" pitchFamily="34" charset="0"/>
              <a:buChar char="•"/>
            </a:pPr>
            <a:r>
              <a:rPr lang="en-IN" sz="1800" dirty="0"/>
              <a:t>Based on Frequency Division Multiple Access (FDMA). </a:t>
            </a:r>
          </a:p>
          <a:p>
            <a:pPr marL="285750" indent="-285750">
              <a:buFont typeface="Arial" panose="020B0604020202020204" pitchFamily="34" charset="0"/>
              <a:buChar char="•"/>
            </a:pPr>
            <a:r>
              <a:rPr lang="en-IN" sz="1800" dirty="0"/>
              <a:t>Designed primarily for voice calls. </a:t>
            </a:r>
          </a:p>
        </p:txBody>
      </p:sp>
      <p:sp>
        <p:nvSpPr>
          <p:cNvPr id="150" name="Google Shape;150;p6">
            <a:extLst>
              <a:ext uri="{FF2B5EF4-FFF2-40B4-BE49-F238E27FC236}">
                <a16:creationId xmlns:a16="http://schemas.microsoft.com/office/drawing/2014/main" id="{0BFB9A99-B399-8B97-3DB0-F5BE269BE327}"/>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72214643-B733-E593-D7D9-065436DFA9E6}"/>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964B1401-37F7-1CDD-7302-8AD2301C7BC7}"/>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6BAAC62E-87EB-138B-642C-EFEDBD32E921}"/>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a:extLst>
              <a:ext uri="{FF2B5EF4-FFF2-40B4-BE49-F238E27FC236}">
                <a16:creationId xmlns:a16="http://schemas.microsoft.com/office/drawing/2014/main" id="{A2949174-5430-3E3C-8E4E-03DD7AB03D2E}"/>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E36341DD-D1AF-6ECD-228E-1EE5BE9F1A80}"/>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 Introduced the cellular architecture into commercial mobile communication.</a:t>
            </a:r>
            <a:endParaRPr sz="2000" b="0" i="0" u="none" strike="noStrike" cap="none" dirty="0"/>
          </a:p>
        </p:txBody>
      </p:sp>
      <p:sp>
        <p:nvSpPr>
          <p:cNvPr id="160" name="Google Shape;160;p6">
            <a:extLst>
              <a:ext uri="{FF2B5EF4-FFF2-40B4-BE49-F238E27FC236}">
                <a16:creationId xmlns:a16="http://schemas.microsoft.com/office/drawing/2014/main" id="{984A15D2-2FE0-8487-0D62-D5587914937C}"/>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B95CEFD3-3E51-50B3-72EF-1E2B59B8CB7A}"/>
              </a:ext>
            </a:extLst>
          </p:cNvPr>
          <p:cNvPicPr>
            <a:picLocks noChangeAspect="1"/>
          </p:cNvPicPr>
          <p:nvPr/>
        </p:nvPicPr>
        <p:blipFill>
          <a:blip r:embed="rId3"/>
          <a:stretch>
            <a:fillRect/>
          </a:stretch>
        </p:blipFill>
        <p:spPr>
          <a:xfrm>
            <a:off x="7983350" y="1117600"/>
            <a:ext cx="7172325" cy="2038350"/>
          </a:xfrm>
          <a:prstGeom prst="rect">
            <a:avLst/>
          </a:prstGeom>
        </p:spPr>
      </p:pic>
      <p:pic>
        <p:nvPicPr>
          <p:cNvPr id="5" name="Picture 4">
            <a:extLst>
              <a:ext uri="{FF2B5EF4-FFF2-40B4-BE49-F238E27FC236}">
                <a16:creationId xmlns:a16="http://schemas.microsoft.com/office/drawing/2014/main" id="{ABCBF119-B872-1DE2-68E5-AF203AF7DBBD}"/>
              </a:ext>
            </a:extLst>
          </p:cNvPr>
          <p:cNvPicPr>
            <a:picLocks noChangeAspect="1"/>
          </p:cNvPicPr>
          <p:nvPr/>
        </p:nvPicPr>
        <p:blipFill>
          <a:blip r:embed="rId4"/>
          <a:stretch>
            <a:fillRect/>
          </a:stretch>
        </p:blipFill>
        <p:spPr>
          <a:xfrm>
            <a:off x="7983350" y="3435351"/>
            <a:ext cx="6477000" cy="3390900"/>
          </a:xfrm>
          <a:prstGeom prst="rect">
            <a:avLst/>
          </a:prstGeom>
        </p:spPr>
      </p:pic>
      <p:sp>
        <p:nvSpPr>
          <p:cNvPr id="7" name="TextBox 6">
            <a:extLst>
              <a:ext uri="{FF2B5EF4-FFF2-40B4-BE49-F238E27FC236}">
                <a16:creationId xmlns:a16="http://schemas.microsoft.com/office/drawing/2014/main" id="{071C0DC8-7874-FE4C-737A-9988060925A2}"/>
              </a:ext>
            </a:extLst>
          </p:cNvPr>
          <p:cNvSpPr txBox="1"/>
          <p:nvPr/>
        </p:nvSpPr>
        <p:spPr>
          <a:xfrm>
            <a:off x="761998" y="2899539"/>
            <a:ext cx="5431102" cy="1200329"/>
          </a:xfrm>
          <a:prstGeom prst="rect">
            <a:avLst/>
          </a:prstGeom>
          <a:noFill/>
        </p:spPr>
        <p:txBody>
          <a:bodyPr wrap="square" rtlCol="0">
            <a:spAutoFit/>
          </a:bodyPr>
          <a:lstStyle/>
          <a:p>
            <a:r>
              <a:rPr lang="en-US" sz="1800" dirty="0"/>
              <a:t>For example-</a:t>
            </a:r>
          </a:p>
          <a:p>
            <a:pPr marL="285750" indent="-285750">
              <a:buFont typeface="Arial" panose="020B0604020202020204" pitchFamily="34" charset="0"/>
              <a:buChar char="•"/>
            </a:pPr>
            <a:r>
              <a:rPr lang="en-US" sz="1800" dirty="0"/>
              <a:t>1850-1910 MHz for Uplink</a:t>
            </a:r>
          </a:p>
          <a:p>
            <a:pPr marL="285750" indent="-285750">
              <a:buFont typeface="Arial" panose="020B0604020202020204" pitchFamily="34" charset="0"/>
              <a:buChar char="•"/>
            </a:pPr>
            <a:r>
              <a:rPr lang="en-US" sz="1800" dirty="0"/>
              <a:t>20 MHz  Guard band</a:t>
            </a:r>
          </a:p>
          <a:p>
            <a:pPr marL="285750" indent="-285750">
              <a:buFont typeface="Arial" panose="020B0604020202020204" pitchFamily="34" charset="0"/>
              <a:buChar char="•"/>
            </a:pPr>
            <a:r>
              <a:rPr lang="en-US" sz="1800" dirty="0"/>
              <a:t>1930-1990 MHz for downlink</a:t>
            </a:r>
            <a:endParaRPr lang="en-IN" sz="1800" dirty="0"/>
          </a:p>
        </p:txBody>
      </p:sp>
      <p:graphicFrame>
        <p:nvGraphicFramePr>
          <p:cNvPr id="8" name="Table 7">
            <a:extLst>
              <a:ext uri="{FF2B5EF4-FFF2-40B4-BE49-F238E27FC236}">
                <a16:creationId xmlns:a16="http://schemas.microsoft.com/office/drawing/2014/main" id="{457242EC-A4BF-98F4-53F2-249CBECF35B4}"/>
              </a:ext>
            </a:extLst>
          </p:cNvPr>
          <p:cNvGraphicFramePr>
            <a:graphicFrameLocks noGrp="1"/>
          </p:cNvGraphicFramePr>
          <p:nvPr>
            <p:extLst>
              <p:ext uri="{D42A27DB-BD31-4B8C-83A1-F6EECF244321}">
                <p14:modId xmlns:p14="http://schemas.microsoft.com/office/powerpoint/2010/main" val="2270152640"/>
              </p:ext>
            </p:extLst>
          </p:nvPr>
        </p:nvGraphicFramePr>
        <p:xfrm>
          <a:off x="732178" y="4544368"/>
          <a:ext cx="6477000" cy="2105480"/>
        </p:xfrm>
        <a:graphic>
          <a:graphicData uri="http://schemas.openxmlformats.org/drawingml/2006/table">
            <a:tbl>
              <a:tblPr firstRow="1" bandRow="1">
                <a:tableStyleId>{917C21B6-72DA-4E8B-B101-83EBE1853278}</a:tableStyleId>
              </a:tblPr>
              <a:tblGrid>
                <a:gridCol w="3238500">
                  <a:extLst>
                    <a:ext uri="{9D8B030D-6E8A-4147-A177-3AD203B41FA5}">
                      <a16:colId xmlns:a16="http://schemas.microsoft.com/office/drawing/2014/main" val="1934049856"/>
                    </a:ext>
                  </a:extLst>
                </a:gridCol>
                <a:gridCol w="3238500">
                  <a:extLst>
                    <a:ext uri="{9D8B030D-6E8A-4147-A177-3AD203B41FA5}">
                      <a16:colId xmlns:a16="http://schemas.microsoft.com/office/drawing/2014/main" val="3361390161"/>
                    </a:ext>
                  </a:extLst>
                </a:gridCol>
              </a:tblGrid>
              <a:tr h="526370">
                <a:tc>
                  <a:txBody>
                    <a:bodyPr/>
                    <a:lstStyle/>
                    <a:p>
                      <a:r>
                        <a:rPr lang="en-IN" dirty="0"/>
                        <a:t>Region</a:t>
                      </a:r>
                    </a:p>
                  </a:txBody>
                  <a:tcPr/>
                </a:tc>
                <a:tc>
                  <a:txBody>
                    <a:bodyPr/>
                    <a:lstStyle/>
                    <a:p>
                      <a:r>
                        <a:rPr lang="en-IN" dirty="0"/>
                        <a:t>Standard</a:t>
                      </a:r>
                    </a:p>
                  </a:txBody>
                  <a:tcPr/>
                </a:tc>
                <a:extLst>
                  <a:ext uri="{0D108BD9-81ED-4DB2-BD59-A6C34878D82A}">
                    <a16:rowId xmlns:a16="http://schemas.microsoft.com/office/drawing/2014/main" val="4248345746"/>
                  </a:ext>
                </a:extLst>
              </a:tr>
              <a:tr h="526370">
                <a:tc>
                  <a:txBody>
                    <a:bodyPr/>
                    <a:lstStyle/>
                    <a:p>
                      <a:r>
                        <a:rPr lang="en-IN" dirty="0"/>
                        <a:t>USA</a:t>
                      </a:r>
                    </a:p>
                  </a:txBody>
                  <a:tcPr/>
                </a:tc>
                <a:tc>
                  <a:txBody>
                    <a:bodyPr/>
                    <a:lstStyle/>
                    <a:p>
                      <a:r>
                        <a:rPr lang="en-IN" dirty="0"/>
                        <a:t>Advanced Mobile Phone System</a:t>
                      </a:r>
                    </a:p>
                  </a:txBody>
                  <a:tcPr/>
                </a:tc>
                <a:extLst>
                  <a:ext uri="{0D108BD9-81ED-4DB2-BD59-A6C34878D82A}">
                    <a16:rowId xmlns:a16="http://schemas.microsoft.com/office/drawing/2014/main" val="1611746822"/>
                  </a:ext>
                </a:extLst>
              </a:tr>
              <a:tr h="526370">
                <a:tc>
                  <a:txBody>
                    <a:bodyPr/>
                    <a:lstStyle/>
                    <a:p>
                      <a:r>
                        <a:rPr lang="en-IN" dirty="0"/>
                        <a:t>Europe</a:t>
                      </a:r>
                    </a:p>
                  </a:txBody>
                  <a:tcPr/>
                </a:tc>
                <a:tc>
                  <a:txBody>
                    <a:bodyPr/>
                    <a:lstStyle/>
                    <a:p>
                      <a:r>
                        <a:rPr lang="en-IN" dirty="0"/>
                        <a:t>Total Access Communication System</a:t>
                      </a:r>
                    </a:p>
                  </a:txBody>
                  <a:tcPr/>
                </a:tc>
                <a:extLst>
                  <a:ext uri="{0D108BD9-81ED-4DB2-BD59-A6C34878D82A}">
                    <a16:rowId xmlns:a16="http://schemas.microsoft.com/office/drawing/2014/main" val="1796374107"/>
                  </a:ext>
                </a:extLst>
              </a:tr>
              <a:tr h="526370">
                <a:tc>
                  <a:txBody>
                    <a:bodyPr/>
                    <a:lstStyle/>
                    <a:p>
                      <a:r>
                        <a:rPr lang="en-US" dirty="0"/>
                        <a:t>Nordic Countries (Sweden, Norway, Finland, Denmark)</a:t>
                      </a:r>
                      <a:endParaRPr lang="en-IN" dirty="0"/>
                    </a:p>
                  </a:txBody>
                  <a:tcPr/>
                </a:tc>
                <a:tc>
                  <a:txBody>
                    <a:bodyPr/>
                    <a:lstStyle/>
                    <a:p>
                      <a:r>
                        <a:rPr lang="en-IN" dirty="0"/>
                        <a:t>Nordic Mobile Telephone</a:t>
                      </a:r>
                    </a:p>
                  </a:txBody>
                  <a:tcPr/>
                </a:tc>
                <a:extLst>
                  <a:ext uri="{0D108BD9-81ED-4DB2-BD59-A6C34878D82A}">
                    <a16:rowId xmlns:a16="http://schemas.microsoft.com/office/drawing/2014/main" val="2061184329"/>
                  </a:ext>
                </a:extLst>
              </a:tr>
            </a:tbl>
          </a:graphicData>
        </a:graphic>
      </p:graphicFrame>
      <p:sp>
        <p:nvSpPr>
          <p:cNvPr id="10" name="Google Shape;161;p6">
            <a:extLst>
              <a:ext uri="{FF2B5EF4-FFF2-40B4-BE49-F238E27FC236}">
                <a16:creationId xmlns:a16="http://schemas.microsoft.com/office/drawing/2014/main" id="{9D138669-3DD0-6C7B-A404-EAB797830FE1}"/>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277417377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ACA0E5B9-A38A-3B5D-3A59-BA19001507EA}"/>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0392AAE9-2AD6-5901-6738-8603A69AB21E}"/>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4CBE604F-664F-63D2-3EF7-F42DD7774F75}"/>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1G Cellular Network Architecture</a:t>
            </a:r>
            <a:endParaRPr sz="3200" b="0" i="0" u="none" strike="noStrike" cap="none" dirty="0"/>
          </a:p>
        </p:txBody>
      </p:sp>
      <p:sp>
        <p:nvSpPr>
          <p:cNvPr id="139" name="Google Shape;139;p6">
            <a:extLst>
              <a:ext uri="{FF2B5EF4-FFF2-40B4-BE49-F238E27FC236}">
                <a16:creationId xmlns:a16="http://schemas.microsoft.com/office/drawing/2014/main" id="{13727C51-7823-8357-19F4-02716FBC9E29}"/>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AE570E1A-E44E-CE98-D8D2-2978383D7F70}"/>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81C38FED-EAB5-69DD-76BE-E7A8833FA63E}"/>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ABE635B7-EB94-890C-321A-7BB6E439DB47}"/>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C566F19F-FE5F-B5CC-D1B5-471AD97DC348}"/>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E888492E-35DA-C9EB-3C0E-6D4EF027D0A3}"/>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720F2BC2-8411-BEFF-E75E-F97B2E62D406}"/>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a:extLst>
              <a:ext uri="{FF2B5EF4-FFF2-40B4-BE49-F238E27FC236}">
                <a16:creationId xmlns:a16="http://schemas.microsoft.com/office/drawing/2014/main" id="{5EEB4F05-26AE-ABEE-74A9-C65260786109}"/>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61511746-C66A-F761-5B2D-4E9FE697016F}"/>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In 1G, the MSC performed most of the network management functions. As mobile networks grew and roaming became common, new database elements were introduced to efficiently manage subscriber information</a:t>
            </a:r>
            <a:endParaRPr sz="2000" b="0" i="0" u="none" strike="noStrike" cap="none" dirty="0"/>
          </a:p>
        </p:txBody>
      </p:sp>
      <p:sp>
        <p:nvSpPr>
          <p:cNvPr id="160" name="Google Shape;160;p6">
            <a:extLst>
              <a:ext uri="{FF2B5EF4-FFF2-40B4-BE49-F238E27FC236}">
                <a16:creationId xmlns:a16="http://schemas.microsoft.com/office/drawing/2014/main" id="{183079FE-0F5E-F825-846C-86DB4F54044E}"/>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Picture 4">
            <a:extLst>
              <a:ext uri="{FF2B5EF4-FFF2-40B4-BE49-F238E27FC236}">
                <a16:creationId xmlns:a16="http://schemas.microsoft.com/office/drawing/2014/main" id="{40C661EF-C258-3EA3-D1D5-EBEBF2B5386F}"/>
              </a:ext>
            </a:extLst>
          </p:cNvPr>
          <p:cNvPicPr>
            <a:picLocks noChangeAspect="1"/>
          </p:cNvPicPr>
          <p:nvPr/>
        </p:nvPicPr>
        <p:blipFill>
          <a:blip r:embed="rId3"/>
          <a:stretch>
            <a:fillRect/>
          </a:stretch>
        </p:blipFill>
        <p:spPr>
          <a:xfrm>
            <a:off x="9997766" y="1155700"/>
            <a:ext cx="5270498" cy="6154737"/>
          </a:xfrm>
          <a:prstGeom prst="rect">
            <a:avLst/>
          </a:prstGeom>
        </p:spPr>
      </p:pic>
      <p:sp>
        <p:nvSpPr>
          <p:cNvPr id="6" name="TextBox 5">
            <a:extLst>
              <a:ext uri="{FF2B5EF4-FFF2-40B4-BE49-F238E27FC236}">
                <a16:creationId xmlns:a16="http://schemas.microsoft.com/office/drawing/2014/main" id="{B8A9877A-617C-DD3C-27CD-8F6544351B9D}"/>
              </a:ext>
            </a:extLst>
          </p:cNvPr>
          <p:cNvSpPr txBox="1"/>
          <p:nvPr/>
        </p:nvSpPr>
        <p:spPr>
          <a:xfrm>
            <a:off x="733734" y="989608"/>
            <a:ext cx="9235766" cy="6555641"/>
          </a:xfrm>
          <a:prstGeom prst="rect">
            <a:avLst/>
          </a:prstGeom>
          <a:noFill/>
        </p:spPr>
        <p:txBody>
          <a:bodyPr wrap="square" rtlCol="0">
            <a:spAutoFit/>
          </a:bodyPr>
          <a:lstStyle/>
          <a:p>
            <a:r>
              <a:rPr lang="en-IN" b="1" dirty="0"/>
              <a:t>📱 Mobile User / User Equipment (UE)</a:t>
            </a:r>
          </a:p>
          <a:p>
            <a:r>
              <a:rPr lang="en-IN" dirty="0"/>
              <a:t>The </a:t>
            </a:r>
            <a:r>
              <a:rPr lang="en-IN" b="1" dirty="0"/>
              <a:t>User Equipment (UE)</a:t>
            </a:r>
            <a:r>
              <a:rPr lang="en-IN" dirty="0"/>
              <a:t>, commonly referred to as the </a:t>
            </a:r>
            <a:r>
              <a:rPr lang="en-IN" b="1" dirty="0"/>
              <a:t>mobile phone or handset</a:t>
            </a:r>
            <a:r>
              <a:rPr lang="en-IN" dirty="0"/>
              <a:t>, is the device used by the subscriber to access the mobile network. It converts the user's voice or data into radio signals for wireless transmission and receives radio signals from the network for communication.</a:t>
            </a:r>
            <a:br>
              <a:rPr lang="en-IN" dirty="0"/>
            </a:br>
            <a:endParaRPr lang="en-IN" dirty="0"/>
          </a:p>
          <a:p>
            <a:r>
              <a:rPr lang="en-IN" b="1" dirty="0"/>
              <a:t>📡 Base Station (BS)</a:t>
            </a:r>
          </a:p>
          <a:p>
            <a:r>
              <a:rPr lang="en-IN" dirty="0"/>
              <a:t>The </a:t>
            </a:r>
            <a:r>
              <a:rPr lang="en-IN" b="1" dirty="0"/>
              <a:t>Base Station (BS)</a:t>
            </a:r>
            <a:r>
              <a:rPr lang="en-IN" dirty="0"/>
              <a:t> is the radio access point that provides wireless coverage for a specific geographical area known as a </a:t>
            </a:r>
            <a:r>
              <a:rPr lang="en-IN" b="1" dirty="0"/>
              <a:t>cell</a:t>
            </a:r>
            <a:r>
              <a:rPr lang="en-IN" dirty="0"/>
              <a:t>. It establishes and maintains the radio link with all mobile users within its coverage area by transmitting and receiving radio signals. In addition, the Base Station allocates radio channels, manages wireless resources, and forwards user traffic to the Mobile Switching </a:t>
            </a:r>
            <a:r>
              <a:rPr lang="en-IN" dirty="0" err="1"/>
              <a:t>Center</a:t>
            </a:r>
            <a:r>
              <a:rPr lang="en-IN" dirty="0"/>
              <a:t>. It acts as the </a:t>
            </a:r>
            <a:r>
              <a:rPr lang="en-IN" b="1" dirty="0"/>
              <a:t>bridge between the wireless users and the wired backbone of the mobile network</a:t>
            </a:r>
            <a:r>
              <a:rPr lang="en-IN" dirty="0"/>
              <a:t>, enabling seamless communication between mobile devices and the core network.</a:t>
            </a:r>
          </a:p>
          <a:p>
            <a:endParaRPr lang="en-IN" dirty="0"/>
          </a:p>
          <a:p>
            <a:r>
              <a:rPr lang="en-IN" b="1" dirty="0"/>
              <a:t>☎ Mobile Switching </a:t>
            </a:r>
            <a:r>
              <a:rPr lang="en-IN" b="1" dirty="0" err="1"/>
              <a:t>Center</a:t>
            </a:r>
            <a:r>
              <a:rPr lang="en-IN" b="1" dirty="0"/>
              <a:t> (MSC)</a:t>
            </a:r>
          </a:p>
          <a:p>
            <a:r>
              <a:rPr lang="en-IN" dirty="0"/>
              <a:t>The </a:t>
            </a:r>
            <a:r>
              <a:rPr lang="en-IN" b="1" dirty="0"/>
              <a:t>Mobile Switching </a:t>
            </a:r>
            <a:r>
              <a:rPr lang="en-IN" b="1" dirty="0" err="1"/>
              <a:t>Center</a:t>
            </a:r>
            <a:r>
              <a:rPr lang="en-IN" b="1" dirty="0"/>
              <a:t> (MSC)</a:t>
            </a:r>
            <a:r>
              <a:rPr lang="en-IN" dirty="0"/>
              <a:t> is the central control unit and the </a:t>
            </a:r>
            <a:r>
              <a:rPr lang="en-IN" b="1" dirty="0"/>
              <a:t>brain of the 1G cellular network</a:t>
            </a:r>
            <a:r>
              <a:rPr lang="en-IN" dirty="0"/>
              <a:t>. It is responsible for managing the entire communication process by establishing, routing, and terminating telephone calls. The MSC coordinates communication between multiple Base Stations, performs handoff operations when a user moves from one cell to another, and routes calls to other MSCs or to the Public Switched Telephone Network (PSTN) for communication with landline users. By maintaining information about ongoing calls and controlling network resources, the MSC ensures reliable and uninterrupted mobile communication.</a:t>
            </a:r>
          </a:p>
          <a:p>
            <a:br>
              <a:rPr lang="en-IN" dirty="0"/>
            </a:br>
            <a:endParaRPr lang="en-IN" dirty="0"/>
          </a:p>
          <a:p>
            <a:r>
              <a:rPr lang="en-IN" b="1" dirty="0"/>
              <a:t>☎ Public Switched Telephone Network (PSTN)</a:t>
            </a:r>
          </a:p>
          <a:p>
            <a:r>
              <a:rPr lang="en-IN" dirty="0"/>
              <a:t>The </a:t>
            </a:r>
            <a:r>
              <a:rPr lang="en-IN" b="1" dirty="0"/>
              <a:t>Public Switched Telephone Network (PSTN)</a:t>
            </a:r>
            <a:r>
              <a:rPr lang="en-IN" dirty="0"/>
              <a:t> is the traditional global circuit-switched telephone network that connects landline telephones and external communication systems. In a 1G mobile network, the MSC interfaces with the PSTN to route calls between mobile users and fixed-line subscribers. This allows a mobile user to communicate not only with other mobile users but also with telephones anywhere in the world that are connected through the conventional telephone network.</a:t>
            </a:r>
          </a:p>
          <a:p>
            <a:endParaRPr lang="en-IN" dirty="0"/>
          </a:p>
        </p:txBody>
      </p:sp>
      <p:sp>
        <p:nvSpPr>
          <p:cNvPr id="8" name="Google Shape;161;p6">
            <a:extLst>
              <a:ext uri="{FF2B5EF4-FFF2-40B4-BE49-F238E27FC236}">
                <a16:creationId xmlns:a16="http://schemas.microsoft.com/office/drawing/2014/main" id="{15CED555-192C-FE63-0C2A-677709E9F9A1}"/>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48038777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995DEB58-22AC-5F73-FD2F-DB44B88CAFC0}"/>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F80304E9-5BBA-F042-6639-A55891ABC274}"/>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3C6BAE92-13D4-1181-7DBC-056CD5C19493}"/>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Why Was 2G Needed?</a:t>
            </a:r>
            <a:endParaRPr sz="3200" b="0" i="0" u="none" strike="noStrike" cap="none" dirty="0"/>
          </a:p>
        </p:txBody>
      </p:sp>
      <p:sp>
        <p:nvSpPr>
          <p:cNvPr id="139" name="Google Shape;139;p6">
            <a:extLst>
              <a:ext uri="{FF2B5EF4-FFF2-40B4-BE49-F238E27FC236}">
                <a16:creationId xmlns:a16="http://schemas.microsoft.com/office/drawing/2014/main" id="{58A03615-ECB7-5BB3-708E-BFA3C39DEB3D}"/>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132457E6-87E3-8C42-3568-A4B60899BD1E}"/>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2B3AE737-5A22-862C-4DC0-8DD6C19ABF2B}"/>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6520BCDC-DFF7-D9DE-AC96-A19E5BF6D574}"/>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363EA81C-F959-E97F-6D2A-B82A09B7AABD}"/>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693A4164-7207-9589-2DCD-E846D325AC0F}"/>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57" name="Google Shape;157;p6">
            <a:extLst>
              <a:ext uri="{FF2B5EF4-FFF2-40B4-BE49-F238E27FC236}">
                <a16:creationId xmlns:a16="http://schemas.microsoft.com/office/drawing/2014/main" id="{35FD7062-3A05-5AAB-12B3-47D05A2FE042}"/>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a:extLst>
              <a:ext uri="{FF2B5EF4-FFF2-40B4-BE49-F238E27FC236}">
                <a16:creationId xmlns:a16="http://schemas.microsoft.com/office/drawing/2014/main" id="{2F2F12C6-0A9B-865E-DF60-82356E012633}"/>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67041B49-B81D-9B36-77F5-8F2A53C0A016}"/>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How can we improve mobile communication without changing the entire cellular architecture?</a:t>
            </a:r>
            <a:endParaRPr sz="2000" b="0" i="0" u="none" strike="noStrike" cap="none" dirty="0"/>
          </a:p>
        </p:txBody>
      </p:sp>
      <p:sp>
        <p:nvSpPr>
          <p:cNvPr id="160" name="Google Shape;160;p6">
            <a:extLst>
              <a:ext uri="{FF2B5EF4-FFF2-40B4-BE49-F238E27FC236}">
                <a16:creationId xmlns:a16="http://schemas.microsoft.com/office/drawing/2014/main" id="{0B03CBA3-2720-361D-3AB3-EC2B087DEE1D}"/>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3" name="Table 2">
            <a:extLst>
              <a:ext uri="{FF2B5EF4-FFF2-40B4-BE49-F238E27FC236}">
                <a16:creationId xmlns:a16="http://schemas.microsoft.com/office/drawing/2014/main" id="{C96FE037-9BBD-F6D7-4AE8-B48EFE316147}"/>
              </a:ext>
            </a:extLst>
          </p:cNvPr>
          <p:cNvGraphicFramePr>
            <a:graphicFrameLocks noGrp="1"/>
          </p:cNvGraphicFramePr>
          <p:nvPr>
            <p:extLst>
              <p:ext uri="{D42A27DB-BD31-4B8C-83A1-F6EECF244321}">
                <p14:modId xmlns:p14="http://schemas.microsoft.com/office/powerpoint/2010/main" val="985730064"/>
              </p:ext>
            </p:extLst>
          </p:nvPr>
        </p:nvGraphicFramePr>
        <p:xfrm>
          <a:off x="913310" y="1155700"/>
          <a:ext cx="14263190" cy="5151483"/>
        </p:xfrm>
        <a:graphic>
          <a:graphicData uri="http://schemas.openxmlformats.org/drawingml/2006/table">
            <a:tbl>
              <a:tblPr firstRow="1" bandRow="1">
                <a:tableStyleId>{917C21B6-72DA-4E8B-B101-83EBE1853278}</a:tableStyleId>
              </a:tblPr>
              <a:tblGrid>
                <a:gridCol w="7131595">
                  <a:extLst>
                    <a:ext uri="{9D8B030D-6E8A-4147-A177-3AD203B41FA5}">
                      <a16:colId xmlns:a16="http://schemas.microsoft.com/office/drawing/2014/main" val="3304362555"/>
                    </a:ext>
                  </a:extLst>
                </a:gridCol>
                <a:gridCol w="7131595">
                  <a:extLst>
                    <a:ext uri="{9D8B030D-6E8A-4147-A177-3AD203B41FA5}">
                      <a16:colId xmlns:a16="http://schemas.microsoft.com/office/drawing/2014/main" val="190617804"/>
                    </a:ext>
                  </a:extLst>
                </a:gridCol>
              </a:tblGrid>
              <a:tr h="488043">
                <a:tc>
                  <a:txBody>
                    <a:bodyPr/>
                    <a:lstStyle/>
                    <a:p>
                      <a:r>
                        <a:rPr lang="en-IN" sz="1800" b="1" dirty="0"/>
                        <a:t>What 1G Introduced (Strengths)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t>Limitations of 1G (Why 2G Was Needed)</a:t>
                      </a:r>
                      <a:endParaRPr lang="en-IN" sz="1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2152825"/>
                  </a:ext>
                </a:extLst>
              </a:tr>
              <a:tr h="488043">
                <a:tc>
                  <a:txBody>
                    <a:bodyPr/>
                    <a:lstStyle/>
                    <a:p>
                      <a:r>
                        <a:rPr lang="en-IN" sz="1800" b="1" dirty="0"/>
                        <a:t>Cellular Architecture</a:t>
                      </a:r>
                      <a:r>
                        <a:rPr lang="en-IN" sz="1800" dirty="0"/>
                        <a:t> – Divided large service areas into small cells, significantly increasing network capacity.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Analog Communication – Voice was transmitted using analog signals, making communication susceptible to noise and interference.</a:t>
                      </a:r>
                      <a:endParaRPr lang="en-IN"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7193103"/>
                  </a:ext>
                </a:extLst>
              </a:tr>
              <a:tr h="488043">
                <a:tc>
                  <a:txBody>
                    <a:bodyPr/>
                    <a:lstStyle/>
                    <a:p>
                      <a:r>
                        <a:rPr lang="en-IN" sz="1800" b="1" dirty="0"/>
                        <a:t>Frequency Reuse</a:t>
                      </a:r>
                      <a:r>
                        <a:rPr lang="en-IN" sz="1800" dirty="0"/>
                        <a:t> – Enabled efficient utilization of the limited radio spectrum by reusing frequencies in non-adjacent cells.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800" b="1" dirty="0"/>
                        <a:t>Poor Voice Quality</a:t>
                      </a:r>
                      <a:r>
                        <a:rPr lang="en-IN" sz="1800" dirty="0"/>
                        <a:t> – Analog transmission often resulted in static noise, signal degradation, and dropped calls.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46128174"/>
                  </a:ext>
                </a:extLst>
              </a:tr>
              <a:tr h="488043">
                <a:tc>
                  <a:txBody>
                    <a:bodyPr/>
                    <a:lstStyle/>
                    <a:p>
                      <a:r>
                        <a:rPr lang="en-IN" sz="1800" b="1" dirty="0"/>
                        <a:t>Mobility Support</a:t>
                      </a:r>
                      <a:r>
                        <a:rPr lang="en-IN" sz="1800" dirty="0"/>
                        <a:t> – Users could move between cells while maintaining an ongoing call through handoff mechanisms.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800" b="1" dirty="0"/>
                        <a:t>No Security or Privacy</a:t>
                      </a:r>
                      <a:r>
                        <a:rPr lang="en-IN" sz="1800" dirty="0"/>
                        <a:t> – Calls were not encrypted and could be intercepted using radio scanners.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80467336"/>
                  </a:ext>
                </a:extLst>
              </a:tr>
              <a:tr h="488043">
                <a:tc>
                  <a:txBody>
                    <a:bodyPr/>
                    <a:lstStyle/>
                    <a:p>
                      <a:r>
                        <a:rPr lang="en-IN" sz="1800" b="1" dirty="0"/>
                        <a:t>Commercial Mobile Telephony</a:t>
                      </a:r>
                      <a:r>
                        <a:rPr lang="en-IN" sz="1800" dirty="0"/>
                        <a:t> – Made large-scale public mobile communication commercially viable for the first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800" b="1" dirty="0"/>
                        <a:t>Voice-Only Service</a:t>
                      </a:r>
                      <a:r>
                        <a:rPr lang="en-IN" sz="1800" dirty="0"/>
                        <a:t> – Supported only voice calls; services such as SMS, email, or Internet access were unavailable.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1586663"/>
                  </a:ext>
                </a:extLst>
              </a:tr>
              <a:tr h="488043">
                <a:tc>
                  <a:txBody>
                    <a:bodyPr/>
                    <a:lstStyle/>
                    <a:p>
                      <a:r>
                        <a:rPr lang="en-IN" sz="1800" b="1" dirty="0"/>
                        <a:t>Improved Coverage</a:t>
                      </a:r>
                      <a:r>
                        <a:rPr lang="en-IN" sz="1800" dirty="0"/>
                        <a:t> – Multiple base stations provided better geographical coverage than earlier pre-cellular 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800" b="1" dirty="0"/>
                        <a:t>Limited Capacity</a:t>
                      </a:r>
                      <a:r>
                        <a:rPr lang="en-IN" sz="1800" dirty="0"/>
                        <a:t> – Although much better than MTS/IMTS, the </a:t>
                      </a:r>
                      <a:r>
                        <a:rPr lang="en-IN" sz="1800" dirty="0" err="1"/>
                        <a:t>analog</a:t>
                      </a:r>
                      <a:r>
                        <a:rPr lang="en-IN" sz="1800" dirty="0"/>
                        <a:t> system still had limited user capacity due to inefficient spectrum utilization.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04446011"/>
                  </a:ext>
                </a:extLst>
              </a:tr>
              <a:tr h="488043">
                <a:tc>
                  <a:txBody>
                    <a:bodyPr/>
                    <a:lstStyle/>
                    <a:p>
                      <a:r>
                        <a:rPr lang="en-IN" sz="1800" b="1" dirty="0"/>
                        <a:t>Foundation for Future Networks</a:t>
                      </a:r>
                      <a:r>
                        <a:rPr lang="en-IN" sz="1800" dirty="0"/>
                        <a:t> – Established the fundamental architecture (cell, base station, switching </a:t>
                      </a:r>
                      <a:r>
                        <a:rPr lang="en-IN" sz="1800" dirty="0" err="1"/>
                        <a:t>center</a:t>
                      </a:r>
                      <a:r>
                        <a:rPr lang="en-IN" sz="1800" dirty="0"/>
                        <a:t>) that continues to exist in modern mobile networks.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IN" sz="1800" b="1" dirty="0"/>
                        <a:t>Large and Power-Hungry Devices</a:t>
                      </a:r>
                      <a:r>
                        <a:rPr lang="en-IN" sz="1800" dirty="0"/>
                        <a:t> – Early mobile phones were bulky, consumed significant battery power, and were expensive to 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54224762"/>
                  </a:ext>
                </a:extLst>
              </a:tr>
            </a:tbl>
          </a:graphicData>
        </a:graphic>
      </p:graphicFrame>
      <p:sp>
        <p:nvSpPr>
          <p:cNvPr id="7" name="Google Shape;161;p6">
            <a:extLst>
              <a:ext uri="{FF2B5EF4-FFF2-40B4-BE49-F238E27FC236}">
                <a16:creationId xmlns:a16="http://schemas.microsoft.com/office/drawing/2014/main" id="{973B408F-1564-861A-3A1C-61CEB9FF73B9}"/>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186948695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9B932229-649E-E5D0-353F-437FA68D0C71}"/>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23AF1D97-6CEB-3A2F-7B11-A36E84ECFDA6}"/>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6">
            <a:extLst>
              <a:ext uri="{FF2B5EF4-FFF2-40B4-BE49-F238E27FC236}">
                <a16:creationId xmlns:a16="http://schemas.microsoft.com/office/drawing/2014/main" id="{C71A5CE9-F484-DAA9-8480-D716A06FFBD4}"/>
              </a:ext>
            </a:extLst>
          </p:cNvPr>
          <p:cNvSpPr/>
          <p:nvPr/>
        </p:nvSpPr>
        <p:spPr>
          <a:xfrm>
            <a:off x="762000" y="317500"/>
            <a:ext cx="10160000" cy="571500"/>
          </a:xfrm>
          <a:prstGeom prst="rect">
            <a:avLst/>
          </a:prstGeom>
          <a:noFill/>
          <a:ln>
            <a:noFill/>
          </a:ln>
        </p:spPr>
        <p:txBody>
          <a:bodyPr spcFirstLastPara="1" wrap="square" lIns="0" tIns="0" rIns="0" bIns="0" anchor="ctr" anchorCtr="0">
            <a:noAutofit/>
          </a:bodyPr>
          <a:lstStyle/>
          <a:p>
            <a:pPr marL="0" marR="0" lvl="0" indent="0" algn="l" rtl="0">
              <a:lnSpc>
                <a:spcPct val="130000"/>
              </a:lnSpc>
              <a:spcBef>
                <a:spcPts val="0"/>
              </a:spcBef>
              <a:spcAft>
                <a:spcPts val="0"/>
              </a:spcAft>
              <a:buNone/>
            </a:pPr>
            <a:r>
              <a:rPr lang="en-US" sz="3200" b="1" i="0" u="none" strike="noStrike" cap="none" dirty="0">
                <a:solidFill>
                  <a:srgbClr val="1E5AA8"/>
                </a:solidFill>
                <a:latin typeface="Quattrocento Sans"/>
                <a:ea typeface="Quattrocento Sans"/>
                <a:cs typeface="Quattrocento Sans"/>
                <a:sym typeface="Quattrocento Sans"/>
              </a:rPr>
              <a:t>Transition from 1G to 2G</a:t>
            </a:r>
            <a:endParaRPr sz="3200" b="0" i="0" u="none" strike="noStrike" cap="none" dirty="0"/>
          </a:p>
        </p:txBody>
      </p:sp>
      <p:sp>
        <p:nvSpPr>
          <p:cNvPr id="139" name="Google Shape;139;p6">
            <a:extLst>
              <a:ext uri="{FF2B5EF4-FFF2-40B4-BE49-F238E27FC236}">
                <a16:creationId xmlns:a16="http://schemas.microsoft.com/office/drawing/2014/main" id="{BE1F791E-4454-8529-254B-1611644B2670}"/>
              </a:ext>
            </a:extLst>
          </p:cNvPr>
          <p:cNvSpPr/>
          <p:nvPr/>
        </p:nvSpPr>
        <p:spPr>
          <a:xfrm>
            <a:off x="762000" y="939800"/>
            <a:ext cx="2286000" cy="38100"/>
          </a:xfrm>
          <a:prstGeom prst="rect">
            <a:avLst/>
          </a:prstGeom>
          <a:solidFill>
            <a:srgbClr val="5A9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6">
            <a:extLst>
              <a:ext uri="{FF2B5EF4-FFF2-40B4-BE49-F238E27FC236}">
                <a16:creationId xmlns:a16="http://schemas.microsoft.com/office/drawing/2014/main" id="{60252D04-D09E-7E04-4AA2-8716AAC7F7D6}"/>
              </a:ext>
            </a:extLst>
          </p:cNvPr>
          <p:cNvSpPr/>
          <p:nvPr/>
        </p:nvSpPr>
        <p:spPr>
          <a:xfrm>
            <a:off x="762000" y="7315200"/>
            <a:ext cx="14732000" cy="1066800"/>
          </a:xfrm>
          <a:prstGeom prst="roundRect">
            <a:avLst>
              <a:gd name="adj" fmla="val 5000"/>
            </a:avLst>
          </a:prstGeom>
          <a:solidFill>
            <a:srgbClr val="F0F4F8"/>
          </a:solidFill>
          <a:ln w="12700" cap="flat" cmpd="sng">
            <a:solidFill>
              <a:srgbClr val="D0D5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6">
            <a:extLst>
              <a:ext uri="{FF2B5EF4-FFF2-40B4-BE49-F238E27FC236}">
                <a16:creationId xmlns:a16="http://schemas.microsoft.com/office/drawing/2014/main" id="{9AF529EB-11C9-DDF6-B0B8-0C84BE58CDCF}"/>
              </a:ext>
            </a:extLst>
          </p:cNvPr>
          <p:cNvSpPr/>
          <p:nvPr/>
        </p:nvSpPr>
        <p:spPr>
          <a:xfrm>
            <a:off x="1079500" y="7531100"/>
            <a:ext cx="355600" cy="355600"/>
          </a:xfrm>
          <a:custGeom>
            <a:avLst/>
            <a:gdLst/>
            <a:ahLst/>
            <a:cxnLst/>
            <a:rect l="l" t="t" r="r" b="b"/>
            <a:pathLst>
              <a:path w="355600" h="355600" extrusionOk="0">
                <a:moveTo>
                  <a:pt x="0" y="150019"/>
                </a:moveTo>
                <a:cubicBezTo>
                  <a:pt x="0" y="103971"/>
                  <a:pt x="42624" y="66675"/>
                  <a:pt x="95250" y="66675"/>
                </a:cubicBezTo>
                <a:lnTo>
                  <a:pt x="101600" y="66675"/>
                </a:lnTo>
                <a:cubicBezTo>
                  <a:pt x="115649" y="66675"/>
                  <a:pt x="127000" y="76607"/>
                  <a:pt x="127000" y="88900"/>
                </a:cubicBezTo>
                <a:cubicBezTo>
                  <a:pt x="127000" y="101193"/>
                  <a:pt x="115649" y="111125"/>
                  <a:pt x="101600" y="111125"/>
                </a:cubicBezTo>
                <a:lnTo>
                  <a:pt x="95250" y="111125"/>
                </a:lnTo>
                <a:cubicBezTo>
                  <a:pt x="70723" y="111125"/>
                  <a:pt x="50800" y="128558"/>
                  <a:pt x="50800" y="150019"/>
                </a:cubicBezTo>
                <a:lnTo>
                  <a:pt x="50800" y="155575"/>
                </a:lnTo>
                <a:lnTo>
                  <a:pt x="101600" y="155575"/>
                </a:lnTo>
                <a:cubicBezTo>
                  <a:pt x="129619" y="155575"/>
                  <a:pt x="152400" y="175508"/>
                  <a:pt x="152400" y="200025"/>
                </a:cubicBezTo>
                <a:lnTo>
                  <a:pt x="152400" y="244475"/>
                </a:lnTo>
                <a:cubicBezTo>
                  <a:pt x="152400" y="268992"/>
                  <a:pt x="129619" y="288925"/>
                  <a:pt x="101600" y="288925"/>
                </a:cubicBezTo>
                <a:lnTo>
                  <a:pt x="50800" y="288925"/>
                </a:lnTo>
                <a:cubicBezTo>
                  <a:pt x="22781" y="288925"/>
                  <a:pt x="0" y="268992"/>
                  <a:pt x="0" y="244475"/>
                </a:cubicBezTo>
                <a:lnTo>
                  <a:pt x="0" y="150019"/>
                </a:lnTo>
                <a:close/>
                <a:moveTo>
                  <a:pt x="203200" y="150019"/>
                </a:moveTo>
                <a:cubicBezTo>
                  <a:pt x="203200" y="103971"/>
                  <a:pt x="245824" y="66675"/>
                  <a:pt x="298450" y="66675"/>
                </a:cubicBezTo>
                <a:lnTo>
                  <a:pt x="304800" y="66675"/>
                </a:lnTo>
                <a:cubicBezTo>
                  <a:pt x="318849" y="66675"/>
                  <a:pt x="330200" y="76607"/>
                  <a:pt x="330200" y="88900"/>
                </a:cubicBezTo>
                <a:cubicBezTo>
                  <a:pt x="330200" y="101193"/>
                  <a:pt x="318849" y="111125"/>
                  <a:pt x="304800" y="111125"/>
                </a:cubicBezTo>
                <a:lnTo>
                  <a:pt x="298450" y="111125"/>
                </a:lnTo>
                <a:cubicBezTo>
                  <a:pt x="273923" y="111125"/>
                  <a:pt x="254000" y="128558"/>
                  <a:pt x="254000" y="150019"/>
                </a:cubicBezTo>
                <a:lnTo>
                  <a:pt x="254000" y="155575"/>
                </a:lnTo>
                <a:lnTo>
                  <a:pt x="304800" y="155575"/>
                </a:lnTo>
                <a:cubicBezTo>
                  <a:pt x="332819" y="155575"/>
                  <a:pt x="355600" y="175508"/>
                  <a:pt x="355600" y="200025"/>
                </a:cubicBezTo>
                <a:lnTo>
                  <a:pt x="355600" y="244475"/>
                </a:lnTo>
                <a:cubicBezTo>
                  <a:pt x="355600" y="268992"/>
                  <a:pt x="332819" y="288925"/>
                  <a:pt x="304800" y="288925"/>
                </a:cubicBezTo>
                <a:lnTo>
                  <a:pt x="254000" y="288925"/>
                </a:lnTo>
                <a:cubicBezTo>
                  <a:pt x="225981" y="288925"/>
                  <a:pt x="203200" y="268992"/>
                  <a:pt x="203200" y="244475"/>
                </a:cubicBezTo>
                <a:lnTo>
                  <a:pt x="203200" y="150019"/>
                </a:lnTo>
                <a:close/>
              </a:path>
            </a:pathLst>
          </a:cu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a:extLst>
              <a:ext uri="{FF2B5EF4-FFF2-40B4-BE49-F238E27FC236}">
                <a16:creationId xmlns:a16="http://schemas.microsoft.com/office/drawing/2014/main" id="{B4635EDC-9193-88E4-990D-58C37D39C69C}"/>
              </a:ext>
            </a:extLst>
          </p:cNvPr>
          <p:cNvSpPr/>
          <p:nvPr/>
        </p:nvSpPr>
        <p:spPr>
          <a:xfrm>
            <a:off x="1587500" y="7391400"/>
            <a:ext cx="13589000" cy="9652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2000" b="0" i="1" u="none" strike="noStrike" cap="none" dirty="0">
                <a:solidFill>
                  <a:srgbClr val="0F3D7A"/>
                </a:solidFill>
                <a:latin typeface="Quattrocento Sans"/>
                <a:ea typeface="Quattrocento Sans"/>
                <a:cs typeface="Quattrocento Sans"/>
                <a:sym typeface="Quattrocento Sans"/>
              </a:rPr>
              <a:t>What new technologies were introduced to build this digital mobile network?</a:t>
            </a:r>
            <a:endParaRPr sz="2000" b="0" i="0" u="none" strike="noStrike" cap="none" dirty="0"/>
          </a:p>
        </p:txBody>
      </p:sp>
      <p:sp>
        <p:nvSpPr>
          <p:cNvPr id="160" name="Google Shape;160;p6">
            <a:extLst>
              <a:ext uri="{FF2B5EF4-FFF2-40B4-BE49-F238E27FC236}">
                <a16:creationId xmlns:a16="http://schemas.microsoft.com/office/drawing/2014/main" id="{EE96C8EB-FC05-2ACA-41BA-E2FBACEFD242}"/>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D679C4C2-35FA-9FA5-7028-44472AD5C9CA}"/>
              </a:ext>
            </a:extLst>
          </p:cNvPr>
          <p:cNvSpPr txBox="1"/>
          <p:nvPr/>
        </p:nvSpPr>
        <p:spPr>
          <a:xfrm>
            <a:off x="762000" y="1155700"/>
            <a:ext cx="9379974" cy="2308324"/>
          </a:xfrm>
          <a:prstGeom prst="rect">
            <a:avLst/>
          </a:prstGeom>
          <a:noFill/>
        </p:spPr>
        <p:txBody>
          <a:bodyPr wrap="square" rtlCol="0">
            <a:spAutoFit/>
          </a:bodyPr>
          <a:lstStyle/>
          <a:p>
            <a:r>
              <a:rPr lang="en-IN" sz="1800" dirty="0"/>
              <a:t>During the late 1980s,</a:t>
            </a:r>
          </a:p>
          <a:p>
            <a:pPr marL="285750" indent="-285750">
              <a:buFont typeface="Arial" panose="020B0604020202020204" pitchFamily="34" charset="0"/>
              <a:buChar char="•"/>
            </a:pPr>
            <a:r>
              <a:rPr lang="en-IN" sz="1800" dirty="0"/>
              <a:t>Mobile phone subscribers increased rapidly. </a:t>
            </a:r>
          </a:p>
          <a:p>
            <a:pPr marL="285750" indent="-285750">
              <a:buFont typeface="Arial" panose="020B0604020202020204" pitchFamily="34" charset="0"/>
              <a:buChar char="•"/>
            </a:pPr>
            <a:r>
              <a:rPr lang="en-IN" sz="1800" dirty="0"/>
              <a:t>Networks required higher capacity. </a:t>
            </a:r>
          </a:p>
          <a:p>
            <a:pPr marL="285750" indent="-285750">
              <a:buFont typeface="Arial" panose="020B0604020202020204" pitchFamily="34" charset="0"/>
              <a:buChar char="•"/>
            </a:pPr>
            <a:r>
              <a:rPr lang="en-IN" sz="1800" dirty="0"/>
              <a:t>Users demanded better voice quality. </a:t>
            </a:r>
          </a:p>
          <a:p>
            <a:pPr marL="285750" indent="-285750">
              <a:buFont typeface="Arial" panose="020B0604020202020204" pitchFamily="34" charset="0"/>
              <a:buChar char="•"/>
            </a:pPr>
            <a:r>
              <a:rPr lang="en-IN" sz="1800" dirty="0"/>
              <a:t>Privacy and security became essential. </a:t>
            </a:r>
          </a:p>
          <a:p>
            <a:pPr marL="285750" indent="-285750">
              <a:buFont typeface="Arial" panose="020B0604020202020204" pitchFamily="34" charset="0"/>
              <a:buChar char="•"/>
            </a:pPr>
            <a:r>
              <a:rPr lang="en-IN" sz="1800" dirty="0"/>
              <a:t>New digital services such as SMS were emerging. </a:t>
            </a:r>
          </a:p>
          <a:p>
            <a:pPr marL="285750" indent="-285750">
              <a:buFont typeface="Arial" panose="020B0604020202020204" pitchFamily="34" charset="0"/>
              <a:buChar char="•"/>
            </a:pPr>
            <a:r>
              <a:rPr lang="en-IN" sz="1800" dirty="0"/>
              <a:t>These requirements could not be satisfied by </a:t>
            </a:r>
            <a:r>
              <a:rPr lang="en-IN" sz="1800" dirty="0" err="1"/>
              <a:t>analog</a:t>
            </a:r>
            <a:r>
              <a:rPr lang="en-IN" sz="1800" dirty="0"/>
              <a:t> 1G networks.</a:t>
            </a:r>
          </a:p>
          <a:p>
            <a:endParaRPr lang="en-IN" sz="1800" dirty="0"/>
          </a:p>
        </p:txBody>
      </p:sp>
      <p:sp>
        <p:nvSpPr>
          <p:cNvPr id="5" name="Google Shape;144;p6">
            <a:extLst>
              <a:ext uri="{FF2B5EF4-FFF2-40B4-BE49-F238E27FC236}">
                <a16:creationId xmlns:a16="http://schemas.microsoft.com/office/drawing/2014/main" id="{350E72D0-CD2E-0CE9-0175-8C9631815BB7}"/>
              </a:ext>
            </a:extLst>
          </p:cNvPr>
          <p:cNvSpPr/>
          <p:nvPr/>
        </p:nvSpPr>
        <p:spPr>
          <a:xfrm>
            <a:off x="1206500" y="6388319"/>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dirty="0">
                <a:solidFill>
                  <a:srgbClr val="FFFFFF"/>
                </a:solidFill>
                <a:latin typeface="Quattrocento Sans"/>
                <a:ea typeface="Quattrocento Sans"/>
                <a:cs typeface="Quattrocento Sans"/>
                <a:sym typeface="Quattrocento Sans"/>
              </a:rPr>
              <a:t>Moe Users</a:t>
            </a:r>
            <a:endParaRPr sz="1600" b="0" i="0" u="none" strike="noStrike" cap="none" dirty="0"/>
          </a:p>
        </p:txBody>
      </p:sp>
      <p:sp>
        <p:nvSpPr>
          <p:cNvPr id="8" name="Google Shape;147;p6">
            <a:extLst>
              <a:ext uri="{FF2B5EF4-FFF2-40B4-BE49-F238E27FC236}">
                <a16:creationId xmlns:a16="http://schemas.microsoft.com/office/drawing/2014/main" id="{81BB1309-926A-808C-7EA6-FE239EA4FB55}"/>
              </a:ext>
            </a:extLst>
          </p:cNvPr>
          <p:cNvSpPr/>
          <p:nvPr/>
        </p:nvSpPr>
        <p:spPr>
          <a:xfrm>
            <a:off x="4127500" y="6388319"/>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a:solidFill>
                  <a:srgbClr val="FFFFFF"/>
                </a:solidFill>
                <a:latin typeface="Quattrocento Sans"/>
                <a:ea typeface="Quattrocento Sans"/>
                <a:cs typeface="Quattrocento Sans"/>
                <a:sym typeface="Quattrocento Sans"/>
              </a:rPr>
              <a:t>Better Spectrum</a:t>
            </a:r>
            <a:endParaRPr sz="1500" b="0" i="0" u="none" strike="noStrike" cap="none"/>
          </a:p>
        </p:txBody>
      </p:sp>
      <p:sp>
        <p:nvSpPr>
          <p:cNvPr id="14" name="Google Shape;153;p6">
            <a:extLst>
              <a:ext uri="{FF2B5EF4-FFF2-40B4-BE49-F238E27FC236}">
                <a16:creationId xmlns:a16="http://schemas.microsoft.com/office/drawing/2014/main" id="{759482D5-9C25-1D37-2E2D-044B9586AE8A}"/>
              </a:ext>
            </a:extLst>
          </p:cNvPr>
          <p:cNvSpPr/>
          <p:nvPr/>
        </p:nvSpPr>
        <p:spPr>
          <a:xfrm>
            <a:off x="9969500" y="6388319"/>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7" name="Google Shape;156;p6">
            <a:extLst>
              <a:ext uri="{FF2B5EF4-FFF2-40B4-BE49-F238E27FC236}">
                <a16:creationId xmlns:a16="http://schemas.microsoft.com/office/drawing/2014/main" id="{E9851F95-615A-4989-2AB6-816840ABEDDD}"/>
              </a:ext>
            </a:extLst>
          </p:cNvPr>
          <p:cNvSpPr/>
          <p:nvPr/>
        </p:nvSpPr>
        <p:spPr>
          <a:xfrm>
            <a:off x="12890500" y="6388319"/>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22" name="TextBox 21">
            <a:extLst>
              <a:ext uri="{FF2B5EF4-FFF2-40B4-BE49-F238E27FC236}">
                <a16:creationId xmlns:a16="http://schemas.microsoft.com/office/drawing/2014/main" id="{D9A14D28-B3C6-E0C0-BD27-CEF0FC202B98}"/>
              </a:ext>
            </a:extLst>
          </p:cNvPr>
          <p:cNvSpPr txBox="1"/>
          <p:nvPr/>
        </p:nvSpPr>
        <p:spPr>
          <a:xfrm>
            <a:off x="762000" y="3253670"/>
            <a:ext cx="7366000" cy="2246769"/>
          </a:xfrm>
          <a:prstGeom prst="rect">
            <a:avLst/>
          </a:prstGeom>
          <a:noFill/>
        </p:spPr>
        <p:txBody>
          <a:bodyPr wrap="square" rtlCol="0">
            <a:spAutoFit/>
          </a:bodyPr>
          <a:lstStyle/>
          <a:p>
            <a:r>
              <a:rPr lang="en-IN" sz="2000" b="1" dirty="0"/>
              <a:t>Therefore,</a:t>
            </a:r>
          </a:p>
          <a:p>
            <a:r>
              <a:rPr lang="en-IN" sz="2000" b="1" i="1" dirty="0"/>
              <a:t>The industry transitioned from Analog Communication to Digital Communication(101010101100101...).</a:t>
            </a:r>
          </a:p>
          <a:p>
            <a:endParaRPr lang="en-IN" sz="2000" i="1" dirty="0"/>
          </a:p>
          <a:p>
            <a:endParaRPr lang="en-IN" sz="2000" dirty="0"/>
          </a:p>
          <a:p>
            <a:r>
              <a:rPr lang="en-IN" sz="2000" dirty="0"/>
              <a:t>Also 2G introduced us to Global System for Mobile Communications(GSM) </a:t>
            </a:r>
          </a:p>
        </p:txBody>
      </p:sp>
      <p:sp>
        <p:nvSpPr>
          <p:cNvPr id="26" name="Google Shape;161;p6">
            <a:extLst>
              <a:ext uri="{FF2B5EF4-FFF2-40B4-BE49-F238E27FC236}">
                <a16:creationId xmlns:a16="http://schemas.microsoft.com/office/drawing/2014/main" id="{421AFB56-5551-B7F5-EAF4-FAEFA8E8E0F6}"/>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Tree>
    <p:extLst>
      <p:ext uri="{BB962C8B-B14F-4D97-AF65-F5344CB8AC3E}">
        <p14:creationId xmlns:p14="http://schemas.microsoft.com/office/powerpoint/2010/main" val="247388280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a:extLst>
            <a:ext uri="{FF2B5EF4-FFF2-40B4-BE49-F238E27FC236}">
              <a16:creationId xmlns:a16="http://schemas.microsoft.com/office/drawing/2014/main" id="{A452DF62-772D-9299-191A-6CDF076A406A}"/>
            </a:ext>
          </a:extLst>
        </p:cNvPr>
        <p:cNvGrpSpPr/>
        <p:nvPr/>
      </p:nvGrpSpPr>
      <p:grpSpPr>
        <a:xfrm>
          <a:off x="0" y="0"/>
          <a:ext cx="0" cy="0"/>
          <a:chOff x="0" y="0"/>
          <a:chExt cx="0" cy="0"/>
        </a:xfrm>
      </p:grpSpPr>
      <p:sp>
        <p:nvSpPr>
          <p:cNvPr id="137" name="Google Shape;137;p6">
            <a:extLst>
              <a:ext uri="{FF2B5EF4-FFF2-40B4-BE49-F238E27FC236}">
                <a16:creationId xmlns:a16="http://schemas.microsoft.com/office/drawing/2014/main" id="{694928E8-7E4E-AEDD-2314-D9DA875FE3B2}"/>
              </a:ext>
            </a:extLst>
          </p:cNvPr>
          <p:cNvSpPr/>
          <p:nvPr/>
        </p:nvSpPr>
        <p:spPr>
          <a:xfrm>
            <a:off x="0" y="0"/>
            <a:ext cx="16256000" cy="50800"/>
          </a:xfrm>
          <a:prstGeom prst="rect">
            <a:avLst/>
          </a:prstGeom>
          <a:solidFill>
            <a:srgbClr val="1E5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6">
            <a:extLst>
              <a:ext uri="{FF2B5EF4-FFF2-40B4-BE49-F238E27FC236}">
                <a16:creationId xmlns:a16="http://schemas.microsoft.com/office/drawing/2014/main" id="{2E20AD4A-9083-49B8-532A-B97769DE6991}"/>
              </a:ext>
            </a:extLst>
          </p:cNvPr>
          <p:cNvSpPr/>
          <p:nvPr/>
        </p:nvSpPr>
        <p:spPr>
          <a:xfrm>
            <a:off x="1206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More Users</a:t>
            </a:r>
            <a:endParaRPr sz="1600" b="0" i="0" u="none" strike="noStrike" cap="none"/>
          </a:p>
        </p:txBody>
      </p:sp>
      <p:sp>
        <p:nvSpPr>
          <p:cNvPr id="147" name="Google Shape;147;p6">
            <a:extLst>
              <a:ext uri="{FF2B5EF4-FFF2-40B4-BE49-F238E27FC236}">
                <a16:creationId xmlns:a16="http://schemas.microsoft.com/office/drawing/2014/main" id="{9CAF6B4C-C30D-2877-768D-5C6AC6F8FFB4}"/>
              </a:ext>
            </a:extLst>
          </p:cNvPr>
          <p:cNvSpPr/>
          <p:nvPr/>
        </p:nvSpPr>
        <p:spPr>
          <a:xfrm>
            <a:off x="4127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500" b="1" i="0" u="none" strike="noStrike" cap="none" dirty="0">
                <a:solidFill>
                  <a:srgbClr val="FFFFFF"/>
                </a:solidFill>
                <a:latin typeface="Quattrocento Sans"/>
                <a:ea typeface="Quattrocento Sans"/>
                <a:cs typeface="Quattrocento Sans"/>
                <a:sym typeface="Quattrocento Sans"/>
              </a:rPr>
              <a:t>Beer Spectrum</a:t>
            </a:r>
            <a:endParaRPr sz="1500" b="0" i="0" u="none" strike="noStrike" cap="none" dirty="0"/>
          </a:p>
        </p:txBody>
      </p:sp>
      <p:sp>
        <p:nvSpPr>
          <p:cNvPr id="150" name="Google Shape;150;p6">
            <a:extLst>
              <a:ext uri="{FF2B5EF4-FFF2-40B4-BE49-F238E27FC236}">
                <a16:creationId xmlns:a16="http://schemas.microsoft.com/office/drawing/2014/main" id="{59604AFE-8A0C-3B06-0D85-BE2459B16675}"/>
              </a:ext>
            </a:extLst>
          </p:cNvPr>
          <p:cNvSpPr/>
          <p:nvPr/>
        </p:nvSpPr>
        <p:spPr>
          <a:xfrm>
            <a:off x="7048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Capacity</a:t>
            </a:r>
            <a:endParaRPr sz="1600" b="0" i="0" u="none" strike="noStrike" cap="none"/>
          </a:p>
        </p:txBody>
      </p:sp>
      <p:sp>
        <p:nvSpPr>
          <p:cNvPr id="153" name="Google Shape;153;p6">
            <a:extLst>
              <a:ext uri="{FF2B5EF4-FFF2-40B4-BE49-F238E27FC236}">
                <a16:creationId xmlns:a16="http://schemas.microsoft.com/office/drawing/2014/main" id="{25EA7F49-C565-AF58-1A25-32D4312398F5}"/>
              </a:ext>
            </a:extLst>
          </p:cNvPr>
          <p:cNvSpPr/>
          <p:nvPr/>
        </p:nvSpPr>
        <p:spPr>
          <a:xfrm>
            <a:off x="9969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600" b="1" i="0" u="none" strike="noStrike" cap="none">
                <a:solidFill>
                  <a:srgbClr val="FFFFFF"/>
                </a:solidFill>
                <a:latin typeface="Quattrocento Sans"/>
                <a:ea typeface="Quattrocento Sans"/>
                <a:cs typeface="Quattrocento Sans"/>
                <a:sym typeface="Quattrocento Sans"/>
              </a:rPr>
              <a:t>Higher Speed</a:t>
            </a:r>
            <a:endParaRPr sz="1600" b="0" i="0" u="none" strike="noStrike" cap="none"/>
          </a:p>
        </p:txBody>
      </p:sp>
      <p:sp>
        <p:nvSpPr>
          <p:cNvPr id="156" name="Google Shape;156;p6">
            <a:extLst>
              <a:ext uri="{FF2B5EF4-FFF2-40B4-BE49-F238E27FC236}">
                <a16:creationId xmlns:a16="http://schemas.microsoft.com/office/drawing/2014/main" id="{BB3CCC38-4EC0-EE7F-6E1F-4DD7EB681FCC}"/>
              </a:ext>
            </a:extLst>
          </p:cNvPr>
          <p:cNvSpPr/>
          <p:nvPr/>
        </p:nvSpPr>
        <p:spPr>
          <a:xfrm>
            <a:off x="12890500" y="6159500"/>
            <a:ext cx="2286000" cy="7112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1400" b="1" i="0" u="none" strike="noStrike" cap="none">
                <a:solidFill>
                  <a:srgbClr val="FFFFFF"/>
                </a:solidFill>
                <a:latin typeface="Quattrocento Sans"/>
                <a:ea typeface="Quattrocento Sans"/>
                <a:cs typeface="Quattrocento Sans"/>
                <a:sym typeface="Quattrocento Sans"/>
              </a:rPr>
              <a:t>Better Experience</a:t>
            </a:r>
            <a:endParaRPr sz="1400" b="0" i="0" u="none" strike="noStrike" cap="none"/>
          </a:p>
        </p:txBody>
      </p:sp>
      <p:sp>
        <p:nvSpPr>
          <p:cNvPr id="160" name="Google Shape;160;p6">
            <a:extLst>
              <a:ext uri="{FF2B5EF4-FFF2-40B4-BE49-F238E27FC236}">
                <a16:creationId xmlns:a16="http://schemas.microsoft.com/office/drawing/2014/main" id="{3C092EDE-3C78-9885-A56E-B708D51C6144}"/>
              </a:ext>
            </a:extLst>
          </p:cNvPr>
          <p:cNvSpPr/>
          <p:nvPr/>
        </p:nvSpPr>
        <p:spPr>
          <a:xfrm>
            <a:off x="762000" y="8610600"/>
            <a:ext cx="14732000" cy="12700"/>
          </a:xfrm>
          <a:prstGeom prst="rect">
            <a:avLst/>
          </a:prstGeom>
          <a:solidFill>
            <a:srgbClr val="D0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61;p6">
            <a:extLst>
              <a:ext uri="{FF2B5EF4-FFF2-40B4-BE49-F238E27FC236}">
                <a16:creationId xmlns:a16="http://schemas.microsoft.com/office/drawing/2014/main" id="{B0005668-B7B6-1052-A647-56ECB25E265B}"/>
              </a:ext>
            </a:extLst>
          </p:cNvPr>
          <p:cNvSpPr/>
          <p:nvPr/>
        </p:nvSpPr>
        <p:spPr>
          <a:xfrm>
            <a:off x="762000" y="8699500"/>
            <a:ext cx="3175000" cy="3048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1400" b="0" i="0" u="none" strike="noStrike" cap="none" dirty="0">
                <a:solidFill>
                  <a:srgbClr val="6B7280"/>
                </a:solidFill>
                <a:latin typeface="Quattrocento Sans"/>
                <a:ea typeface="Quattrocento Sans"/>
                <a:cs typeface="Quattrocento Sans"/>
                <a:sym typeface="Quattrocento Sans"/>
              </a:rPr>
              <a:t>Part I</a:t>
            </a:r>
            <a:endParaRPr sz="1400" b="0" i="0" u="none" strike="noStrike" cap="none" dirty="0"/>
          </a:p>
        </p:txBody>
      </p:sp>
      <p:sp>
        <p:nvSpPr>
          <p:cNvPr id="4" name="Rectangle 3">
            <a:extLst>
              <a:ext uri="{FF2B5EF4-FFF2-40B4-BE49-F238E27FC236}">
                <a16:creationId xmlns:a16="http://schemas.microsoft.com/office/drawing/2014/main" id="{CB3D1495-73A1-1DE8-42F2-4DBE7B7FDE0C}"/>
              </a:ext>
            </a:extLst>
          </p:cNvPr>
          <p:cNvSpPr/>
          <p:nvPr/>
        </p:nvSpPr>
        <p:spPr>
          <a:xfrm>
            <a:off x="5774132" y="2984500"/>
            <a:ext cx="4416594" cy="1754326"/>
          </a:xfrm>
          <a:prstGeom prst="rect">
            <a:avLst/>
          </a:prstGeom>
          <a:noFill/>
        </p:spPr>
        <p:txBody>
          <a:bodyPr wrap="none" lIns="91440" tIns="45720" rIns="91440" bIns="45720">
            <a:spAutoFit/>
          </a:bodyPr>
          <a:lstStyle/>
          <a:p>
            <a:pPr algn="ctr"/>
            <a:r>
              <a:rPr lang="en-GB"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a:p>
            <a:pPr algn="ctr"/>
            <a:endParaRPr lang="en-GB"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5" name="Rectangle 4">
            <a:extLst>
              <a:ext uri="{FF2B5EF4-FFF2-40B4-BE49-F238E27FC236}">
                <a16:creationId xmlns:a16="http://schemas.microsoft.com/office/drawing/2014/main" id="{EA1FC9C2-FA43-D9C6-7F47-816940B46985}"/>
              </a:ext>
            </a:extLst>
          </p:cNvPr>
          <p:cNvSpPr/>
          <p:nvPr/>
        </p:nvSpPr>
        <p:spPr>
          <a:xfrm>
            <a:off x="5444593" y="3957935"/>
            <a:ext cx="5493813" cy="923330"/>
          </a:xfrm>
          <a:prstGeom prst="rect">
            <a:avLst/>
          </a:prstGeom>
          <a:noFill/>
        </p:spPr>
        <p:txBody>
          <a:bodyPr wrap="none" lIns="91440" tIns="45720" rIns="91440" bIns="45720">
            <a:spAutoFit/>
          </a:bodyPr>
          <a:lstStyle/>
          <a:p>
            <a:pPr algn="ctr"/>
            <a:r>
              <a:rPr lang="en-GB"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Any Questions?</a:t>
            </a:r>
            <a:endParaRPr lang="en-GB"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1455912922"/>
      </p:ext>
    </p:extLst>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8155</Words>
  <Application>Microsoft Office PowerPoint</Application>
  <PresentationFormat>Custom</PresentationFormat>
  <Paragraphs>235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vt:lpstr>
      <vt:lpstr>Quattrocento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ISEA(1)</cp:lastModifiedBy>
  <cp:revision>6</cp:revision>
  <dcterms:modified xsi:type="dcterms:W3CDTF">2026-06-30T10:30:05Z</dcterms:modified>
</cp:coreProperties>
</file>