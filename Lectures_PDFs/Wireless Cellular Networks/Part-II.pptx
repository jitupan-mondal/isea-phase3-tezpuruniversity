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7" r:id="rId2"/>
    <p:sldId id="283" r:id="rId3"/>
    <p:sldId id="266" r:id="rId4"/>
    <p:sldId id="267" r:id="rId5"/>
    <p:sldId id="270" r:id="rId6"/>
    <p:sldId id="268" r:id="rId7"/>
    <p:sldId id="269" r:id="rId8"/>
    <p:sldId id="274" r:id="rId9"/>
    <p:sldId id="275" r:id="rId10"/>
    <p:sldId id="276" r:id="rId11"/>
    <p:sldId id="277" r:id="rId12"/>
    <p:sldId id="278" r:id="rId13"/>
    <p:sldId id="271" r:id="rId14"/>
    <p:sldId id="280" r:id="rId15"/>
    <p:sldId id="282" r:id="rId16"/>
    <p:sldId id="279" r:id="rId17"/>
    <p:sldId id="284" r:id="rId18"/>
    <p:sldId id="285"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01638-0206-4304-8ACF-552EBE8FC124}" type="datetimeFigureOut">
              <a:rPr lang="en-IN" smtClean="0"/>
              <a:t>06-07-2026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B49C97-89A7-4722-A7C0-7A88A442BEEB}" type="slidenum">
              <a:rPr lang="en-IN" smtClean="0"/>
              <a:t>‹#›</a:t>
            </a:fld>
            <a:endParaRPr lang="en-IN"/>
          </a:p>
        </p:txBody>
      </p:sp>
    </p:spTree>
    <p:extLst>
      <p:ext uri="{BB962C8B-B14F-4D97-AF65-F5344CB8AC3E}">
        <p14:creationId xmlns:p14="http://schemas.microsoft.com/office/powerpoint/2010/main" val="542117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Welcome to this presentation on the Evolution of Cellular Networks. In this introductory session, we will explore why cellular communication was invented, what problems it solves, and what driving forces have shaped its evolution from the first generation to the intelligent 5G networks we see today.</a:t>
            </a:r>
            <a:br>
              <a:rPr lang="en-US" dirty="0"/>
            </a:br>
            <a:br>
              <a:rPr lang="en-US" dirty="0"/>
            </a:br>
            <a:r>
              <a:rPr lang="en-US" dirty="0"/>
              <a:t>Before cellular networks, communication was entirely tethered. People used wired telephones that required a physical connection to a landline. This meant you could only make or receive calls from specific locations, typically your home or office. The concept of mobility in communication was virtually nonexistent.</a:t>
            </a:r>
            <a:br>
              <a:rPr lang="en-US" dirty="0"/>
            </a:br>
            <a:br>
              <a:rPr lang="en-US" dirty="0"/>
            </a:br>
            <a:r>
              <a:rPr lang="en-US" dirty="0"/>
              <a:t>The fundamental breakthrough of cellular technology was the idea of dividing geographic areas into "cells," each served by a base station or cell tower. This cellular concept, first proposed by Bell Labs engineers in the 1940s and implemented in the 1980s, allowed frequency reuse and made large-scale mobile telephony economically viable.</a:t>
            </a:r>
            <a:br>
              <a:rPr lang="en-US" dirty="0"/>
            </a:br>
            <a:br>
              <a:rPr lang="en-US" dirty="0"/>
            </a:br>
            <a:r>
              <a:rPr lang="en-US" dirty="0"/>
              <a:t>As we trace the timeline from 1G in the 1980s through to 5G today, notice that each generation was not merely a speed upgrade. Each generation responded to fundamentally new demands: 1G solved basic mobile voice, 2G added digital clarity and texting, 3G brought the internet to our pockets, 4G enabled mobile broadband and streaming, and 5G is designed for an entirely new era of intelligent connected devices, from autonomous vehicles to smart cities.</a:t>
            </a:r>
            <a:br>
              <a:rPr lang="en-US" dirty="0"/>
            </a:br>
            <a:br>
              <a:rPr lang="en-US" dirty="0"/>
            </a:br>
            <a:r>
              <a:rPr lang="en-US" dirty="0"/>
              <a:t>By the end of Part I, you should understand the key motivations behind cellular network evolution and appreciate how user demands and technological capabilities have always advanced together.</a:t>
            </a:r>
            <a:br>
              <a:rPr lang="en-US" dirty="0"/>
            </a:br>
            <a:endParaRPr dirty="0"/>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A47E5740-3900-E566-D833-6E871E0B49A5}"/>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923D79DA-696B-1FB7-BB30-AD9BD384CB4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202BA479-B288-40AC-9F67-F1649357C9F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BF73E553-2808-C5A8-34AF-5ED8B4A6515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469692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28948105-16C6-0F1C-E705-03E83840CDE8}"/>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23E99C4C-9A66-1D9F-9086-B05439D23C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4B592893-A8B8-0C91-C622-2AF81E2D25A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A6C15897-FA10-F4E8-022C-3B6E1DC3E29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759792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47E923F3-A0F7-7E8A-4092-331239AE57C4}"/>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7CD1C24C-1A63-7132-8530-19AE1AE7FB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22C719A8-1279-83CC-E730-027C1F06C37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10926BD2-B60E-D250-CD5C-C9EA43B9FF0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22372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754E180A-A484-5572-E5CB-E86A64D2588C}"/>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E327E9F6-594E-6336-EA4A-0325E0B5474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16C00D2B-5CA8-470D-4892-4527317B5BC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C5247BB9-61F8-13B7-BB47-7532556AFF2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899507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65EFF172-2907-EE17-45F9-47A7869C3C12}"/>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FBB4DB95-BF9F-3481-7FB9-563E13691A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90962740-C041-0637-CA23-407E009BDEC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6A89A632-7BCF-4F75-B695-C8C75845526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38301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C2A03A26-F418-9C60-10EE-3723E7E6AFB2}"/>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91322CD5-529A-DE61-CD5E-A474334C92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982E8F05-50C1-E883-5676-739149574A6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0A863A71-5DEB-78B7-42EE-8A5B60601E6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8141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4681727F-A123-2058-D658-27633FDFC3BE}"/>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3527AD0B-2A5E-9A65-4CFD-966658EEFB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78719944-B6E9-182E-BFB6-1286177DD88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7A41AE66-3DF5-D1EF-E920-02F8EC0D196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1142633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E6FE13B7-CCCE-DC78-5D76-BB1162194D8A}"/>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0E4FB692-D006-2ADC-467F-6E35E88622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6944CF38-39CD-EE1A-5927-E4D1AD2B1ED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37CB9FAE-213F-3C8B-737E-AE73B72A4BB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883611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2F3486E1-9DFD-2A03-F6DE-1853A2E3ACEF}"/>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89B8A5EB-6B44-43EF-2DB5-EC831FA0FF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2BD91B39-4026-0E4A-5759-981D5ED93DD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E2B9A533-63F9-590B-3616-A1E15262E35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806532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89C771DC-155A-9AFE-A50F-5DF3D7EB0CB6}"/>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36FEDF04-AAA9-E9A5-1729-081CFE5BF9B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9D454580-B29D-0F09-922A-81626A73ACD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0AAC9D54-69D2-C05D-84E2-31A4496298B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928593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D20CC50A-1C31-0588-FF59-1F2C99BC6B2B}"/>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3BC141C1-C4E4-F7FC-30C7-6A213D58199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4739D098-177C-E6B4-E1A7-AA1D508E3A2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79813F1E-23D3-AC94-8212-491EF653BC2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8380228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37F65A2A-3639-B1C2-706C-E70207C09BFF}"/>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5CF086AE-8760-2B62-77A5-A7EA9D70D8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FF4DD149-0A0D-FF1A-BD8D-1C1E043CA5B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24767511-6274-BE53-0515-E8B41CA05F5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1575255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3BD77D95-276A-F08D-7062-CF9D80B9D6C6}"/>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7D55A0AD-61FB-3A46-2F30-3029E2E2CF4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941D3AA7-1638-64F0-A202-2CC65E9AAF1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534A0FF5-FFA8-6327-143A-3DA9ED49609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7223277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5BA32B45-EDDC-A13D-5B2E-4AB704D66BF8}"/>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90F83996-9C34-19EF-BD57-C6C11011656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F35097A8-09FB-7831-6C1F-69157FD927C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9535AC82-CAC9-7D9B-9D29-4A354E2C1ED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3542076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E157DD25-2000-CCF2-9929-6C38C1764247}"/>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31C05421-389E-B782-371E-ABA7906693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B1D09B95-CA26-70FC-169B-A869ED8E478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A8D0AB41-918B-8D12-CE41-FFAB3EAA3DB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610315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2F64A9D4-E646-96B7-9831-56B997C45E58}"/>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E14E067C-6C60-EDDC-06C6-DE4E0E7358B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AFF09B25-3029-3AA4-36A5-1577A4992A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3EA8C38C-6A7F-3ADF-DE22-9F2EB785509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0148929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FE8C9FFA-F400-3376-A629-0A9494DAB684}"/>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2427ABE7-DB88-982F-067C-93D6278DFEB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70A6BBB8-B8DC-C40B-4574-8761626C89F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AC7B709F-FE26-8608-CB25-5D0BE116D8C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4296413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9231B154-5A66-B757-A11D-EAF4B215F7C3}"/>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5E8535FD-0F7D-01D7-148F-8F6D4A4227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690B7415-7111-9795-2448-E7EDEDC581E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58A8BE7C-53C8-AA74-6F6C-DEC1DB1012E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888199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108573425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extLst>
      <p:ext uri="{BB962C8B-B14F-4D97-AF65-F5344CB8AC3E}">
        <p14:creationId xmlns:p14="http://schemas.microsoft.com/office/powerpoint/2010/main" val="661758646"/>
      </p:ext>
    </p:extLst>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
        <p:cNvGrpSpPr/>
        <p:nvPr/>
      </p:nvGrpSpPr>
      <p:grpSpPr>
        <a:xfrm>
          <a:off x="0" y="0"/>
          <a:ext cx="0" cy="0"/>
          <a:chOff x="0" y="0"/>
          <a:chExt cx="0" cy="0"/>
        </a:xfrm>
      </p:grpSpPr>
      <p:pic>
        <p:nvPicPr>
          <p:cNvPr id="16" name="Google Shape;16;p3" descr="https://kimi-img.moonshot.cn/pub/slides/okc/4mrj7o5krcsqw/mnt/agents/output/cellular_networks/images/3_Cell_Tower_Antennas_Types_and_Role.png"/>
          <p:cNvPicPr preferRelativeResize="0"/>
          <p:nvPr/>
        </p:nvPicPr>
        <p:blipFill rotWithShape="1">
          <a:blip r:embed="rId3">
            <a:alphaModFix/>
          </a:blip>
          <a:srcRect t="7833" b="7833"/>
          <a:stretch/>
        </p:blipFill>
        <p:spPr>
          <a:xfrm>
            <a:off x="0" y="0"/>
            <a:ext cx="12192000" cy="6858000"/>
          </a:xfrm>
          <a:prstGeom prst="rect">
            <a:avLst/>
          </a:prstGeom>
          <a:noFill/>
          <a:ln>
            <a:noFill/>
          </a:ln>
        </p:spPr>
      </p:pic>
      <p:sp>
        <p:nvSpPr>
          <p:cNvPr id="17" name="Google Shape;17;p3"/>
          <p:cNvSpPr/>
          <p:nvPr/>
        </p:nvSpPr>
        <p:spPr>
          <a:xfrm>
            <a:off x="0" y="38645"/>
            <a:ext cx="12192075" cy="6858000"/>
          </a:xfrm>
          <a:prstGeom prst="rect">
            <a:avLst/>
          </a:prstGeom>
          <a:gradFill>
            <a:gsLst>
              <a:gs pos="0">
                <a:srgbClr val="0F3D7A">
                  <a:alpha val="40000"/>
                </a:srgbClr>
              </a:gs>
              <a:gs pos="35000">
                <a:srgbClr val="0F3D7A">
                  <a:alpha val="80000"/>
                </a:srgbClr>
              </a:gs>
              <a:gs pos="70000">
                <a:srgbClr val="0F3D7A">
                  <a:alpha val="90196"/>
                </a:srgbClr>
              </a:gs>
              <a:gs pos="100000">
                <a:srgbClr val="0F3D7A">
                  <a:alpha val="94901"/>
                </a:srgbClr>
              </a:gs>
            </a:gsLst>
            <a:lin ang="5400000" scaled="0"/>
          </a:gradFill>
          <a:ln w="12700" cap="flat" cmpd="sng">
            <a:solidFill>
              <a:srgbClr val="FFFFFF">
                <a:alpha val="0"/>
              </a:srgbClr>
            </a:solidFill>
            <a:prstDash val="solid"/>
            <a:round/>
            <a:headEnd type="none" w="sm" len="sm"/>
            <a:tailEnd type="none" w="sm" len="sm"/>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8" name="Google Shape;18;p3"/>
          <p:cNvSpPr/>
          <p:nvPr/>
        </p:nvSpPr>
        <p:spPr>
          <a:xfrm>
            <a:off x="0" y="0"/>
            <a:ext cx="12192000" cy="38100"/>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9" name="Google Shape;19;p3"/>
          <p:cNvSpPr/>
          <p:nvPr/>
        </p:nvSpPr>
        <p:spPr>
          <a:xfrm>
            <a:off x="1333500" y="1143000"/>
            <a:ext cx="9525000" cy="123825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3600" b="1" kern="0" dirty="0">
                <a:solidFill>
                  <a:srgbClr val="FFFFFF"/>
                </a:solidFill>
                <a:latin typeface="Quattrocento Sans"/>
                <a:ea typeface="Quattrocento Sans"/>
                <a:cs typeface="Quattrocento Sans"/>
                <a:sym typeface="Quattrocento Sans"/>
              </a:rPr>
              <a:t>Part- II</a:t>
            </a:r>
          </a:p>
          <a:p>
            <a:pPr algn="ctr" defTabSz="685800">
              <a:lnSpc>
                <a:spcPct val="120000"/>
              </a:lnSpc>
              <a:buClr>
                <a:srgbClr val="000000"/>
              </a:buClr>
            </a:pPr>
            <a:r>
              <a:rPr lang="en-US" sz="3600" b="1" kern="0" dirty="0">
                <a:solidFill>
                  <a:srgbClr val="FFFFFF"/>
                </a:solidFill>
                <a:latin typeface="Quattrocento Sans"/>
                <a:ea typeface="Quattrocento Sans"/>
                <a:cs typeface="Quattrocento Sans"/>
                <a:sym typeface="Quattrocento Sans"/>
              </a:rPr>
              <a:t>Introduction to Wireless Cellular Networks</a:t>
            </a:r>
            <a:endParaRPr sz="3600" kern="0" dirty="0">
              <a:solidFill>
                <a:srgbClr val="000000"/>
              </a:solidFill>
              <a:latin typeface="Arial"/>
              <a:cs typeface="Arial"/>
              <a:sym typeface="Arial"/>
            </a:endParaRPr>
          </a:p>
        </p:txBody>
      </p:sp>
      <p:sp>
        <p:nvSpPr>
          <p:cNvPr id="20" name="Google Shape;20;p3"/>
          <p:cNvSpPr/>
          <p:nvPr/>
        </p:nvSpPr>
        <p:spPr>
          <a:xfrm>
            <a:off x="2286000" y="2476500"/>
            <a:ext cx="7620000" cy="428625"/>
          </a:xfrm>
          <a:prstGeom prst="rect">
            <a:avLst/>
          </a:prstGeom>
          <a:noFill/>
          <a:ln>
            <a:noFill/>
          </a:ln>
        </p:spPr>
        <p:txBody>
          <a:bodyPr spcFirstLastPara="1" wrap="square" lIns="0" tIns="0" rIns="0" bIns="0" anchor="ctr" anchorCtr="0">
            <a:noAutofit/>
          </a:bodyPr>
          <a:lstStyle/>
          <a:p>
            <a:pPr algn="ctr" defTabSz="685800">
              <a:lnSpc>
                <a:spcPct val="140000"/>
              </a:lnSpc>
              <a:buClr>
                <a:srgbClr val="000000"/>
              </a:buClr>
            </a:pPr>
            <a:r>
              <a:rPr lang="en-US" sz="1650" kern="0" dirty="0">
                <a:solidFill>
                  <a:srgbClr val="FFFFFF"/>
                </a:solidFill>
                <a:latin typeface="Quattrocento Sans"/>
                <a:ea typeface="Quattrocento Sans"/>
                <a:cs typeface="Quattrocento Sans"/>
                <a:sym typeface="Quattrocento Sans"/>
              </a:rPr>
              <a:t>From Analog Voice to Intelligent 5G Networks</a:t>
            </a:r>
            <a:endParaRPr sz="1650" kern="0" dirty="0">
              <a:solidFill>
                <a:srgbClr val="000000"/>
              </a:solidFill>
              <a:latin typeface="Arial"/>
              <a:cs typeface="Arial"/>
              <a:sym typeface="Arial"/>
            </a:endParaRPr>
          </a:p>
        </p:txBody>
      </p:sp>
      <p:sp>
        <p:nvSpPr>
          <p:cNvPr id="21" name="Google Shape;21;p3"/>
          <p:cNvSpPr/>
          <p:nvPr/>
        </p:nvSpPr>
        <p:spPr>
          <a:xfrm>
            <a:off x="4667250" y="3095625"/>
            <a:ext cx="2857500" cy="28575"/>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22" name="Google Shape;22;p3"/>
          <p:cNvSpPr/>
          <p:nvPr/>
        </p:nvSpPr>
        <p:spPr>
          <a:xfrm>
            <a:off x="1447800" y="4000500"/>
            <a:ext cx="342900" cy="342900"/>
          </a:xfrm>
          <a:custGeom>
            <a:avLst/>
            <a:gdLst/>
            <a:ahLst/>
            <a:cxnLst/>
            <a:rect l="l" t="t" r="r" b="b"/>
            <a:pathLst>
              <a:path w="457200" h="457200" extrusionOk="0">
                <a:moveTo>
                  <a:pt x="47308" y="8751"/>
                </a:moveTo>
                <a:cubicBezTo>
                  <a:pt x="37544" y="4286"/>
                  <a:pt x="26432" y="9555"/>
                  <a:pt x="22543" y="20538"/>
                </a:cubicBezTo>
                <a:cubicBezTo>
                  <a:pt x="12065" y="49560"/>
                  <a:pt x="6350" y="81171"/>
                  <a:pt x="6350" y="114300"/>
                </a:cubicBezTo>
                <a:cubicBezTo>
                  <a:pt x="6350" y="147429"/>
                  <a:pt x="12065" y="179040"/>
                  <a:pt x="22543" y="208062"/>
                </a:cubicBezTo>
                <a:cubicBezTo>
                  <a:pt x="26511" y="219045"/>
                  <a:pt x="37624" y="224314"/>
                  <a:pt x="47387" y="219849"/>
                </a:cubicBezTo>
                <a:cubicBezTo>
                  <a:pt x="57150" y="215384"/>
                  <a:pt x="61833" y="202883"/>
                  <a:pt x="57864" y="191899"/>
                </a:cubicBezTo>
                <a:cubicBezTo>
                  <a:pt x="49213" y="168057"/>
                  <a:pt x="44450" y="141803"/>
                  <a:pt x="44450" y="114300"/>
                </a:cubicBezTo>
                <a:cubicBezTo>
                  <a:pt x="44450" y="86797"/>
                  <a:pt x="49213" y="60543"/>
                  <a:pt x="57864" y="36612"/>
                </a:cubicBezTo>
                <a:cubicBezTo>
                  <a:pt x="61833" y="25628"/>
                  <a:pt x="57071" y="13127"/>
                  <a:pt x="47387" y="8662"/>
                </a:cubicBezTo>
                <a:close/>
                <a:moveTo>
                  <a:pt x="409892" y="8751"/>
                </a:moveTo>
                <a:cubicBezTo>
                  <a:pt x="400129" y="13216"/>
                  <a:pt x="395446" y="25718"/>
                  <a:pt x="399415" y="36701"/>
                </a:cubicBezTo>
                <a:cubicBezTo>
                  <a:pt x="408067" y="60633"/>
                  <a:pt x="412829" y="86886"/>
                  <a:pt x="412829" y="114389"/>
                </a:cubicBezTo>
                <a:cubicBezTo>
                  <a:pt x="412829" y="141893"/>
                  <a:pt x="408067" y="168146"/>
                  <a:pt x="399415" y="192078"/>
                </a:cubicBezTo>
                <a:cubicBezTo>
                  <a:pt x="395446" y="203061"/>
                  <a:pt x="400209" y="215563"/>
                  <a:pt x="409893" y="220028"/>
                </a:cubicBezTo>
                <a:cubicBezTo>
                  <a:pt x="419576" y="224492"/>
                  <a:pt x="430768" y="219135"/>
                  <a:pt x="434737" y="208240"/>
                </a:cubicBezTo>
                <a:cubicBezTo>
                  <a:pt x="445135" y="179219"/>
                  <a:pt x="450929" y="147608"/>
                  <a:pt x="450929" y="114479"/>
                </a:cubicBezTo>
                <a:cubicBezTo>
                  <a:pt x="450929" y="81349"/>
                  <a:pt x="445214" y="49738"/>
                  <a:pt x="434737" y="20717"/>
                </a:cubicBezTo>
                <a:cubicBezTo>
                  <a:pt x="430768" y="9733"/>
                  <a:pt x="419656" y="4465"/>
                  <a:pt x="409893" y="8930"/>
                </a:cubicBezTo>
                <a:close/>
                <a:moveTo>
                  <a:pt x="269954" y="147518"/>
                </a:moveTo>
                <a:cubicBezTo>
                  <a:pt x="275908" y="138142"/>
                  <a:pt x="279400" y="126712"/>
                  <a:pt x="279400" y="114300"/>
                </a:cubicBezTo>
                <a:cubicBezTo>
                  <a:pt x="279400" y="82778"/>
                  <a:pt x="256619" y="57150"/>
                  <a:pt x="228600" y="57150"/>
                </a:cubicBezTo>
                <a:cubicBezTo>
                  <a:pt x="200581" y="57150"/>
                  <a:pt x="177800" y="82778"/>
                  <a:pt x="177800" y="114300"/>
                </a:cubicBezTo>
                <a:cubicBezTo>
                  <a:pt x="177800" y="126712"/>
                  <a:pt x="181293" y="138142"/>
                  <a:pt x="187246" y="147518"/>
                </a:cubicBezTo>
                <a:lnTo>
                  <a:pt x="78502" y="416838"/>
                </a:lnTo>
                <a:cubicBezTo>
                  <a:pt x="72708" y="431215"/>
                  <a:pt x="78343" y="448181"/>
                  <a:pt x="91123" y="454700"/>
                </a:cubicBezTo>
                <a:cubicBezTo>
                  <a:pt x="103902" y="461218"/>
                  <a:pt x="118983" y="454878"/>
                  <a:pt x="124778" y="440501"/>
                </a:cubicBezTo>
                <a:lnTo>
                  <a:pt x="141129" y="400139"/>
                </a:lnTo>
                <a:lnTo>
                  <a:pt x="316230" y="400139"/>
                </a:lnTo>
                <a:lnTo>
                  <a:pt x="332581" y="440501"/>
                </a:lnTo>
                <a:cubicBezTo>
                  <a:pt x="338376" y="454878"/>
                  <a:pt x="353457" y="461218"/>
                  <a:pt x="366236" y="454700"/>
                </a:cubicBezTo>
                <a:cubicBezTo>
                  <a:pt x="379016" y="448181"/>
                  <a:pt x="384651" y="431215"/>
                  <a:pt x="378857" y="416838"/>
                </a:cubicBezTo>
                <a:lnTo>
                  <a:pt x="269954" y="147518"/>
                </a:lnTo>
                <a:close/>
                <a:moveTo>
                  <a:pt x="298847" y="357188"/>
                </a:moveTo>
                <a:lnTo>
                  <a:pt x="158353" y="357188"/>
                </a:lnTo>
                <a:lnTo>
                  <a:pt x="175657" y="314325"/>
                </a:lnTo>
                <a:lnTo>
                  <a:pt x="281464" y="314325"/>
                </a:lnTo>
                <a:lnTo>
                  <a:pt x="298768" y="357188"/>
                </a:lnTo>
                <a:close/>
                <a:moveTo>
                  <a:pt x="228600" y="183326"/>
                </a:moveTo>
                <a:lnTo>
                  <a:pt x="264160" y="271463"/>
                </a:lnTo>
                <a:lnTo>
                  <a:pt x="192961" y="271463"/>
                </a:lnTo>
                <a:lnTo>
                  <a:pt x="228521" y="183326"/>
                </a:lnTo>
                <a:close/>
                <a:moveTo>
                  <a:pt x="129619" y="65723"/>
                </a:moveTo>
                <a:cubicBezTo>
                  <a:pt x="133826" y="54918"/>
                  <a:pt x="129461" y="42237"/>
                  <a:pt x="119777" y="37505"/>
                </a:cubicBezTo>
                <a:cubicBezTo>
                  <a:pt x="110093" y="32772"/>
                  <a:pt x="98901" y="37683"/>
                  <a:pt x="94694" y="48577"/>
                </a:cubicBezTo>
                <a:cubicBezTo>
                  <a:pt x="86916" y="68759"/>
                  <a:pt x="82550" y="90994"/>
                  <a:pt x="82550" y="114300"/>
                </a:cubicBezTo>
                <a:cubicBezTo>
                  <a:pt x="82550" y="137606"/>
                  <a:pt x="86916" y="159841"/>
                  <a:pt x="94694" y="180023"/>
                </a:cubicBezTo>
                <a:cubicBezTo>
                  <a:pt x="98901" y="190827"/>
                  <a:pt x="110173" y="195828"/>
                  <a:pt x="119777" y="191095"/>
                </a:cubicBezTo>
                <a:cubicBezTo>
                  <a:pt x="129381" y="186363"/>
                  <a:pt x="133826" y="173682"/>
                  <a:pt x="129619" y="162877"/>
                </a:cubicBezTo>
                <a:cubicBezTo>
                  <a:pt x="123825" y="148054"/>
                  <a:pt x="120650" y="131624"/>
                  <a:pt x="120650" y="114300"/>
                </a:cubicBezTo>
                <a:cubicBezTo>
                  <a:pt x="120650" y="96976"/>
                  <a:pt x="123825" y="80546"/>
                  <a:pt x="129619" y="65723"/>
                </a:cubicBezTo>
                <a:close/>
                <a:moveTo>
                  <a:pt x="362506" y="48578"/>
                </a:moveTo>
                <a:cubicBezTo>
                  <a:pt x="358299" y="37773"/>
                  <a:pt x="347028" y="32772"/>
                  <a:pt x="337423" y="37505"/>
                </a:cubicBezTo>
                <a:cubicBezTo>
                  <a:pt x="327819" y="42237"/>
                  <a:pt x="323374" y="54918"/>
                  <a:pt x="327581" y="65723"/>
                </a:cubicBezTo>
                <a:cubicBezTo>
                  <a:pt x="333375" y="80546"/>
                  <a:pt x="336550" y="96976"/>
                  <a:pt x="336550" y="114300"/>
                </a:cubicBezTo>
                <a:cubicBezTo>
                  <a:pt x="336550" y="131624"/>
                  <a:pt x="333375" y="148054"/>
                  <a:pt x="327581" y="162877"/>
                </a:cubicBezTo>
                <a:cubicBezTo>
                  <a:pt x="323374" y="173682"/>
                  <a:pt x="327739" y="186363"/>
                  <a:pt x="337423" y="191095"/>
                </a:cubicBezTo>
                <a:cubicBezTo>
                  <a:pt x="347107" y="195828"/>
                  <a:pt x="358299" y="190917"/>
                  <a:pt x="362506" y="180023"/>
                </a:cubicBezTo>
                <a:cubicBezTo>
                  <a:pt x="370284" y="159841"/>
                  <a:pt x="374650" y="137606"/>
                  <a:pt x="374650" y="114300"/>
                </a:cubicBezTo>
                <a:cubicBezTo>
                  <a:pt x="374650" y="90994"/>
                  <a:pt x="370284" y="68759"/>
                  <a:pt x="362506" y="48578"/>
                </a:cubicBezTo>
                <a:close/>
              </a:path>
            </a:pathLst>
          </a:custGeom>
          <a:solidFill>
            <a:srgbClr val="FFFFFF"/>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23" name="Google Shape;23;p3"/>
          <p:cNvSpPr/>
          <p:nvPr/>
        </p:nvSpPr>
        <p:spPr>
          <a:xfrm>
            <a:off x="3543300" y="3905250"/>
            <a:ext cx="342900" cy="342900"/>
          </a:xfrm>
          <a:custGeom>
            <a:avLst/>
            <a:gdLst/>
            <a:ahLst/>
            <a:cxnLst/>
            <a:rect l="l" t="t" r="r" b="b"/>
            <a:pathLst>
              <a:path w="457200" h="457200" extrusionOk="0">
                <a:moveTo>
                  <a:pt x="19050" y="57150"/>
                </a:moveTo>
                <a:cubicBezTo>
                  <a:pt x="19050" y="25628"/>
                  <a:pt x="53221" y="0"/>
                  <a:pt x="95250" y="0"/>
                </a:cubicBezTo>
                <a:lnTo>
                  <a:pt x="361950" y="0"/>
                </a:lnTo>
                <a:cubicBezTo>
                  <a:pt x="403979" y="0"/>
                  <a:pt x="438150" y="25628"/>
                  <a:pt x="438150" y="57150"/>
                </a:cubicBezTo>
                <a:lnTo>
                  <a:pt x="438150" y="400050"/>
                </a:lnTo>
                <a:cubicBezTo>
                  <a:pt x="438150" y="431572"/>
                  <a:pt x="403979" y="457200"/>
                  <a:pt x="361950" y="457200"/>
                </a:cubicBezTo>
                <a:lnTo>
                  <a:pt x="95250" y="457200"/>
                </a:lnTo>
                <a:cubicBezTo>
                  <a:pt x="53221" y="457200"/>
                  <a:pt x="19050" y="431572"/>
                  <a:pt x="19050" y="400050"/>
                </a:cubicBezTo>
                <a:lnTo>
                  <a:pt x="19050" y="57150"/>
                </a:lnTo>
                <a:close/>
                <a:moveTo>
                  <a:pt x="95250" y="57150"/>
                </a:moveTo>
                <a:lnTo>
                  <a:pt x="95250" y="328613"/>
                </a:lnTo>
                <a:lnTo>
                  <a:pt x="361950" y="328613"/>
                </a:lnTo>
                <a:lnTo>
                  <a:pt x="361950" y="57150"/>
                </a:lnTo>
                <a:lnTo>
                  <a:pt x="95250" y="57150"/>
                </a:lnTo>
                <a:close/>
                <a:moveTo>
                  <a:pt x="228600" y="421481"/>
                </a:moveTo>
                <a:cubicBezTo>
                  <a:pt x="249674" y="421481"/>
                  <a:pt x="266700" y="408712"/>
                  <a:pt x="266700" y="392906"/>
                </a:cubicBezTo>
                <a:cubicBezTo>
                  <a:pt x="266700" y="377101"/>
                  <a:pt x="249674" y="364331"/>
                  <a:pt x="228600" y="364331"/>
                </a:cubicBezTo>
                <a:cubicBezTo>
                  <a:pt x="207526" y="364331"/>
                  <a:pt x="190500" y="377101"/>
                  <a:pt x="190500" y="392906"/>
                </a:cubicBezTo>
                <a:cubicBezTo>
                  <a:pt x="190500" y="408712"/>
                  <a:pt x="207526" y="421481"/>
                  <a:pt x="228600" y="421481"/>
                </a:cubicBezTo>
                <a:close/>
              </a:path>
            </a:pathLst>
          </a:custGeom>
          <a:solidFill>
            <a:srgbClr val="FFFFFF"/>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24" name="Google Shape;24;p3"/>
          <p:cNvSpPr/>
          <p:nvPr/>
        </p:nvSpPr>
        <p:spPr>
          <a:xfrm>
            <a:off x="5505450" y="3905250"/>
            <a:ext cx="342900" cy="342900"/>
          </a:xfrm>
          <a:custGeom>
            <a:avLst/>
            <a:gdLst/>
            <a:ahLst/>
            <a:cxnLst/>
            <a:rect l="l" t="t" r="r" b="b"/>
            <a:pathLst>
              <a:path w="457200" h="457200" extrusionOk="0">
                <a:moveTo>
                  <a:pt x="314236" y="250031"/>
                </a:moveTo>
                <a:lnTo>
                  <a:pt x="143768" y="250031"/>
                </a:lnTo>
                <a:cubicBezTo>
                  <a:pt x="146358" y="307628"/>
                  <a:pt x="159127" y="360670"/>
                  <a:pt x="177254" y="399514"/>
                </a:cubicBezTo>
                <a:cubicBezTo>
                  <a:pt x="187434" y="421392"/>
                  <a:pt x="198418" y="436840"/>
                  <a:pt x="208597" y="446306"/>
                </a:cubicBezTo>
                <a:cubicBezTo>
                  <a:pt x="218599" y="455682"/>
                  <a:pt x="225475" y="457200"/>
                  <a:pt x="229046" y="457200"/>
                </a:cubicBezTo>
                <a:cubicBezTo>
                  <a:pt x="232618" y="457200"/>
                  <a:pt x="239494" y="455682"/>
                  <a:pt x="249495" y="446306"/>
                </a:cubicBezTo>
                <a:cubicBezTo>
                  <a:pt x="259675" y="436840"/>
                  <a:pt x="270659" y="421303"/>
                  <a:pt x="280839" y="399514"/>
                </a:cubicBezTo>
                <a:cubicBezTo>
                  <a:pt x="298966" y="360670"/>
                  <a:pt x="311735" y="307628"/>
                  <a:pt x="314325" y="250031"/>
                </a:cubicBezTo>
                <a:close/>
                <a:moveTo>
                  <a:pt x="143679" y="207169"/>
                </a:moveTo>
                <a:lnTo>
                  <a:pt x="314146" y="207169"/>
                </a:lnTo>
                <a:cubicBezTo>
                  <a:pt x="311646" y="149572"/>
                  <a:pt x="298877" y="96530"/>
                  <a:pt x="280749" y="57686"/>
                </a:cubicBezTo>
                <a:cubicBezTo>
                  <a:pt x="270570" y="35897"/>
                  <a:pt x="259586" y="20360"/>
                  <a:pt x="249406" y="10894"/>
                </a:cubicBezTo>
                <a:cubicBezTo>
                  <a:pt x="239405" y="1518"/>
                  <a:pt x="232529" y="0"/>
                  <a:pt x="228957" y="0"/>
                </a:cubicBezTo>
                <a:cubicBezTo>
                  <a:pt x="225385" y="0"/>
                  <a:pt x="218509" y="1518"/>
                  <a:pt x="208508" y="10894"/>
                </a:cubicBezTo>
                <a:cubicBezTo>
                  <a:pt x="198328" y="20360"/>
                  <a:pt x="187345" y="35897"/>
                  <a:pt x="177165" y="57686"/>
                </a:cubicBezTo>
                <a:cubicBezTo>
                  <a:pt x="159038" y="96530"/>
                  <a:pt x="146268" y="149572"/>
                  <a:pt x="143679" y="207169"/>
                </a:cubicBezTo>
                <a:close/>
                <a:moveTo>
                  <a:pt x="100816" y="207169"/>
                </a:moveTo>
                <a:cubicBezTo>
                  <a:pt x="103942" y="130731"/>
                  <a:pt x="123676" y="59740"/>
                  <a:pt x="152519" y="13127"/>
                </a:cubicBezTo>
                <a:cubicBezTo>
                  <a:pt x="70277" y="42237"/>
                  <a:pt x="9733" y="117157"/>
                  <a:pt x="1339" y="207169"/>
                </a:cubicBezTo>
                <a:lnTo>
                  <a:pt x="100816" y="207169"/>
                </a:lnTo>
                <a:close/>
                <a:moveTo>
                  <a:pt x="1339" y="250031"/>
                </a:moveTo>
                <a:cubicBezTo>
                  <a:pt x="9733" y="340043"/>
                  <a:pt x="70277" y="414963"/>
                  <a:pt x="152519" y="444073"/>
                </a:cubicBezTo>
                <a:cubicBezTo>
                  <a:pt x="123676" y="397460"/>
                  <a:pt x="103942" y="326469"/>
                  <a:pt x="100816" y="250031"/>
                </a:cubicBezTo>
                <a:lnTo>
                  <a:pt x="1339" y="250031"/>
                </a:lnTo>
                <a:close/>
                <a:moveTo>
                  <a:pt x="357098" y="250031"/>
                </a:moveTo>
                <a:cubicBezTo>
                  <a:pt x="353973" y="326469"/>
                  <a:pt x="334238" y="397460"/>
                  <a:pt x="305395" y="444073"/>
                </a:cubicBezTo>
                <a:cubicBezTo>
                  <a:pt x="387638" y="414873"/>
                  <a:pt x="448181" y="340043"/>
                  <a:pt x="456575" y="250031"/>
                </a:cubicBezTo>
                <a:lnTo>
                  <a:pt x="357098" y="250031"/>
                </a:lnTo>
                <a:close/>
                <a:moveTo>
                  <a:pt x="456575" y="207169"/>
                </a:moveTo>
                <a:cubicBezTo>
                  <a:pt x="448181" y="117157"/>
                  <a:pt x="387638" y="42237"/>
                  <a:pt x="305395" y="13127"/>
                </a:cubicBezTo>
                <a:cubicBezTo>
                  <a:pt x="334238" y="59740"/>
                  <a:pt x="353973" y="130731"/>
                  <a:pt x="357098" y="207169"/>
                </a:cubicBezTo>
                <a:lnTo>
                  <a:pt x="456575" y="207169"/>
                </a:lnTo>
                <a:close/>
              </a:path>
            </a:pathLst>
          </a:custGeom>
          <a:solidFill>
            <a:srgbClr val="FFFFFF"/>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25" name="Google Shape;25;p3"/>
          <p:cNvSpPr/>
          <p:nvPr/>
        </p:nvSpPr>
        <p:spPr>
          <a:xfrm>
            <a:off x="7715250" y="3905250"/>
            <a:ext cx="342900" cy="342900"/>
          </a:xfrm>
          <a:custGeom>
            <a:avLst/>
            <a:gdLst/>
            <a:ahLst/>
            <a:cxnLst/>
            <a:rect l="l" t="t" r="r" b="b"/>
            <a:pathLst>
              <a:path w="457200" h="457200" extrusionOk="0">
                <a:moveTo>
                  <a:pt x="228600" y="85725"/>
                </a:moveTo>
                <a:cubicBezTo>
                  <a:pt x="156448" y="85725"/>
                  <a:pt x="91123" y="117872"/>
                  <a:pt x="43101" y="170200"/>
                </a:cubicBezTo>
                <a:cubicBezTo>
                  <a:pt x="33020" y="181183"/>
                  <a:pt x="16907" y="180915"/>
                  <a:pt x="7223" y="169575"/>
                </a:cubicBezTo>
                <a:cubicBezTo>
                  <a:pt x="-2461" y="158234"/>
                  <a:pt x="-2302" y="140107"/>
                  <a:pt x="7779" y="129213"/>
                </a:cubicBezTo>
                <a:cubicBezTo>
                  <a:pt x="64849" y="66883"/>
                  <a:pt x="142796" y="28575"/>
                  <a:pt x="228600" y="28575"/>
                </a:cubicBezTo>
                <a:cubicBezTo>
                  <a:pt x="314404" y="28575"/>
                  <a:pt x="392351" y="66883"/>
                  <a:pt x="449501" y="129213"/>
                </a:cubicBezTo>
                <a:cubicBezTo>
                  <a:pt x="459581" y="140196"/>
                  <a:pt x="459819" y="158323"/>
                  <a:pt x="450056" y="169575"/>
                </a:cubicBezTo>
                <a:cubicBezTo>
                  <a:pt x="440293" y="180826"/>
                  <a:pt x="424180" y="181183"/>
                  <a:pt x="414179" y="170200"/>
                </a:cubicBezTo>
                <a:cubicBezTo>
                  <a:pt x="366077" y="117872"/>
                  <a:pt x="300752" y="85725"/>
                  <a:pt x="228600" y="85725"/>
                </a:cubicBezTo>
                <a:close/>
                <a:moveTo>
                  <a:pt x="190500" y="385763"/>
                </a:moveTo>
                <a:cubicBezTo>
                  <a:pt x="190500" y="362106"/>
                  <a:pt x="207572" y="342900"/>
                  <a:pt x="228600" y="342900"/>
                </a:cubicBezTo>
                <a:cubicBezTo>
                  <a:pt x="249628" y="342900"/>
                  <a:pt x="266700" y="362106"/>
                  <a:pt x="266700" y="385763"/>
                </a:cubicBezTo>
                <a:cubicBezTo>
                  <a:pt x="266700" y="409419"/>
                  <a:pt x="249628" y="428625"/>
                  <a:pt x="228600" y="428625"/>
                </a:cubicBezTo>
                <a:cubicBezTo>
                  <a:pt x="207572" y="428625"/>
                  <a:pt x="190500" y="409419"/>
                  <a:pt x="190500" y="385763"/>
                </a:cubicBezTo>
                <a:close/>
                <a:moveTo>
                  <a:pt x="133350" y="291286"/>
                </a:moveTo>
                <a:cubicBezTo>
                  <a:pt x="124063" y="303163"/>
                  <a:pt x="108029" y="304234"/>
                  <a:pt x="97473" y="293787"/>
                </a:cubicBezTo>
                <a:cubicBezTo>
                  <a:pt x="86916" y="283339"/>
                  <a:pt x="85963" y="265301"/>
                  <a:pt x="95250" y="253425"/>
                </a:cubicBezTo>
                <a:cubicBezTo>
                  <a:pt x="127794" y="211991"/>
                  <a:pt x="175498" y="185738"/>
                  <a:pt x="228600" y="185738"/>
                </a:cubicBezTo>
                <a:cubicBezTo>
                  <a:pt x="281702" y="185738"/>
                  <a:pt x="329406" y="211991"/>
                  <a:pt x="361950" y="253425"/>
                </a:cubicBezTo>
                <a:cubicBezTo>
                  <a:pt x="371237" y="265301"/>
                  <a:pt x="370205" y="283339"/>
                  <a:pt x="359728" y="293787"/>
                </a:cubicBezTo>
                <a:cubicBezTo>
                  <a:pt x="349250" y="304234"/>
                  <a:pt x="333137" y="303074"/>
                  <a:pt x="323850" y="291286"/>
                </a:cubicBezTo>
                <a:cubicBezTo>
                  <a:pt x="300514" y="261551"/>
                  <a:pt x="266541" y="242888"/>
                  <a:pt x="228600" y="242888"/>
                </a:cubicBezTo>
                <a:cubicBezTo>
                  <a:pt x="190659" y="242888"/>
                  <a:pt x="156686" y="261551"/>
                  <a:pt x="133350" y="291286"/>
                </a:cubicBezTo>
                <a:close/>
              </a:path>
            </a:pathLst>
          </a:custGeom>
          <a:solidFill>
            <a:srgbClr val="FFFFFF"/>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26" name="Google Shape;26;p3"/>
          <p:cNvSpPr/>
          <p:nvPr/>
        </p:nvSpPr>
        <p:spPr>
          <a:xfrm>
            <a:off x="9734550" y="3952875"/>
            <a:ext cx="342900" cy="342900"/>
          </a:xfrm>
          <a:custGeom>
            <a:avLst/>
            <a:gdLst/>
            <a:ahLst/>
            <a:cxnLst/>
            <a:rect l="l" t="t" r="r" b="b"/>
            <a:pathLst>
              <a:path w="457200" h="457200" extrusionOk="0">
                <a:moveTo>
                  <a:pt x="107156" y="50006"/>
                </a:moveTo>
                <a:cubicBezTo>
                  <a:pt x="107156" y="22414"/>
                  <a:pt x="129570" y="0"/>
                  <a:pt x="157163" y="0"/>
                </a:cubicBezTo>
                <a:lnTo>
                  <a:pt x="178594" y="0"/>
                </a:lnTo>
                <a:cubicBezTo>
                  <a:pt x="194399" y="0"/>
                  <a:pt x="207169" y="12769"/>
                  <a:pt x="207169" y="28575"/>
                </a:cubicBezTo>
                <a:lnTo>
                  <a:pt x="207169" y="428625"/>
                </a:lnTo>
                <a:cubicBezTo>
                  <a:pt x="207169" y="444431"/>
                  <a:pt x="194399" y="457200"/>
                  <a:pt x="178594" y="457200"/>
                </a:cubicBezTo>
                <a:lnTo>
                  <a:pt x="150019" y="457200"/>
                </a:lnTo>
                <a:cubicBezTo>
                  <a:pt x="123408" y="457200"/>
                  <a:pt x="100995" y="438983"/>
                  <a:pt x="94655" y="414338"/>
                </a:cubicBezTo>
                <a:cubicBezTo>
                  <a:pt x="94030" y="414338"/>
                  <a:pt x="93494" y="414338"/>
                  <a:pt x="92869" y="414338"/>
                </a:cubicBezTo>
                <a:cubicBezTo>
                  <a:pt x="53400" y="414338"/>
                  <a:pt x="21431" y="382369"/>
                  <a:pt x="21431" y="342900"/>
                </a:cubicBezTo>
                <a:cubicBezTo>
                  <a:pt x="21431" y="326827"/>
                  <a:pt x="26789" y="312003"/>
                  <a:pt x="35719" y="300038"/>
                </a:cubicBezTo>
                <a:cubicBezTo>
                  <a:pt x="18395" y="287000"/>
                  <a:pt x="7144" y="266283"/>
                  <a:pt x="7144" y="242888"/>
                </a:cubicBezTo>
                <a:cubicBezTo>
                  <a:pt x="7144" y="215295"/>
                  <a:pt x="22860" y="191274"/>
                  <a:pt x="45720" y="179397"/>
                </a:cubicBezTo>
                <a:cubicBezTo>
                  <a:pt x="39380" y="168682"/>
                  <a:pt x="35719" y="156180"/>
                  <a:pt x="35719" y="142875"/>
                </a:cubicBezTo>
                <a:cubicBezTo>
                  <a:pt x="35719" y="103406"/>
                  <a:pt x="67687" y="71438"/>
                  <a:pt x="107156" y="71438"/>
                </a:cubicBezTo>
                <a:lnTo>
                  <a:pt x="107156" y="50006"/>
                </a:lnTo>
                <a:close/>
                <a:moveTo>
                  <a:pt x="350044" y="50006"/>
                </a:moveTo>
                <a:lnTo>
                  <a:pt x="350044" y="71438"/>
                </a:lnTo>
                <a:cubicBezTo>
                  <a:pt x="389513" y="71438"/>
                  <a:pt x="421481" y="103406"/>
                  <a:pt x="421481" y="142875"/>
                </a:cubicBezTo>
                <a:cubicBezTo>
                  <a:pt x="421481" y="156270"/>
                  <a:pt x="417820" y="168771"/>
                  <a:pt x="411480" y="179397"/>
                </a:cubicBezTo>
                <a:cubicBezTo>
                  <a:pt x="434429" y="191274"/>
                  <a:pt x="450056" y="215205"/>
                  <a:pt x="450056" y="242888"/>
                </a:cubicBezTo>
                <a:cubicBezTo>
                  <a:pt x="450056" y="266283"/>
                  <a:pt x="438805" y="287000"/>
                  <a:pt x="421481" y="300038"/>
                </a:cubicBezTo>
                <a:cubicBezTo>
                  <a:pt x="430411" y="312003"/>
                  <a:pt x="435769" y="326827"/>
                  <a:pt x="435769" y="342900"/>
                </a:cubicBezTo>
                <a:cubicBezTo>
                  <a:pt x="435769" y="382369"/>
                  <a:pt x="403800" y="414338"/>
                  <a:pt x="364331" y="414338"/>
                </a:cubicBezTo>
                <a:cubicBezTo>
                  <a:pt x="363706" y="414338"/>
                  <a:pt x="363170" y="414338"/>
                  <a:pt x="362545" y="414338"/>
                </a:cubicBezTo>
                <a:cubicBezTo>
                  <a:pt x="356205" y="438983"/>
                  <a:pt x="333792" y="457200"/>
                  <a:pt x="307181" y="457200"/>
                </a:cubicBezTo>
                <a:lnTo>
                  <a:pt x="278606" y="457200"/>
                </a:lnTo>
                <a:cubicBezTo>
                  <a:pt x="262801" y="457200"/>
                  <a:pt x="250031" y="444431"/>
                  <a:pt x="250031" y="428625"/>
                </a:cubicBezTo>
                <a:lnTo>
                  <a:pt x="250031" y="28575"/>
                </a:lnTo>
                <a:cubicBezTo>
                  <a:pt x="250031" y="12769"/>
                  <a:pt x="262801" y="0"/>
                  <a:pt x="278606" y="0"/>
                </a:cubicBezTo>
                <a:lnTo>
                  <a:pt x="300038" y="0"/>
                </a:lnTo>
                <a:cubicBezTo>
                  <a:pt x="327630" y="0"/>
                  <a:pt x="350044" y="22414"/>
                  <a:pt x="350044" y="50006"/>
                </a:cubicBezTo>
                <a:close/>
              </a:path>
            </a:pathLst>
          </a:custGeom>
          <a:solidFill>
            <a:srgbClr val="FFFFFF"/>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27" name="Google Shape;27;p3"/>
          <p:cNvSpPr/>
          <p:nvPr/>
        </p:nvSpPr>
        <p:spPr>
          <a:xfrm>
            <a:off x="762000" y="4476750"/>
            <a:ext cx="1714500" cy="533400"/>
          </a:xfrm>
          <a:prstGeom prst="roundRect">
            <a:avLst>
              <a:gd name="adj" fmla="val 8000"/>
            </a:avLst>
          </a:prstGeom>
          <a:solidFill>
            <a:srgbClr val="FFFFFF">
              <a:alpha val="13333"/>
            </a:srgbClr>
          </a:solidFill>
          <a:ln w="12700" cap="flat" cmpd="sng">
            <a:solidFill>
              <a:srgbClr val="FFFFFF"/>
            </a:solidFill>
            <a:prstDash val="solid"/>
            <a:round/>
            <a:headEnd type="none" w="sm" len="sm"/>
            <a:tailEnd type="none" w="sm" len="sm"/>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28" name="Google Shape;28;p3"/>
          <p:cNvSpPr/>
          <p:nvPr/>
        </p:nvSpPr>
        <p:spPr>
          <a:xfrm>
            <a:off x="2857500" y="4476750"/>
            <a:ext cx="1714500" cy="533400"/>
          </a:xfrm>
          <a:prstGeom prst="roundRect">
            <a:avLst>
              <a:gd name="adj" fmla="val 8000"/>
            </a:avLst>
          </a:prstGeom>
          <a:solidFill>
            <a:srgbClr val="FFFFFF">
              <a:alpha val="13333"/>
            </a:srgbClr>
          </a:solidFill>
          <a:ln w="12700" cap="flat" cmpd="sng">
            <a:solidFill>
              <a:srgbClr val="FFFFFF"/>
            </a:solidFill>
            <a:prstDash val="solid"/>
            <a:round/>
            <a:headEnd type="none" w="sm" len="sm"/>
            <a:tailEnd type="none" w="sm" len="sm"/>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29" name="Google Shape;29;p3"/>
          <p:cNvSpPr/>
          <p:nvPr/>
        </p:nvSpPr>
        <p:spPr>
          <a:xfrm>
            <a:off x="4953000" y="4476750"/>
            <a:ext cx="1714500" cy="533400"/>
          </a:xfrm>
          <a:prstGeom prst="roundRect">
            <a:avLst>
              <a:gd name="adj" fmla="val 8000"/>
            </a:avLst>
          </a:prstGeom>
          <a:solidFill>
            <a:srgbClr val="FFFFFF">
              <a:alpha val="13333"/>
            </a:srgbClr>
          </a:solidFill>
          <a:ln w="12700" cap="flat" cmpd="sng">
            <a:solidFill>
              <a:srgbClr val="FFFFFF"/>
            </a:solidFill>
            <a:prstDash val="solid"/>
            <a:round/>
            <a:headEnd type="none" w="sm" len="sm"/>
            <a:tailEnd type="none" w="sm" len="sm"/>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0" name="Google Shape;30;p3"/>
          <p:cNvSpPr/>
          <p:nvPr/>
        </p:nvSpPr>
        <p:spPr>
          <a:xfrm>
            <a:off x="7048500" y="4476750"/>
            <a:ext cx="1714500" cy="533400"/>
          </a:xfrm>
          <a:prstGeom prst="roundRect">
            <a:avLst>
              <a:gd name="adj" fmla="val 8000"/>
            </a:avLst>
          </a:prstGeom>
          <a:solidFill>
            <a:srgbClr val="FFFFFF">
              <a:alpha val="13333"/>
            </a:srgbClr>
          </a:solidFill>
          <a:ln w="12700" cap="flat" cmpd="sng">
            <a:solidFill>
              <a:srgbClr val="FFFFFF"/>
            </a:solidFill>
            <a:prstDash val="solid"/>
            <a:round/>
            <a:headEnd type="none" w="sm" len="sm"/>
            <a:tailEnd type="none" w="sm" len="sm"/>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1" name="Google Shape;31;p3"/>
          <p:cNvSpPr/>
          <p:nvPr/>
        </p:nvSpPr>
        <p:spPr>
          <a:xfrm>
            <a:off x="9144000" y="4476750"/>
            <a:ext cx="1714500" cy="533400"/>
          </a:xfrm>
          <a:prstGeom prst="roundRect">
            <a:avLst>
              <a:gd name="adj" fmla="val 8000"/>
            </a:avLst>
          </a:prstGeom>
          <a:solidFill>
            <a:srgbClr val="FFFFFF">
              <a:alpha val="13333"/>
            </a:srgbClr>
          </a:solidFill>
          <a:ln w="12700" cap="flat" cmpd="sng">
            <a:solidFill>
              <a:srgbClr val="FFFFFF"/>
            </a:solidFill>
            <a:prstDash val="solid"/>
            <a:round/>
            <a:headEnd type="none" w="sm" len="sm"/>
            <a:tailEnd type="none" w="sm" len="sm"/>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2" name="Google Shape;32;p3"/>
          <p:cNvSpPr/>
          <p:nvPr/>
        </p:nvSpPr>
        <p:spPr>
          <a:xfrm>
            <a:off x="762000" y="4476750"/>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b="1" kern="0">
                <a:solidFill>
                  <a:srgbClr val="FFFFFF"/>
                </a:solidFill>
                <a:latin typeface="Quattrocento Sans"/>
                <a:ea typeface="Quattrocento Sans"/>
                <a:cs typeface="Quattrocento Sans"/>
                <a:sym typeface="Quattrocento Sans"/>
              </a:rPr>
              <a:t>1G</a:t>
            </a:r>
            <a:endParaRPr kern="0">
              <a:solidFill>
                <a:srgbClr val="000000"/>
              </a:solidFill>
              <a:latin typeface="Arial"/>
              <a:cs typeface="Arial"/>
              <a:sym typeface="Arial"/>
            </a:endParaRPr>
          </a:p>
        </p:txBody>
      </p:sp>
      <p:sp>
        <p:nvSpPr>
          <p:cNvPr id="33" name="Google Shape;33;p3"/>
          <p:cNvSpPr/>
          <p:nvPr/>
        </p:nvSpPr>
        <p:spPr>
          <a:xfrm>
            <a:off x="2857500" y="4476750"/>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b="1" kern="0">
                <a:solidFill>
                  <a:srgbClr val="FFFFFF"/>
                </a:solidFill>
                <a:latin typeface="Quattrocento Sans"/>
                <a:ea typeface="Quattrocento Sans"/>
                <a:cs typeface="Quattrocento Sans"/>
                <a:sym typeface="Quattrocento Sans"/>
              </a:rPr>
              <a:t>2G</a:t>
            </a:r>
            <a:endParaRPr kern="0">
              <a:solidFill>
                <a:srgbClr val="000000"/>
              </a:solidFill>
              <a:latin typeface="Arial"/>
              <a:cs typeface="Arial"/>
              <a:sym typeface="Arial"/>
            </a:endParaRPr>
          </a:p>
        </p:txBody>
      </p:sp>
      <p:sp>
        <p:nvSpPr>
          <p:cNvPr id="34" name="Google Shape;34;p3"/>
          <p:cNvSpPr/>
          <p:nvPr/>
        </p:nvSpPr>
        <p:spPr>
          <a:xfrm>
            <a:off x="4953000" y="4476750"/>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b="1" kern="0">
                <a:solidFill>
                  <a:srgbClr val="FFFFFF"/>
                </a:solidFill>
                <a:latin typeface="Quattrocento Sans"/>
                <a:ea typeface="Quattrocento Sans"/>
                <a:cs typeface="Quattrocento Sans"/>
                <a:sym typeface="Quattrocento Sans"/>
              </a:rPr>
              <a:t>3G</a:t>
            </a:r>
            <a:endParaRPr kern="0">
              <a:solidFill>
                <a:srgbClr val="000000"/>
              </a:solidFill>
              <a:latin typeface="Arial"/>
              <a:cs typeface="Arial"/>
              <a:sym typeface="Arial"/>
            </a:endParaRPr>
          </a:p>
        </p:txBody>
      </p:sp>
      <p:sp>
        <p:nvSpPr>
          <p:cNvPr id="35" name="Google Shape;35;p3"/>
          <p:cNvSpPr/>
          <p:nvPr/>
        </p:nvSpPr>
        <p:spPr>
          <a:xfrm>
            <a:off x="7048500" y="4476750"/>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b="1" kern="0" dirty="0">
                <a:solidFill>
                  <a:srgbClr val="FFFFFF"/>
                </a:solidFill>
                <a:latin typeface="Quattrocento Sans"/>
                <a:ea typeface="Quattrocento Sans"/>
                <a:cs typeface="Quattrocento Sans"/>
                <a:sym typeface="Quattrocento Sans"/>
              </a:rPr>
              <a:t>4G</a:t>
            </a:r>
            <a:endParaRPr kern="0" dirty="0">
              <a:solidFill>
                <a:srgbClr val="000000"/>
              </a:solidFill>
              <a:latin typeface="Arial"/>
              <a:cs typeface="Arial"/>
              <a:sym typeface="Arial"/>
            </a:endParaRPr>
          </a:p>
        </p:txBody>
      </p:sp>
      <p:sp>
        <p:nvSpPr>
          <p:cNvPr id="36" name="Google Shape;36;p3"/>
          <p:cNvSpPr/>
          <p:nvPr/>
        </p:nvSpPr>
        <p:spPr>
          <a:xfrm>
            <a:off x="9144000" y="4476750"/>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b="1" kern="0">
                <a:solidFill>
                  <a:srgbClr val="FFFFFF"/>
                </a:solidFill>
                <a:latin typeface="Quattrocento Sans"/>
                <a:ea typeface="Quattrocento Sans"/>
                <a:cs typeface="Quattrocento Sans"/>
                <a:sym typeface="Quattrocento Sans"/>
              </a:rPr>
              <a:t>5G</a:t>
            </a:r>
            <a:endParaRPr kern="0">
              <a:solidFill>
                <a:srgbClr val="000000"/>
              </a:solidFill>
              <a:latin typeface="Arial"/>
              <a:cs typeface="Arial"/>
              <a:sym typeface="Arial"/>
            </a:endParaRPr>
          </a:p>
        </p:txBody>
      </p:sp>
      <p:cxnSp>
        <p:nvCxnSpPr>
          <p:cNvPr id="37" name="Google Shape;37;p3"/>
          <p:cNvCxnSpPr/>
          <p:nvPr/>
        </p:nvCxnSpPr>
        <p:spPr>
          <a:xfrm>
            <a:off x="2495550" y="4743450"/>
            <a:ext cx="342900" cy="0"/>
          </a:xfrm>
          <a:prstGeom prst="straightConnector1">
            <a:avLst/>
          </a:prstGeom>
          <a:noFill/>
          <a:ln w="25400" cap="flat" cmpd="sng">
            <a:solidFill>
              <a:srgbClr val="FFFFFF">
                <a:alpha val="66666"/>
              </a:srgbClr>
            </a:solidFill>
            <a:prstDash val="solid"/>
            <a:round/>
            <a:headEnd type="none" w="sm" len="sm"/>
            <a:tailEnd type="stealth" w="med" len="med"/>
          </a:ln>
        </p:spPr>
      </p:cxnSp>
      <p:cxnSp>
        <p:nvCxnSpPr>
          <p:cNvPr id="38" name="Google Shape;38;p3"/>
          <p:cNvCxnSpPr/>
          <p:nvPr/>
        </p:nvCxnSpPr>
        <p:spPr>
          <a:xfrm>
            <a:off x="4591050" y="4743450"/>
            <a:ext cx="342900" cy="0"/>
          </a:xfrm>
          <a:prstGeom prst="straightConnector1">
            <a:avLst/>
          </a:prstGeom>
          <a:noFill/>
          <a:ln w="25400" cap="flat" cmpd="sng">
            <a:solidFill>
              <a:srgbClr val="FFFFFF">
                <a:alpha val="66666"/>
              </a:srgbClr>
            </a:solidFill>
            <a:prstDash val="solid"/>
            <a:round/>
            <a:headEnd type="none" w="sm" len="sm"/>
            <a:tailEnd type="stealth" w="med" len="med"/>
          </a:ln>
        </p:spPr>
      </p:cxnSp>
      <p:cxnSp>
        <p:nvCxnSpPr>
          <p:cNvPr id="39" name="Google Shape;39;p3"/>
          <p:cNvCxnSpPr/>
          <p:nvPr/>
        </p:nvCxnSpPr>
        <p:spPr>
          <a:xfrm>
            <a:off x="6686550" y="4743450"/>
            <a:ext cx="342900" cy="0"/>
          </a:xfrm>
          <a:prstGeom prst="straightConnector1">
            <a:avLst/>
          </a:prstGeom>
          <a:noFill/>
          <a:ln w="25400" cap="flat" cmpd="sng">
            <a:solidFill>
              <a:srgbClr val="FFFFFF">
                <a:alpha val="66666"/>
              </a:srgbClr>
            </a:solidFill>
            <a:prstDash val="solid"/>
            <a:round/>
            <a:headEnd type="none" w="sm" len="sm"/>
            <a:tailEnd type="stealth" w="med" len="med"/>
          </a:ln>
        </p:spPr>
      </p:cxnSp>
      <p:cxnSp>
        <p:nvCxnSpPr>
          <p:cNvPr id="40" name="Google Shape;40;p3"/>
          <p:cNvCxnSpPr/>
          <p:nvPr/>
        </p:nvCxnSpPr>
        <p:spPr>
          <a:xfrm>
            <a:off x="8782050" y="4743450"/>
            <a:ext cx="342900" cy="0"/>
          </a:xfrm>
          <a:prstGeom prst="straightConnector1">
            <a:avLst/>
          </a:prstGeom>
          <a:noFill/>
          <a:ln w="25400" cap="flat" cmpd="sng">
            <a:solidFill>
              <a:srgbClr val="FFFFFF">
                <a:alpha val="66666"/>
              </a:srgbClr>
            </a:solidFill>
            <a:prstDash val="solid"/>
            <a:round/>
            <a:headEnd type="none" w="sm" len="sm"/>
            <a:tailEnd type="stealth" w="med" len="med"/>
          </a:ln>
        </p:spPr>
      </p:cxnSp>
      <p:sp>
        <p:nvSpPr>
          <p:cNvPr id="46" name="Google Shape;46;p3"/>
          <p:cNvSpPr/>
          <p:nvPr/>
        </p:nvSpPr>
        <p:spPr>
          <a:xfrm>
            <a:off x="571500" y="6477000"/>
            <a:ext cx="1905000" cy="285750"/>
          </a:xfrm>
          <a:prstGeom prst="rect">
            <a:avLst/>
          </a:prstGeom>
          <a:noFill/>
          <a:ln>
            <a:noFill/>
          </a:ln>
        </p:spPr>
        <p:txBody>
          <a:bodyPr spcFirstLastPara="1" wrap="square" lIns="0" tIns="0" rIns="0" bIns="0" anchor="ctr" anchorCtr="0">
            <a:noAutofit/>
          </a:bodyPr>
          <a:lstStyle/>
          <a:p>
            <a:pPr defTabSz="685800">
              <a:lnSpc>
                <a:spcPct val="140000"/>
              </a:lnSpc>
              <a:buClr>
                <a:srgbClr val="000000"/>
              </a:buClr>
            </a:pPr>
            <a:r>
              <a:rPr lang="en-US" sz="1050" kern="0" dirty="0">
                <a:solidFill>
                  <a:srgbClr val="FFFFFF"/>
                </a:solidFill>
                <a:latin typeface="Quattrocento Sans"/>
                <a:ea typeface="Quattrocento Sans"/>
                <a:cs typeface="Quattrocento Sans"/>
                <a:sym typeface="Quattrocento Sans"/>
              </a:rPr>
              <a:t>Part II</a:t>
            </a:r>
            <a:endParaRPr sz="1050" kern="0" dirty="0">
              <a:solidFill>
                <a:srgbClr val="000000"/>
              </a:solidFill>
              <a:latin typeface="Arial"/>
              <a:cs typeface="Arial"/>
              <a:sym typeface="Arial"/>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33D08789-DEE1-5CA2-DC19-41DDBBD862B2}"/>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603CF661-1425-1D9C-962C-CC9DE156F2EA}"/>
              </a:ext>
            </a:extLst>
          </p:cNvPr>
          <p:cNvSpPr/>
          <p:nvPr/>
        </p:nvSpPr>
        <p:spPr>
          <a:xfrm>
            <a:off x="0" y="0"/>
            <a:ext cx="12192000" cy="38100"/>
          </a:xfrm>
          <a:prstGeom prst="rect">
            <a:avLst/>
          </a:prstGeom>
          <a:solidFill>
            <a:srgbClr val="1E5AA8"/>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38" name="Google Shape;138;p6">
            <a:extLst>
              <a:ext uri="{FF2B5EF4-FFF2-40B4-BE49-F238E27FC236}">
                <a16:creationId xmlns:a16="http://schemas.microsoft.com/office/drawing/2014/main" id="{958A83AC-C5EA-A881-7D39-DC97E4817F2D}"/>
              </a:ext>
            </a:extLst>
          </p:cNvPr>
          <p:cNvSpPr/>
          <p:nvPr/>
        </p:nvSpPr>
        <p:spPr>
          <a:xfrm>
            <a:off x="571500" y="238125"/>
            <a:ext cx="11049000" cy="447675"/>
          </a:xfrm>
          <a:prstGeom prst="rect">
            <a:avLst/>
          </a:prstGeom>
          <a:noFill/>
          <a:ln>
            <a:noFill/>
          </a:ln>
        </p:spPr>
        <p:txBody>
          <a:bodyPr spcFirstLastPara="1" wrap="square" lIns="0" tIns="0" rIns="0" bIns="0" anchor="ctr" anchorCtr="0">
            <a:noAutofit/>
          </a:bodyPr>
          <a:lstStyle/>
          <a:p>
            <a:pPr defTabSz="685800">
              <a:buClr>
                <a:srgbClr val="000000"/>
              </a:buClr>
            </a:pPr>
            <a:r>
              <a:rPr lang="en-US" sz="2400" b="1" i="0" u="none" strike="noStrike" cap="none" dirty="0">
                <a:solidFill>
                  <a:srgbClr val="1E5AA8"/>
                </a:solidFill>
                <a:latin typeface="Quattrocento Sans"/>
                <a:ea typeface="Quattrocento Sans"/>
                <a:cs typeface="Quattrocento Sans"/>
                <a:sym typeface="Quattrocento Sans"/>
              </a:rPr>
              <a:t>Contents</a:t>
            </a:r>
            <a:endParaRPr lang="en-IN" sz="2400" kern="0" dirty="0">
              <a:solidFill>
                <a:srgbClr val="4472C4"/>
              </a:solidFill>
              <a:latin typeface="Arial"/>
              <a:cs typeface="Arial"/>
              <a:sym typeface="Arial"/>
            </a:endParaRPr>
          </a:p>
        </p:txBody>
      </p:sp>
      <p:sp>
        <p:nvSpPr>
          <p:cNvPr id="139" name="Google Shape;139;p6">
            <a:extLst>
              <a:ext uri="{FF2B5EF4-FFF2-40B4-BE49-F238E27FC236}">
                <a16:creationId xmlns:a16="http://schemas.microsoft.com/office/drawing/2014/main" id="{EF5557A8-4D45-20D5-D55E-649277FF736F}"/>
              </a:ext>
            </a:extLst>
          </p:cNvPr>
          <p:cNvSpPr/>
          <p:nvPr/>
        </p:nvSpPr>
        <p:spPr>
          <a:xfrm>
            <a:off x="571500" y="704850"/>
            <a:ext cx="1714500" cy="28575"/>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44" name="Google Shape;144;p6">
            <a:extLst>
              <a:ext uri="{FF2B5EF4-FFF2-40B4-BE49-F238E27FC236}">
                <a16:creationId xmlns:a16="http://schemas.microsoft.com/office/drawing/2014/main" id="{0127CB78-EECD-C86A-E63E-9F605E5438C2}"/>
              </a:ext>
            </a:extLst>
          </p:cNvPr>
          <p:cNvSpPr/>
          <p:nvPr/>
        </p:nvSpPr>
        <p:spPr>
          <a:xfrm>
            <a:off x="904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More Users</a:t>
            </a:r>
            <a:endParaRPr sz="1200" kern="0">
              <a:solidFill>
                <a:srgbClr val="000000"/>
              </a:solidFill>
              <a:latin typeface="Arial"/>
              <a:cs typeface="Arial"/>
              <a:sym typeface="Arial"/>
            </a:endParaRPr>
          </a:p>
        </p:txBody>
      </p:sp>
      <p:sp>
        <p:nvSpPr>
          <p:cNvPr id="147" name="Google Shape;147;p6">
            <a:extLst>
              <a:ext uri="{FF2B5EF4-FFF2-40B4-BE49-F238E27FC236}">
                <a16:creationId xmlns:a16="http://schemas.microsoft.com/office/drawing/2014/main" id="{60C6D84C-B595-9506-365A-A7D88A9D644B}"/>
              </a:ext>
            </a:extLst>
          </p:cNvPr>
          <p:cNvSpPr/>
          <p:nvPr/>
        </p:nvSpPr>
        <p:spPr>
          <a:xfrm>
            <a:off x="30956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125" b="1" kern="0" dirty="0">
                <a:solidFill>
                  <a:srgbClr val="FFFFFF"/>
                </a:solidFill>
                <a:latin typeface="Quattrocento Sans"/>
                <a:ea typeface="Quattrocento Sans"/>
                <a:cs typeface="Quattrocento Sans"/>
                <a:sym typeface="Quattrocento Sans"/>
              </a:rPr>
              <a:t>Beer Spectrum</a:t>
            </a:r>
            <a:endParaRPr sz="1125" kern="0" dirty="0">
              <a:solidFill>
                <a:srgbClr val="000000"/>
              </a:solidFill>
              <a:latin typeface="Arial"/>
              <a:cs typeface="Arial"/>
              <a:sym typeface="Arial"/>
            </a:endParaRPr>
          </a:p>
        </p:txBody>
      </p:sp>
      <p:sp>
        <p:nvSpPr>
          <p:cNvPr id="150" name="Google Shape;150;p6">
            <a:extLst>
              <a:ext uri="{FF2B5EF4-FFF2-40B4-BE49-F238E27FC236}">
                <a16:creationId xmlns:a16="http://schemas.microsoft.com/office/drawing/2014/main" id="{8FA72D5F-0B2E-6ECB-E096-702D50BD304E}"/>
              </a:ext>
            </a:extLst>
          </p:cNvPr>
          <p:cNvSpPr/>
          <p:nvPr/>
        </p:nvSpPr>
        <p:spPr>
          <a:xfrm>
            <a:off x="52863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Capacity</a:t>
            </a:r>
            <a:endParaRPr sz="1200" kern="0">
              <a:solidFill>
                <a:srgbClr val="000000"/>
              </a:solidFill>
              <a:latin typeface="Arial"/>
              <a:cs typeface="Arial"/>
              <a:sym typeface="Arial"/>
            </a:endParaRPr>
          </a:p>
        </p:txBody>
      </p:sp>
      <p:sp>
        <p:nvSpPr>
          <p:cNvPr id="153" name="Google Shape;153;p6">
            <a:extLst>
              <a:ext uri="{FF2B5EF4-FFF2-40B4-BE49-F238E27FC236}">
                <a16:creationId xmlns:a16="http://schemas.microsoft.com/office/drawing/2014/main" id="{904EC6D4-C887-5265-F434-10D7EB36F686}"/>
              </a:ext>
            </a:extLst>
          </p:cNvPr>
          <p:cNvSpPr/>
          <p:nvPr/>
        </p:nvSpPr>
        <p:spPr>
          <a:xfrm>
            <a:off x="74771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Speed</a:t>
            </a:r>
            <a:endParaRPr sz="1200" kern="0">
              <a:solidFill>
                <a:srgbClr val="000000"/>
              </a:solidFill>
              <a:latin typeface="Arial"/>
              <a:cs typeface="Arial"/>
              <a:sym typeface="Arial"/>
            </a:endParaRPr>
          </a:p>
        </p:txBody>
      </p:sp>
      <p:sp>
        <p:nvSpPr>
          <p:cNvPr id="156" name="Google Shape;156;p6">
            <a:extLst>
              <a:ext uri="{FF2B5EF4-FFF2-40B4-BE49-F238E27FC236}">
                <a16:creationId xmlns:a16="http://schemas.microsoft.com/office/drawing/2014/main" id="{3C47EA1D-4506-ED3C-123A-443D7372A622}"/>
              </a:ext>
            </a:extLst>
          </p:cNvPr>
          <p:cNvSpPr/>
          <p:nvPr/>
        </p:nvSpPr>
        <p:spPr>
          <a:xfrm>
            <a:off x="9667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050" b="1" kern="0">
                <a:solidFill>
                  <a:srgbClr val="FFFFFF"/>
                </a:solidFill>
                <a:latin typeface="Quattrocento Sans"/>
                <a:ea typeface="Quattrocento Sans"/>
                <a:cs typeface="Quattrocento Sans"/>
                <a:sym typeface="Quattrocento Sans"/>
              </a:rPr>
              <a:t>Better Experience</a:t>
            </a:r>
            <a:endParaRPr sz="1050" kern="0">
              <a:solidFill>
                <a:srgbClr val="000000"/>
              </a:solidFill>
              <a:latin typeface="Arial"/>
              <a:cs typeface="Arial"/>
              <a:sym typeface="Arial"/>
            </a:endParaRPr>
          </a:p>
        </p:txBody>
      </p:sp>
      <p:sp>
        <p:nvSpPr>
          <p:cNvPr id="160" name="Google Shape;160;p6">
            <a:extLst>
              <a:ext uri="{FF2B5EF4-FFF2-40B4-BE49-F238E27FC236}">
                <a16:creationId xmlns:a16="http://schemas.microsoft.com/office/drawing/2014/main" id="{6BB99B7E-7811-6ED4-3F1E-D758911797D5}"/>
              </a:ext>
            </a:extLst>
          </p:cNvPr>
          <p:cNvSpPr/>
          <p:nvPr/>
        </p:nvSpPr>
        <p:spPr>
          <a:xfrm>
            <a:off x="571500" y="6457950"/>
            <a:ext cx="11049000" cy="9525"/>
          </a:xfrm>
          <a:prstGeom prst="rect">
            <a:avLst/>
          </a:prstGeom>
          <a:solidFill>
            <a:srgbClr val="D0D5DD"/>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 name="Google Shape;161;p6">
            <a:extLst>
              <a:ext uri="{FF2B5EF4-FFF2-40B4-BE49-F238E27FC236}">
                <a16:creationId xmlns:a16="http://schemas.microsoft.com/office/drawing/2014/main" id="{3F576C33-EA4D-7C98-2BC1-B804275D4B41}"/>
              </a:ext>
            </a:extLst>
          </p:cNvPr>
          <p:cNvSpPr/>
          <p:nvPr/>
        </p:nvSpPr>
        <p:spPr>
          <a:xfrm>
            <a:off x="571500" y="6524625"/>
            <a:ext cx="2381250" cy="228600"/>
          </a:xfrm>
          <a:prstGeom prst="rect">
            <a:avLst/>
          </a:prstGeom>
          <a:noFill/>
          <a:ln>
            <a:noFill/>
          </a:ln>
        </p:spPr>
        <p:txBody>
          <a:bodyPr spcFirstLastPara="1" wrap="square" lIns="0" tIns="0" rIns="0" bIns="0" anchor="ctr" anchorCtr="0">
            <a:noAutofit/>
          </a:bodyPr>
          <a:lstStyle/>
          <a:p>
            <a:pPr defTabSz="685800">
              <a:lnSpc>
                <a:spcPct val="140000"/>
              </a:lnSpc>
              <a:buClr>
                <a:srgbClr val="000000"/>
              </a:buClr>
            </a:pPr>
            <a:r>
              <a:rPr lang="en-US" sz="1050" kern="0" dirty="0">
                <a:solidFill>
                  <a:srgbClr val="6B7280"/>
                </a:solidFill>
                <a:latin typeface="Quattrocento Sans"/>
                <a:ea typeface="Quattrocento Sans"/>
                <a:cs typeface="Quattrocento Sans"/>
                <a:sym typeface="Quattrocento Sans"/>
              </a:rPr>
              <a:t>Part II</a:t>
            </a:r>
            <a:endParaRPr sz="1050" kern="0" dirty="0">
              <a:solidFill>
                <a:srgbClr val="000000"/>
              </a:solidFill>
              <a:latin typeface="Arial"/>
              <a:cs typeface="Arial"/>
              <a:sym typeface="Arial"/>
            </a:endParaRPr>
          </a:p>
        </p:txBody>
      </p:sp>
      <p:sp>
        <p:nvSpPr>
          <p:cNvPr id="4" name="TextBox 3">
            <a:extLst>
              <a:ext uri="{FF2B5EF4-FFF2-40B4-BE49-F238E27FC236}">
                <a16:creationId xmlns:a16="http://schemas.microsoft.com/office/drawing/2014/main" id="{69A80568-1D09-27E3-6794-4131A913F663}"/>
              </a:ext>
            </a:extLst>
          </p:cNvPr>
          <p:cNvSpPr txBox="1"/>
          <p:nvPr/>
        </p:nvSpPr>
        <p:spPr>
          <a:xfrm>
            <a:off x="571500" y="1057275"/>
            <a:ext cx="6429375" cy="4247317"/>
          </a:xfrm>
          <a:prstGeom prst="rect">
            <a:avLst/>
          </a:prstGeom>
          <a:noFill/>
        </p:spPr>
        <p:txBody>
          <a:bodyPr wrap="square" rtlCol="0">
            <a:spAutoFit/>
          </a:bodyPr>
          <a:lstStyle/>
          <a:p>
            <a:pPr marL="285750" indent="-285750">
              <a:buFont typeface="Arial" panose="020B0604020202020204" pitchFamily="34" charset="0"/>
              <a:buChar char="•"/>
            </a:pPr>
            <a:r>
              <a:rPr lang="en-US" b="1" dirty="0"/>
              <a:t>Second Generation (2G) Cellular Networks</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GSM Core Network (Network Switching Subsystem)</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2.5G – General Packet Radio Service (GPRS)</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2.75G – EDGE (Enhanced Data Rates for GSM Evolution)</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3GPP Standardization</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3G Enhancements</a:t>
            </a:r>
          </a:p>
          <a:p>
            <a:endParaRPr lang="en-US" dirty="0"/>
          </a:p>
          <a:p>
            <a:endParaRPr lang="en-US" dirty="0"/>
          </a:p>
          <a:p>
            <a:endParaRPr lang="en-IN" dirty="0"/>
          </a:p>
        </p:txBody>
      </p:sp>
    </p:spTree>
    <p:extLst>
      <p:ext uri="{BB962C8B-B14F-4D97-AF65-F5344CB8AC3E}">
        <p14:creationId xmlns:p14="http://schemas.microsoft.com/office/powerpoint/2010/main" val="262501604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FF6304F0-DAC5-912C-EB83-11CC1B0FA6F0}"/>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D26033CF-21C1-95F3-3591-98E1AF0B4953}"/>
              </a:ext>
            </a:extLst>
          </p:cNvPr>
          <p:cNvSpPr/>
          <p:nvPr/>
        </p:nvSpPr>
        <p:spPr>
          <a:xfrm>
            <a:off x="0" y="0"/>
            <a:ext cx="12192000" cy="38100"/>
          </a:xfrm>
          <a:prstGeom prst="rect">
            <a:avLst/>
          </a:prstGeom>
          <a:solidFill>
            <a:srgbClr val="1E5AA8"/>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38" name="Google Shape;138;p6">
            <a:extLst>
              <a:ext uri="{FF2B5EF4-FFF2-40B4-BE49-F238E27FC236}">
                <a16:creationId xmlns:a16="http://schemas.microsoft.com/office/drawing/2014/main" id="{DDF0D747-EF4E-66FD-81E3-9041BD4D35E9}"/>
              </a:ext>
            </a:extLst>
          </p:cNvPr>
          <p:cNvSpPr/>
          <p:nvPr/>
        </p:nvSpPr>
        <p:spPr>
          <a:xfrm>
            <a:off x="571500" y="238125"/>
            <a:ext cx="11049000" cy="447675"/>
          </a:xfrm>
          <a:prstGeom prst="rect">
            <a:avLst/>
          </a:prstGeom>
          <a:noFill/>
          <a:ln>
            <a:noFill/>
          </a:ln>
        </p:spPr>
        <p:txBody>
          <a:bodyPr spcFirstLastPara="1" wrap="square" lIns="0" tIns="0" rIns="0" bIns="0" anchor="ctr" anchorCtr="0">
            <a:noAutofit/>
          </a:bodyPr>
          <a:lstStyle/>
          <a:p>
            <a:pPr defTabSz="685800">
              <a:buClr>
                <a:srgbClr val="000000"/>
              </a:buClr>
            </a:pPr>
            <a:r>
              <a:rPr lang="en-US" sz="2400" b="1" kern="0" dirty="0">
                <a:solidFill>
                  <a:srgbClr val="4472C4"/>
                </a:solidFill>
                <a:latin typeface="Arial"/>
                <a:cs typeface="Arial"/>
                <a:sym typeface="Arial"/>
              </a:rPr>
              <a:t>Second Generation (2G) Cellular Networks</a:t>
            </a:r>
            <a:endParaRPr lang="en-IN" sz="2400" kern="0" dirty="0">
              <a:solidFill>
                <a:srgbClr val="4472C4"/>
              </a:solidFill>
              <a:latin typeface="Arial"/>
              <a:cs typeface="Arial"/>
              <a:sym typeface="Arial"/>
            </a:endParaRPr>
          </a:p>
        </p:txBody>
      </p:sp>
      <p:sp>
        <p:nvSpPr>
          <p:cNvPr id="139" name="Google Shape;139;p6">
            <a:extLst>
              <a:ext uri="{FF2B5EF4-FFF2-40B4-BE49-F238E27FC236}">
                <a16:creationId xmlns:a16="http://schemas.microsoft.com/office/drawing/2014/main" id="{7DBB5194-0832-9F25-AB9F-AE74B9D86D45}"/>
              </a:ext>
            </a:extLst>
          </p:cNvPr>
          <p:cNvSpPr/>
          <p:nvPr/>
        </p:nvSpPr>
        <p:spPr>
          <a:xfrm>
            <a:off x="571500" y="704850"/>
            <a:ext cx="1714500" cy="28575"/>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44" name="Google Shape;144;p6">
            <a:extLst>
              <a:ext uri="{FF2B5EF4-FFF2-40B4-BE49-F238E27FC236}">
                <a16:creationId xmlns:a16="http://schemas.microsoft.com/office/drawing/2014/main" id="{21B90741-273A-80DE-9B80-C5C55CCD28D7}"/>
              </a:ext>
            </a:extLst>
          </p:cNvPr>
          <p:cNvSpPr/>
          <p:nvPr/>
        </p:nvSpPr>
        <p:spPr>
          <a:xfrm>
            <a:off x="904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More Users</a:t>
            </a:r>
            <a:endParaRPr sz="1200" kern="0">
              <a:solidFill>
                <a:srgbClr val="000000"/>
              </a:solidFill>
              <a:latin typeface="Arial"/>
              <a:cs typeface="Arial"/>
              <a:sym typeface="Arial"/>
            </a:endParaRPr>
          </a:p>
        </p:txBody>
      </p:sp>
      <p:sp>
        <p:nvSpPr>
          <p:cNvPr id="147" name="Google Shape;147;p6">
            <a:extLst>
              <a:ext uri="{FF2B5EF4-FFF2-40B4-BE49-F238E27FC236}">
                <a16:creationId xmlns:a16="http://schemas.microsoft.com/office/drawing/2014/main" id="{C65CAAE0-7DC7-CCDB-0FF8-3B19F0E9E533}"/>
              </a:ext>
            </a:extLst>
          </p:cNvPr>
          <p:cNvSpPr/>
          <p:nvPr/>
        </p:nvSpPr>
        <p:spPr>
          <a:xfrm>
            <a:off x="30956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125" b="1" kern="0" dirty="0">
                <a:solidFill>
                  <a:srgbClr val="FFFFFF"/>
                </a:solidFill>
                <a:latin typeface="Quattrocento Sans"/>
                <a:ea typeface="Quattrocento Sans"/>
                <a:cs typeface="Quattrocento Sans"/>
                <a:sym typeface="Quattrocento Sans"/>
              </a:rPr>
              <a:t>Beer Spectrum</a:t>
            </a:r>
            <a:endParaRPr sz="1125" kern="0" dirty="0">
              <a:solidFill>
                <a:srgbClr val="000000"/>
              </a:solidFill>
              <a:latin typeface="Arial"/>
              <a:cs typeface="Arial"/>
              <a:sym typeface="Arial"/>
            </a:endParaRPr>
          </a:p>
        </p:txBody>
      </p:sp>
      <p:sp>
        <p:nvSpPr>
          <p:cNvPr id="150" name="Google Shape;150;p6">
            <a:extLst>
              <a:ext uri="{FF2B5EF4-FFF2-40B4-BE49-F238E27FC236}">
                <a16:creationId xmlns:a16="http://schemas.microsoft.com/office/drawing/2014/main" id="{EA2D7134-E099-FEF3-8D00-DC75A9578BA5}"/>
              </a:ext>
            </a:extLst>
          </p:cNvPr>
          <p:cNvSpPr/>
          <p:nvPr/>
        </p:nvSpPr>
        <p:spPr>
          <a:xfrm>
            <a:off x="52863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Capacity</a:t>
            </a:r>
            <a:endParaRPr sz="1200" kern="0">
              <a:solidFill>
                <a:srgbClr val="000000"/>
              </a:solidFill>
              <a:latin typeface="Arial"/>
              <a:cs typeface="Arial"/>
              <a:sym typeface="Arial"/>
            </a:endParaRPr>
          </a:p>
        </p:txBody>
      </p:sp>
      <p:sp>
        <p:nvSpPr>
          <p:cNvPr id="153" name="Google Shape;153;p6">
            <a:extLst>
              <a:ext uri="{FF2B5EF4-FFF2-40B4-BE49-F238E27FC236}">
                <a16:creationId xmlns:a16="http://schemas.microsoft.com/office/drawing/2014/main" id="{4BB06029-F6C2-90D6-C074-E996B5DDEC90}"/>
              </a:ext>
            </a:extLst>
          </p:cNvPr>
          <p:cNvSpPr/>
          <p:nvPr/>
        </p:nvSpPr>
        <p:spPr>
          <a:xfrm>
            <a:off x="74771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Speed</a:t>
            </a:r>
            <a:endParaRPr sz="1200" kern="0">
              <a:solidFill>
                <a:srgbClr val="000000"/>
              </a:solidFill>
              <a:latin typeface="Arial"/>
              <a:cs typeface="Arial"/>
              <a:sym typeface="Arial"/>
            </a:endParaRPr>
          </a:p>
        </p:txBody>
      </p:sp>
      <p:sp>
        <p:nvSpPr>
          <p:cNvPr id="156" name="Google Shape;156;p6">
            <a:extLst>
              <a:ext uri="{FF2B5EF4-FFF2-40B4-BE49-F238E27FC236}">
                <a16:creationId xmlns:a16="http://schemas.microsoft.com/office/drawing/2014/main" id="{4AF8A84C-5070-77FE-AF0D-E73B9A51171D}"/>
              </a:ext>
            </a:extLst>
          </p:cNvPr>
          <p:cNvSpPr/>
          <p:nvPr/>
        </p:nvSpPr>
        <p:spPr>
          <a:xfrm>
            <a:off x="9667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050" b="1" kern="0">
                <a:solidFill>
                  <a:srgbClr val="FFFFFF"/>
                </a:solidFill>
                <a:latin typeface="Quattrocento Sans"/>
                <a:ea typeface="Quattrocento Sans"/>
                <a:cs typeface="Quattrocento Sans"/>
                <a:sym typeface="Quattrocento Sans"/>
              </a:rPr>
              <a:t>Better Experience</a:t>
            </a:r>
            <a:endParaRPr sz="1050" kern="0">
              <a:solidFill>
                <a:srgbClr val="000000"/>
              </a:solidFill>
              <a:latin typeface="Arial"/>
              <a:cs typeface="Arial"/>
              <a:sym typeface="Arial"/>
            </a:endParaRPr>
          </a:p>
        </p:txBody>
      </p:sp>
      <p:sp>
        <p:nvSpPr>
          <p:cNvPr id="157" name="Google Shape;157;p6">
            <a:extLst>
              <a:ext uri="{FF2B5EF4-FFF2-40B4-BE49-F238E27FC236}">
                <a16:creationId xmlns:a16="http://schemas.microsoft.com/office/drawing/2014/main" id="{6BCDD760-55B4-AF46-E29E-E6F6D0DBE827}"/>
              </a:ext>
            </a:extLst>
          </p:cNvPr>
          <p:cNvSpPr/>
          <p:nvPr/>
        </p:nvSpPr>
        <p:spPr>
          <a:xfrm>
            <a:off x="571500" y="5486400"/>
            <a:ext cx="11354446" cy="800100"/>
          </a:xfrm>
          <a:prstGeom prst="roundRect">
            <a:avLst>
              <a:gd name="adj" fmla="val 5000"/>
            </a:avLst>
          </a:prstGeom>
          <a:solidFill>
            <a:srgbClr val="F0F4F8"/>
          </a:solidFill>
          <a:ln w="12700" cap="flat" cmpd="sng">
            <a:solidFill>
              <a:srgbClr val="D0D5DD"/>
            </a:solidFill>
            <a:prstDash val="solid"/>
            <a:round/>
            <a:headEnd type="none" w="sm" len="sm"/>
            <a:tailEnd type="none" w="sm" len="sm"/>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58" name="Google Shape;158;p6">
            <a:extLst>
              <a:ext uri="{FF2B5EF4-FFF2-40B4-BE49-F238E27FC236}">
                <a16:creationId xmlns:a16="http://schemas.microsoft.com/office/drawing/2014/main" id="{621B998B-AC53-F9DC-FEAB-1A8D28105190}"/>
              </a:ext>
            </a:extLst>
          </p:cNvPr>
          <p:cNvSpPr/>
          <p:nvPr/>
        </p:nvSpPr>
        <p:spPr>
          <a:xfrm>
            <a:off x="809625" y="5648325"/>
            <a:ext cx="266700" cy="266700"/>
          </a:xfrm>
          <a:custGeom>
            <a:avLst/>
            <a:gdLst/>
            <a:ahLst/>
            <a:cxnLst/>
            <a:rect l="l" t="t" r="r" b="b"/>
            <a:pathLst>
              <a:path w="355600" h="355600" extrusionOk="0">
                <a:moveTo>
                  <a:pt x="0" y="150019"/>
                </a:moveTo>
                <a:cubicBezTo>
                  <a:pt x="0" y="103971"/>
                  <a:pt x="42624" y="66675"/>
                  <a:pt x="95250" y="66675"/>
                </a:cubicBezTo>
                <a:lnTo>
                  <a:pt x="101600" y="66675"/>
                </a:lnTo>
                <a:cubicBezTo>
                  <a:pt x="115649" y="66675"/>
                  <a:pt x="127000" y="76607"/>
                  <a:pt x="127000" y="88900"/>
                </a:cubicBezTo>
                <a:cubicBezTo>
                  <a:pt x="127000" y="101193"/>
                  <a:pt x="115649" y="111125"/>
                  <a:pt x="101600" y="111125"/>
                </a:cubicBezTo>
                <a:lnTo>
                  <a:pt x="95250" y="111125"/>
                </a:lnTo>
                <a:cubicBezTo>
                  <a:pt x="70723" y="111125"/>
                  <a:pt x="50800" y="128558"/>
                  <a:pt x="50800" y="150019"/>
                </a:cubicBezTo>
                <a:lnTo>
                  <a:pt x="50800" y="155575"/>
                </a:lnTo>
                <a:lnTo>
                  <a:pt x="101600" y="155575"/>
                </a:lnTo>
                <a:cubicBezTo>
                  <a:pt x="129619" y="155575"/>
                  <a:pt x="152400" y="175508"/>
                  <a:pt x="152400" y="200025"/>
                </a:cubicBezTo>
                <a:lnTo>
                  <a:pt x="152400" y="244475"/>
                </a:lnTo>
                <a:cubicBezTo>
                  <a:pt x="152400" y="268992"/>
                  <a:pt x="129619" y="288925"/>
                  <a:pt x="101600" y="288925"/>
                </a:cubicBezTo>
                <a:lnTo>
                  <a:pt x="50800" y="288925"/>
                </a:lnTo>
                <a:cubicBezTo>
                  <a:pt x="22781" y="288925"/>
                  <a:pt x="0" y="268992"/>
                  <a:pt x="0" y="244475"/>
                </a:cubicBezTo>
                <a:lnTo>
                  <a:pt x="0" y="150019"/>
                </a:lnTo>
                <a:close/>
                <a:moveTo>
                  <a:pt x="203200" y="150019"/>
                </a:moveTo>
                <a:cubicBezTo>
                  <a:pt x="203200" y="103971"/>
                  <a:pt x="245824" y="66675"/>
                  <a:pt x="298450" y="66675"/>
                </a:cubicBezTo>
                <a:lnTo>
                  <a:pt x="304800" y="66675"/>
                </a:lnTo>
                <a:cubicBezTo>
                  <a:pt x="318849" y="66675"/>
                  <a:pt x="330200" y="76607"/>
                  <a:pt x="330200" y="88900"/>
                </a:cubicBezTo>
                <a:cubicBezTo>
                  <a:pt x="330200" y="101193"/>
                  <a:pt x="318849" y="111125"/>
                  <a:pt x="304800" y="111125"/>
                </a:cubicBezTo>
                <a:lnTo>
                  <a:pt x="298450" y="111125"/>
                </a:lnTo>
                <a:cubicBezTo>
                  <a:pt x="273923" y="111125"/>
                  <a:pt x="254000" y="128558"/>
                  <a:pt x="254000" y="150019"/>
                </a:cubicBezTo>
                <a:lnTo>
                  <a:pt x="254000" y="155575"/>
                </a:lnTo>
                <a:lnTo>
                  <a:pt x="304800" y="155575"/>
                </a:lnTo>
                <a:cubicBezTo>
                  <a:pt x="332819" y="155575"/>
                  <a:pt x="355600" y="175508"/>
                  <a:pt x="355600" y="200025"/>
                </a:cubicBezTo>
                <a:lnTo>
                  <a:pt x="355600" y="244475"/>
                </a:lnTo>
                <a:cubicBezTo>
                  <a:pt x="355600" y="268992"/>
                  <a:pt x="332819" y="288925"/>
                  <a:pt x="304800" y="288925"/>
                </a:cubicBezTo>
                <a:lnTo>
                  <a:pt x="254000" y="288925"/>
                </a:lnTo>
                <a:cubicBezTo>
                  <a:pt x="225981" y="288925"/>
                  <a:pt x="203200" y="268992"/>
                  <a:pt x="203200" y="244475"/>
                </a:cubicBezTo>
                <a:lnTo>
                  <a:pt x="203200" y="150019"/>
                </a:lnTo>
                <a:close/>
              </a:path>
            </a:pathLst>
          </a:custGeom>
          <a:solidFill>
            <a:srgbClr val="1E5AA8"/>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59" name="Google Shape;159;p6">
            <a:extLst>
              <a:ext uri="{FF2B5EF4-FFF2-40B4-BE49-F238E27FC236}">
                <a16:creationId xmlns:a16="http://schemas.microsoft.com/office/drawing/2014/main" id="{4C7BFDFD-746C-857F-0D05-91C71024863B}"/>
              </a:ext>
            </a:extLst>
          </p:cNvPr>
          <p:cNvSpPr/>
          <p:nvPr/>
        </p:nvSpPr>
        <p:spPr>
          <a:xfrm>
            <a:off x="1190625" y="5543550"/>
            <a:ext cx="10191750" cy="723900"/>
          </a:xfrm>
          <a:prstGeom prst="rect">
            <a:avLst/>
          </a:prstGeom>
          <a:noFill/>
          <a:ln>
            <a:noFill/>
          </a:ln>
        </p:spPr>
        <p:txBody>
          <a:bodyPr spcFirstLastPara="1" wrap="square" lIns="0" tIns="0" rIns="0" bIns="0" anchor="ctr" anchorCtr="0">
            <a:noAutofit/>
          </a:bodyPr>
          <a:lstStyle/>
          <a:p>
            <a:pPr defTabSz="685800">
              <a:buClr>
                <a:srgbClr val="000000"/>
              </a:buClr>
            </a:pPr>
            <a:r>
              <a:rPr lang="en-US" sz="1500" b="1" kern="0" dirty="0">
                <a:solidFill>
                  <a:srgbClr val="4472C4"/>
                </a:solidFill>
                <a:latin typeface="Arial"/>
                <a:cs typeface="Arial"/>
                <a:sym typeface="Arial"/>
              </a:rPr>
              <a:t>The most successful and widely adopted 2G technology was GSM, which became the global standard for digital mobile communications.</a:t>
            </a:r>
            <a:endParaRPr lang="en-IN" sz="1500" kern="0" dirty="0">
              <a:solidFill>
                <a:srgbClr val="4472C4"/>
              </a:solidFill>
              <a:latin typeface="Arial"/>
              <a:cs typeface="Arial"/>
              <a:sym typeface="Arial"/>
            </a:endParaRPr>
          </a:p>
        </p:txBody>
      </p:sp>
      <p:sp>
        <p:nvSpPr>
          <p:cNvPr id="160" name="Google Shape;160;p6">
            <a:extLst>
              <a:ext uri="{FF2B5EF4-FFF2-40B4-BE49-F238E27FC236}">
                <a16:creationId xmlns:a16="http://schemas.microsoft.com/office/drawing/2014/main" id="{04EB5967-C0C0-2D20-CADC-9A5A1E11E187}"/>
              </a:ext>
            </a:extLst>
          </p:cNvPr>
          <p:cNvSpPr/>
          <p:nvPr/>
        </p:nvSpPr>
        <p:spPr>
          <a:xfrm>
            <a:off x="571500" y="6457950"/>
            <a:ext cx="11049000" cy="9525"/>
          </a:xfrm>
          <a:prstGeom prst="rect">
            <a:avLst/>
          </a:prstGeom>
          <a:solidFill>
            <a:srgbClr val="D0D5DD"/>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 name="Google Shape;161;p6">
            <a:extLst>
              <a:ext uri="{FF2B5EF4-FFF2-40B4-BE49-F238E27FC236}">
                <a16:creationId xmlns:a16="http://schemas.microsoft.com/office/drawing/2014/main" id="{E1E2D097-4822-B563-7A2F-53803A165659}"/>
              </a:ext>
            </a:extLst>
          </p:cNvPr>
          <p:cNvSpPr/>
          <p:nvPr/>
        </p:nvSpPr>
        <p:spPr>
          <a:xfrm>
            <a:off x="571500" y="6524625"/>
            <a:ext cx="2381250" cy="228600"/>
          </a:xfrm>
          <a:prstGeom prst="rect">
            <a:avLst/>
          </a:prstGeom>
          <a:noFill/>
          <a:ln>
            <a:noFill/>
          </a:ln>
        </p:spPr>
        <p:txBody>
          <a:bodyPr spcFirstLastPara="1" wrap="square" lIns="0" tIns="0" rIns="0" bIns="0" anchor="ctr" anchorCtr="0">
            <a:noAutofit/>
          </a:bodyPr>
          <a:lstStyle/>
          <a:p>
            <a:pPr defTabSz="685800">
              <a:lnSpc>
                <a:spcPct val="140000"/>
              </a:lnSpc>
              <a:buClr>
                <a:srgbClr val="000000"/>
              </a:buClr>
            </a:pPr>
            <a:r>
              <a:rPr lang="en-US" sz="1050" kern="0" dirty="0">
                <a:solidFill>
                  <a:srgbClr val="6B7280"/>
                </a:solidFill>
                <a:latin typeface="Quattrocento Sans"/>
                <a:ea typeface="Quattrocento Sans"/>
                <a:cs typeface="Quattrocento Sans"/>
                <a:sym typeface="Quattrocento Sans"/>
              </a:rPr>
              <a:t>Part II</a:t>
            </a:r>
            <a:endParaRPr sz="1050" kern="0" dirty="0">
              <a:solidFill>
                <a:srgbClr val="000000"/>
              </a:solidFill>
              <a:latin typeface="Arial"/>
              <a:cs typeface="Arial"/>
              <a:sym typeface="Arial"/>
            </a:endParaRPr>
          </a:p>
        </p:txBody>
      </p:sp>
      <p:sp>
        <p:nvSpPr>
          <p:cNvPr id="2" name="TextBox 1">
            <a:extLst>
              <a:ext uri="{FF2B5EF4-FFF2-40B4-BE49-F238E27FC236}">
                <a16:creationId xmlns:a16="http://schemas.microsoft.com/office/drawing/2014/main" id="{48CAC110-EE86-AAF6-0717-C740C4A33DFF}"/>
              </a:ext>
            </a:extLst>
          </p:cNvPr>
          <p:cNvSpPr txBox="1"/>
          <p:nvPr/>
        </p:nvSpPr>
        <p:spPr>
          <a:xfrm>
            <a:off x="571500" y="859536"/>
            <a:ext cx="5911596" cy="4278094"/>
          </a:xfrm>
          <a:prstGeom prst="rect">
            <a:avLst/>
          </a:prstGeom>
          <a:noFill/>
        </p:spPr>
        <p:txBody>
          <a:bodyPr wrap="square" rtlCol="0">
            <a:spAutoFit/>
          </a:bodyPr>
          <a:lstStyle/>
          <a:p>
            <a:r>
              <a:rPr lang="en-US" sz="1600" dirty="0"/>
              <a:t>The Second Generation (2G) of cellular networks marked the transition from analog to digital mobile communication. Introduced in the early 1990s, 2G significantly improved voice quality, increased network capacity, enhanced security, and introduced new services such as Short Message Service (SMS). The Subscriber Identity Module (SIM) stored the subscriber's identity (IMSI) and cryptographic authentication key was also introduced during this period.</a:t>
            </a:r>
          </a:p>
          <a:p>
            <a:endParaRPr lang="en-US" sz="1600" dirty="0"/>
          </a:p>
          <a:p>
            <a:r>
              <a:rPr lang="en-IN" sz="1600" b="1" u="sng" dirty="0"/>
              <a:t>Key Features of 2GDigital cellular communication</a:t>
            </a:r>
          </a:p>
          <a:p>
            <a:pPr marL="285750" indent="-285750">
              <a:buFont typeface="Arial" panose="020B0604020202020204" pitchFamily="34" charset="0"/>
              <a:buChar char="•"/>
            </a:pPr>
            <a:r>
              <a:rPr lang="en-IN" sz="1600" dirty="0"/>
              <a:t>Improved voice quality</a:t>
            </a:r>
          </a:p>
          <a:p>
            <a:pPr marL="285750" indent="-285750">
              <a:buFont typeface="Arial" panose="020B0604020202020204" pitchFamily="34" charset="0"/>
              <a:buChar char="•"/>
            </a:pPr>
            <a:r>
              <a:rPr lang="en-IN" sz="1600" dirty="0"/>
              <a:t>Better spectral efficiency</a:t>
            </a:r>
          </a:p>
          <a:p>
            <a:pPr marL="285750" indent="-285750">
              <a:buFont typeface="Arial" panose="020B0604020202020204" pitchFamily="34" charset="0"/>
              <a:buChar char="•"/>
            </a:pPr>
            <a:r>
              <a:rPr lang="en-IN" sz="1600" dirty="0"/>
              <a:t>Enhanced security through encryption</a:t>
            </a:r>
          </a:p>
          <a:p>
            <a:pPr marL="285750" indent="-285750">
              <a:buFont typeface="Arial" panose="020B0604020202020204" pitchFamily="34" charset="0"/>
              <a:buChar char="•"/>
            </a:pPr>
            <a:r>
              <a:rPr lang="en-IN" sz="1600" dirty="0"/>
              <a:t>Support for SMS (Short Message Service)</a:t>
            </a:r>
          </a:p>
          <a:p>
            <a:pPr marL="285750" indent="-285750">
              <a:buFont typeface="Arial" panose="020B0604020202020204" pitchFamily="34" charset="0"/>
              <a:buChar char="•"/>
            </a:pPr>
            <a:r>
              <a:rPr lang="en-IN" sz="1600" dirty="0"/>
              <a:t>Improved battery life</a:t>
            </a:r>
          </a:p>
          <a:p>
            <a:pPr marL="285750" indent="-285750">
              <a:buFont typeface="Arial" panose="020B0604020202020204" pitchFamily="34" charset="0"/>
              <a:buChar char="•"/>
            </a:pPr>
            <a:r>
              <a:rPr lang="en-IN" sz="1600" dirty="0"/>
              <a:t>Higher network capacity</a:t>
            </a:r>
          </a:p>
          <a:p>
            <a:pPr marL="285750" indent="-285750">
              <a:buFont typeface="Arial" panose="020B0604020202020204" pitchFamily="34" charset="0"/>
              <a:buChar char="•"/>
            </a:pPr>
            <a:r>
              <a:rPr lang="en-IN" sz="1600" dirty="0"/>
              <a:t>International roaming support through GSM</a:t>
            </a:r>
          </a:p>
        </p:txBody>
      </p:sp>
      <p:graphicFrame>
        <p:nvGraphicFramePr>
          <p:cNvPr id="4" name="Table 3">
            <a:extLst>
              <a:ext uri="{FF2B5EF4-FFF2-40B4-BE49-F238E27FC236}">
                <a16:creationId xmlns:a16="http://schemas.microsoft.com/office/drawing/2014/main" id="{1E044C61-EC6D-5238-D8CF-15CD67DE14F1}"/>
              </a:ext>
            </a:extLst>
          </p:cNvPr>
          <p:cNvGraphicFramePr>
            <a:graphicFrameLocks noGrp="1"/>
          </p:cNvGraphicFramePr>
          <p:nvPr>
            <p:extLst>
              <p:ext uri="{D42A27DB-BD31-4B8C-83A1-F6EECF244321}">
                <p14:modId xmlns:p14="http://schemas.microsoft.com/office/powerpoint/2010/main" val="1836029621"/>
              </p:ext>
            </p:extLst>
          </p:nvPr>
        </p:nvGraphicFramePr>
        <p:xfrm>
          <a:off x="6286500" y="2689860"/>
          <a:ext cx="5639446" cy="2204037"/>
        </p:xfrm>
        <a:graphic>
          <a:graphicData uri="http://schemas.openxmlformats.org/drawingml/2006/table">
            <a:tbl>
              <a:tblPr firstRow="1" bandRow="1">
                <a:tableStyleId>{5C22544A-7EE6-4342-B048-85BDC9FD1C3A}</a:tableStyleId>
              </a:tblPr>
              <a:tblGrid>
                <a:gridCol w="2819723">
                  <a:extLst>
                    <a:ext uri="{9D8B030D-6E8A-4147-A177-3AD203B41FA5}">
                      <a16:colId xmlns:a16="http://schemas.microsoft.com/office/drawing/2014/main" val="4150655226"/>
                    </a:ext>
                  </a:extLst>
                </a:gridCol>
                <a:gridCol w="2819723">
                  <a:extLst>
                    <a:ext uri="{9D8B030D-6E8A-4147-A177-3AD203B41FA5}">
                      <a16:colId xmlns:a16="http://schemas.microsoft.com/office/drawing/2014/main" val="2119296548"/>
                    </a:ext>
                  </a:extLst>
                </a:gridCol>
              </a:tblGrid>
              <a:tr h="466677">
                <a:tc>
                  <a:txBody>
                    <a:bodyPr/>
                    <a:lstStyle/>
                    <a:p>
                      <a:r>
                        <a:rPr lang="en-IN" sz="1600" b="0" dirty="0"/>
                        <a:t>Region</a:t>
                      </a:r>
                    </a:p>
                  </a:txBody>
                  <a:tcPr/>
                </a:tc>
                <a:tc>
                  <a:txBody>
                    <a:bodyPr/>
                    <a:lstStyle/>
                    <a:p>
                      <a:r>
                        <a:rPr lang="en-IN" sz="1600" b="0" dirty="0"/>
                        <a:t>Standard</a:t>
                      </a:r>
                    </a:p>
                  </a:txBody>
                  <a:tcPr/>
                </a:tc>
                <a:extLst>
                  <a:ext uri="{0D108BD9-81ED-4DB2-BD59-A6C34878D82A}">
                    <a16:rowId xmlns:a16="http://schemas.microsoft.com/office/drawing/2014/main" val="2821255699"/>
                  </a:ext>
                </a:extLst>
              </a:tr>
              <a:tr h="466677">
                <a:tc>
                  <a:txBody>
                    <a:bodyPr/>
                    <a:lstStyle/>
                    <a:p>
                      <a:r>
                        <a:rPr lang="en-IN" sz="1600" b="0" dirty="0"/>
                        <a:t>Europe</a:t>
                      </a:r>
                    </a:p>
                  </a:txBody>
                  <a:tcPr/>
                </a:tc>
                <a:tc>
                  <a:txBody>
                    <a:bodyPr/>
                    <a:lstStyle/>
                    <a:p>
                      <a:r>
                        <a:rPr lang="en-IN" sz="1600" b="0" dirty="0"/>
                        <a:t>GSM (Global System for Mobile Communications)</a:t>
                      </a:r>
                    </a:p>
                  </a:txBody>
                  <a:tcPr/>
                </a:tc>
                <a:extLst>
                  <a:ext uri="{0D108BD9-81ED-4DB2-BD59-A6C34878D82A}">
                    <a16:rowId xmlns:a16="http://schemas.microsoft.com/office/drawing/2014/main" val="937640395"/>
                  </a:ext>
                </a:extLst>
              </a:tr>
              <a:tr h="466677">
                <a:tc>
                  <a:txBody>
                    <a:bodyPr/>
                    <a:lstStyle/>
                    <a:p>
                      <a:r>
                        <a:rPr lang="en-IN" sz="1600" b="0" dirty="0"/>
                        <a:t>North America</a:t>
                      </a:r>
                    </a:p>
                  </a:txBody>
                  <a:tcPr/>
                </a:tc>
                <a:tc>
                  <a:txBody>
                    <a:bodyPr/>
                    <a:lstStyle/>
                    <a:p>
                      <a:r>
                        <a:rPr lang="en-IN" sz="1600" b="0" dirty="0"/>
                        <a:t>IS-54 (D-AMPS), IS-95 (</a:t>
                      </a:r>
                      <a:r>
                        <a:rPr lang="en-IN" sz="1600" b="0" dirty="0" err="1"/>
                        <a:t>cdmaOne</a:t>
                      </a:r>
                      <a:r>
                        <a:rPr lang="en-IN" sz="1600" b="0" dirty="0"/>
                        <a:t>)</a:t>
                      </a:r>
                    </a:p>
                  </a:txBody>
                  <a:tcPr/>
                </a:tc>
                <a:extLst>
                  <a:ext uri="{0D108BD9-81ED-4DB2-BD59-A6C34878D82A}">
                    <a16:rowId xmlns:a16="http://schemas.microsoft.com/office/drawing/2014/main" val="3842604438"/>
                  </a:ext>
                </a:extLst>
              </a:tr>
              <a:tr h="466677">
                <a:tc>
                  <a:txBody>
                    <a:bodyPr/>
                    <a:lstStyle/>
                    <a:p>
                      <a:r>
                        <a:rPr lang="en-IN" sz="1600" b="0" dirty="0"/>
                        <a:t>Japan</a:t>
                      </a:r>
                    </a:p>
                  </a:txBody>
                  <a:tcPr/>
                </a:tc>
                <a:tc>
                  <a:txBody>
                    <a:bodyPr/>
                    <a:lstStyle/>
                    <a:p>
                      <a:r>
                        <a:rPr lang="en-IN" sz="1600" b="0" dirty="0"/>
                        <a:t>PDC (Personal Digital Cellular)</a:t>
                      </a:r>
                    </a:p>
                  </a:txBody>
                  <a:tcPr/>
                </a:tc>
                <a:extLst>
                  <a:ext uri="{0D108BD9-81ED-4DB2-BD59-A6C34878D82A}">
                    <a16:rowId xmlns:a16="http://schemas.microsoft.com/office/drawing/2014/main" val="3154755386"/>
                  </a:ext>
                </a:extLst>
              </a:tr>
            </a:tbl>
          </a:graphicData>
        </a:graphic>
      </p:graphicFrame>
    </p:spTree>
    <p:extLst>
      <p:ext uri="{BB962C8B-B14F-4D97-AF65-F5344CB8AC3E}">
        <p14:creationId xmlns:p14="http://schemas.microsoft.com/office/powerpoint/2010/main" val="194209542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FB716B46-FF85-835C-3C71-9E8A3EF31158}"/>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E402B195-222D-CABB-0E8B-546C3898BBBC}"/>
              </a:ext>
            </a:extLst>
          </p:cNvPr>
          <p:cNvSpPr/>
          <p:nvPr/>
        </p:nvSpPr>
        <p:spPr>
          <a:xfrm>
            <a:off x="0" y="0"/>
            <a:ext cx="12192000" cy="38100"/>
          </a:xfrm>
          <a:prstGeom prst="rect">
            <a:avLst/>
          </a:prstGeom>
          <a:solidFill>
            <a:srgbClr val="1E5AA8"/>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38" name="Google Shape;138;p6">
            <a:extLst>
              <a:ext uri="{FF2B5EF4-FFF2-40B4-BE49-F238E27FC236}">
                <a16:creationId xmlns:a16="http://schemas.microsoft.com/office/drawing/2014/main" id="{DB4DE29E-EE5F-B893-5DF1-8F7D1F618D45}"/>
              </a:ext>
            </a:extLst>
          </p:cNvPr>
          <p:cNvSpPr/>
          <p:nvPr/>
        </p:nvSpPr>
        <p:spPr>
          <a:xfrm>
            <a:off x="571500" y="238125"/>
            <a:ext cx="11049000" cy="447675"/>
          </a:xfrm>
          <a:prstGeom prst="rect">
            <a:avLst/>
          </a:prstGeom>
          <a:noFill/>
          <a:ln>
            <a:noFill/>
          </a:ln>
        </p:spPr>
        <p:txBody>
          <a:bodyPr spcFirstLastPara="1" wrap="square" lIns="0" tIns="0" rIns="0" bIns="0" anchor="ctr" anchorCtr="0">
            <a:noAutofit/>
          </a:bodyPr>
          <a:lstStyle/>
          <a:p>
            <a:pPr defTabSz="685800">
              <a:buClr>
                <a:srgbClr val="000000"/>
              </a:buClr>
            </a:pPr>
            <a:r>
              <a:rPr lang="en-US" sz="2400" b="1" kern="0" dirty="0">
                <a:solidFill>
                  <a:srgbClr val="4472C4"/>
                </a:solidFill>
                <a:latin typeface="Arial"/>
                <a:cs typeface="Arial"/>
                <a:sym typeface="Arial"/>
              </a:rPr>
              <a:t>Second Generation (2G) Cellular Networks</a:t>
            </a:r>
            <a:endParaRPr lang="en-IN" sz="2400" kern="0" dirty="0">
              <a:solidFill>
                <a:srgbClr val="4472C4"/>
              </a:solidFill>
              <a:latin typeface="Arial"/>
              <a:cs typeface="Arial"/>
              <a:sym typeface="Arial"/>
            </a:endParaRPr>
          </a:p>
        </p:txBody>
      </p:sp>
      <p:sp>
        <p:nvSpPr>
          <p:cNvPr id="139" name="Google Shape;139;p6">
            <a:extLst>
              <a:ext uri="{FF2B5EF4-FFF2-40B4-BE49-F238E27FC236}">
                <a16:creationId xmlns:a16="http://schemas.microsoft.com/office/drawing/2014/main" id="{B28F13ED-8762-5B85-7119-1FA06EA08287}"/>
              </a:ext>
            </a:extLst>
          </p:cNvPr>
          <p:cNvSpPr/>
          <p:nvPr/>
        </p:nvSpPr>
        <p:spPr>
          <a:xfrm>
            <a:off x="571500" y="704850"/>
            <a:ext cx="1714500" cy="28575"/>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47" name="Google Shape;147;p6">
            <a:extLst>
              <a:ext uri="{FF2B5EF4-FFF2-40B4-BE49-F238E27FC236}">
                <a16:creationId xmlns:a16="http://schemas.microsoft.com/office/drawing/2014/main" id="{9B7A55E5-6947-B057-A4AB-6CD273F6FC14}"/>
              </a:ext>
            </a:extLst>
          </p:cNvPr>
          <p:cNvSpPr/>
          <p:nvPr/>
        </p:nvSpPr>
        <p:spPr>
          <a:xfrm>
            <a:off x="30956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125" b="1" kern="0" dirty="0">
                <a:solidFill>
                  <a:srgbClr val="FFFFFF"/>
                </a:solidFill>
                <a:latin typeface="Quattrocento Sans"/>
                <a:ea typeface="Quattrocento Sans"/>
                <a:cs typeface="Quattrocento Sans"/>
                <a:sym typeface="Quattrocento Sans"/>
              </a:rPr>
              <a:t>Beer Spectrum</a:t>
            </a:r>
            <a:endParaRPr sz="1125" kern="0" dirty="0">
              <a:solidFill>
                <a:srgbClr val="000000"/>
              </a:solidFill>
              <a:latin typeface="Arial"/>
              <a:cs typeface="Arial"/>
              <a:sym typeface="Arial"/>
            </a:endParaRPr>
          </a:p>
        </p:txBody>
      </p:sp>
      <p:sp>
        <p:nvSpPr>
          <p:cNvPr id="150" name="Google Shape;150;p6">
            <a:extLst>
              <a:ext uri="{FF2B5EF4-FFF2-40B4-BE49-F238E27FC236}">
                <a16:creationId xmlns:a16="http://schemas.microsoft.com/office/drawing/2014/main" id="{D3BB415E-7781-FF9E-AF07-6575560D416D}"/>
              </a:ext>
            </a:extLst>
          </p:cNvPr>
          <p:cNvSpPr/>
          <p:nvPr/>
        </p:nvSpPr>
        <p:spPr>
          <a:xfrm>
            <a:off x="52863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Capacity</a:t>
            </a:r>
            <a:endParaRPr sz="1200" kern="0">
              <a:solidFill>
                <a:srgbClr val="000000"/>
              </a:solidFill>
              <a:latin typeface="Arial"/>
              <a:cs typeface="Arial"/>
              <a:sym typeface="Arial"/>
            </a:endParaRPr>
          </a:p>
        </p:txBody>
      </p:sp>
      <p:sp>
        <p:nvSpPr>
          <p:cNvPr id="153" name="Google Shape;153;p6">
            <a:extLst>
              <a:ext uri="{FF2B5EF4-FFF2-40B4-BE49-F238E27FC236}">
                <a16:creationId xmlns:a16="http://schemas.microsoft.com/office/drawing/2014/main" id="{41883039-0815-24D1-2E11-53A14ED5E053}"/>
              </a:ext>
            </a:extLst>
          </p:cNvPr>
          <p:cNvSpPr/>
          <p:nvPr/>
        </p:nvSpPr>
        <p:spPr>
          <a:xfrm>
            <a:off x="74771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Speed</a:t>
            </a:r>
            <a:endParaRPr sz="1200" kern="0">
              <a:solidFill>
                <a:srgbClr val="000000"/>
              </a:solidFill>
              <a:latin typeface="Arial"/>
              <a:cs typeface="Arial"/>
              <a:sym typeface="Arial"/>
            </a:endParaRPr>
          </a:p>
        </p:txBody>
      </p:sp>
      <p:sp>
        <p:nvSpPr>
          <p:cNvPr id="156" name="Google Shape;156;p6">
            <a:extLst>
              <a:ext uri="{FF2B5EF4-FFF2-40B4-BE49-F238E27FC236}">
                <a16:creationId xmlns:a16="http://schemas.microsoft.com/office/drawing/2014/main" id="{EF66B29D-3B9B-33F6-EBE1-6531B6ED14CB}"/>
              </a:ext>
            </a:extLst>
          </p:cNvPr>
          <p:cNvSpPr/>
          <p:nvPr/>
        </p:nvSpPr>
        <p:spPr>
          <a:xfrm>
            <a:off x="9667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050" b="1" kern="0">
                <a:solidFill>
                  <a:srgbClr val="FFFFFF"/>
                </a:solidFill>
                <a:latin typeface="Quattrocento Sans"/>
                <a:ea typeface="Quattrocento Sans"/>
                <a:cs typeface="Quattrocento Sans"/>
                <a:sym typeface="Quattrocento Sans"/>
              </a:rPr>
              <a:t>Better Experience</a:t>
            </a:r>
            <a:endParaRPr sz="1050" kern="0">
              <a:solidFill>
                <a:srgbClr val="000000"/>
              </a:solidFill>
              <a:latin typeface="Arial"/>
              <a:cs typeface="Arial"/>
              <a:sym typeface="Arial"/>
            </a:endParaRPr>
          </a:p>
        </p:txBody>
      </p:sp>
      <p:sp>
        <p:nvSpPr>
          <p:cNvPr id="160" name="Google Shape;160;p6">
            <a:extLst>
              <a:ext uri="{FF2B5EF4-FFF2-40B4-BE49-F238E27FC236}">
                <a16:creationId xmlns:a16="http://schemas.microsoft.com/office/drawing/2014/main" id="{E0584E23-F505-4F1F-3B64-9DDE312E3376}"/>
              </a:ext>
            </a:extLst>
          </p:cNvPr>
          <p:cNvSpPr/>
          <p:nvPr/>
        </p:nvSpPr>
        <p:spPr>
          <a:xfrm>
            <a:off x="571500" y="6457950"/>
            <a:ext cx="11049000" cy="9525"/>
          </a:xfrm>
          <a:prstGeom prst="rect">
            <a:avLst/>
          </a:prstGeom>
          <a:solidFill>
            <a:srgbClr val="D0D5DD"/>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 name="Google Shape;161;p6">
            <a:extLst>
              <a:ext uri="{FF2B5EF4-FFF2-40B4-BE49-F238E27FC236}">
                <a16:creationId xmlns:a16="http://schemas.microsoft.com/office/drawing/2014/main" id="{4F2A3C2F-64AC-3C69-E510-C61C6CE8D395}"/>
              </a:ext>
            </a:extLst>
          </p:cNvPr>
          <p:cNvSpPr/>
          <p:nvPr/>
        </p:nvSpPr>
        <p:spPr>
          <a:xfrm>
            <a:off x="571500" y="6524625"/>
            <a:ext cx="2381250" cy="228600"/>
          </a:xfrm>
          <a:prstGeom prst="rect">
            <a:avLst/>
          </a:prstGeom>
          <a:noFill/>
          <a:ln>
            <a:noFill/>
          </a:ln>
        </p:spPr>
        <p:txBody>
          <a:bodyPr spcFirstLastPara="1" wrap="square" lIns="0" tIns="0" rIns="0" bIns="0" anchor="ctr" anchorCtr="0">
            <a:noAutofit/>
          </a:bodyPr>
          <a:lstStyle/>
          <a:p>
            <a:pPr defTabSz="685800">
              <a:lnSpc>
                <a:spcPct val="140000"/>
              </a:lnSpc>
              <a:buClr>
                <a:srgbClr val="000000"/>
              </a:buClr>
            </a:pPr>
            <a:r>
              <a:rPr lang="en-US" sz="1050" kern="0" dirty="0">
                <a:solidFill>
                  <a:srgbClr val="6B7280"/>
                </a:solidFill>
                <a:latin typeface="Quattrocento Sans"/>
                <a:ea typeface="Quattrocento Sans"/>
                <a:cs typeface="Quattrocento Sans"/>
                <a:sym typeface="Quattrocento Sans"/>
              </a:rPr>
              <a:t>Part II</a:t>
            </a:r>
            <a:endParaRPr sz="1050" kern="0" dirty="0">
              <a:solidFill>
                <a:srgbClr val="000000"/>
              </a:solidFill>
              <a:latin typeface="Arial"/>
              <a:cs typeface="Arial"/>
              <a:sym typeface="Arial"/>
            </a:endParaRPr>
          </a:p>
        </p:txBody>
      </p:sp>
      <p:sp>
        <p:nvSpPr>
          <p:cNvPr id="5" name="TextBox 4">
            <a:extLst>
              <a:ext uri="{FF2B5EF4-FFF2-40B4-BE49-F238E27FC236}">
                <a16:creationId xmlns:a16="http://schemas.microsoft.com/office/drawing/2014/main" id="{F0A4CE72-A01A-F557-3F24-36A34F5F1299}"/>
              </a:ext>
            </a:extLst>
          </p:cNvPr>
          <p:cNvSpPr txBox="1"/>
          <p:nvPr/>
        </p:nvSpPr>
        <p:spPr>
          <a:xfrm>
            <a:off x="571501" y="1242536"/>
            <a:ext cx="6362054" cy="4093428"/>
          </a:xfrm>
          <a:prstGeom prst="rect">
            <a:avLst/>
          </a:prstGeom>
          <a:noFill/>
        </p:spPr>
        <p:txBody>
          <a:bodyPr wrap="square" rtlCol="0">
            <a:spAutoFit/>
          </a:bodyPr>
          <a:lstStyle/>
          <a:p>
            <a:r>
              <a:rPr lang="en-US" b="1" dirty="0"/>
              <a:t>GSM Radio Access Network (RAN)</a:t>
            </a:r>
          </a:p>
          <a:p>
            <a:r>
              <a:rPr lang="en-US" dirty="0"/>
              <a:t>The Radio Access Network (RAN) provides the wireless interface between the Mobile Station (MS) and the Core Network. It enables users to access cellular services through radio communication.</a:t>
            </a:r>
          </a:p>
          <a:p>
            <a:r>
              <a:rPr lang="en-IN" b="1" dirty="0"/>
              <a:t>Components of GSM RAN</a:t>
            </a:r>
          </a:p>
          <a:p>
            <a:pPr marL="285750" indent="-285750">
              <a:buFont typeface="Arial" panose="020B0604020202020204" pitchFamily="34" charset="0"/>
              <a:buChar char="•"/>
            </a:pPr>
            <a:r>
              <a:rPr lang="en-IN" dirty="0"/>
              <a:t>Base Transceiver Station (BTS)</a:t>
            </a:r>
          </a:p>
          <a:p>
            <a:pPr marL="285750" indent="-285750">
              <a:buFont typeface="Arial" panose="020B0604020202020204" pitchFamily="34" charset="0"/>
              <a:buChar char="•"/>
            </a:pPr>
            <a:r>
              <a:rPr lang="en-IN" dirty="0"/>
              <a:t>Base Station Controller (BSC)</a:t>
            </a:r>
          </a:p>
          <a:p>
            <a:pPr marL="285750" indent="-285750">
              <a:buFont typeface="Arial" panose="020B0604020202020204" pitchFamily="34" charset="0"/>
              <a:buChar char="•"/>
            </a:pPr>
            <a:endParaRPr lang="en-IN" dirty="0"/>
          </a:p>
          <a:p>
            <a:r>
              <a:rPr lang="en-US" sz="1400" dirty="0"/>
              <a:t>The Base Transceiver Station (BTS) is responsible for transmitting and receiving radio signals. Multiple BTSs are managed by a Base Station Controller (BSC), which supervises their operation by allocating radio channels, managing radio resources, and coordinating handovers as users move between neighboring cells. In addition, the BSC aggregates traffic from multiple BTSs and forwards it to the Core Network for further processing and service deliver</a:t>
            </a:r>
            <a:endParaRPr lang="en-IN" sz="1400" dirty="0"/>
          </a:p>
        </p:txBody>
      </p:sp>
      <p:pic>
        <p:nvPicPr>
          <p:cNvPr id="9" name="Picture 8">
            <a:extLst>
              <a:ext uri="{FF2B5EF4-FFF2-40B4-BE49-F238E27FC236}">
                <a16:creationId xmlns:a16="http://schemas.microsoft.com/office/drawing/2014/main" id="{D0B503BF-715A-E5FA-10C4-DD8A1F4166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3555" y="1587802"/>
            <a:ext cx="5095088" cy="3320446"/>
          </a:xfrm>
          <a:prstGeom prst="rect">
            <a:avLst/>
          </a:prstGeom>
        </p:spPr>
      </p:pic>
    </p:spTree>
    <p:extLst>
      <p:ext uri="{BB962C8B-B14F-4D97-AF65-F5344CB8AC3E}">
        <p14:creationId xmlns:p14="http://schemas.microsoft.com/office/powerpoint/2010/main" val="197019771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D07CF322-D86E-3722-8421-66670227A75E}"/>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16E15CF6-DDEF-4790-B26A-D217081F74BA}"/>
              </a:ext>
            </a:extLst>
          </p:cNvPr>
          <p:cNvSpPr/>
          <p:nvPr/>
        </p:nvSpPr>
        <p:spPr>
          <a:xfrm>
            <a:off x="0" y="0"/>
            <a:ext cx="12192000" cy="38100"/>
          </a:xfrm>
          <a:prstGeom prst="rect">
            <a:avLst/>
          </a:prstGeom>
          <a:solidFill>
            <a:srgbClr val="1E5AA8"/>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38" name="Google Shape;138;p6">
            <a:extLst>
              <a:ext uri="{FF2B5EF4-FFF2-40B4-BE49-F238E27FC236}">
                <a16:creationId xmlns:a16="http://schemas.microsoft.com/office/drawing/2014/main" id="{E303422A-7DFA-19A5-8598-B7BBB9F1A85F}"/>
              </a:ext>
            </a:extLst>
          </p:cNvPr>
          <p:cNvSpPr/>
          <p:nvPr/>
        </p:nvSpPr>
        <p:spPr>
          <a:xfrm>
            <a:off x="571500" y="238125"/>
            <a:ext cx="11049000" cy="447675"/>
          </a:xfrm>
          <a:prstGeom prst="rect">
            <a:avLst/>
          </a:prstGeom>
          <a:noFill/>
          <a:ln>
            <a:noFill/>
          </a:ln>
        </p:spPr>
        <p:txBody>
          <a:bodyPr spcFirstLastPara="1" wrap="square" lIns="0" tIns="0" rIns="0" bIns="0" anchor="ctr" anchorCtr="0">
            <a:noAutofit/>
          </a:bodyPr>
          <a:lstStyle/>
          <a:p>
            <a:pPr defTabSz="685800">
              <a:buClr>
                <a:srgbClr val="000000"/>
              </a:buClr>
            </a:pPr>
            <a:r>
              <a:rPr lang="en-US" sz="2400" b="1" kern="0" dirty="0">
                <a:solidFill>
                  <a:srgbClr val="4472C4"/>
                </a:solidFill>
                <a:latin typeface="Arial"/>
                <a:cs typeface="Arial"/>
                <a:sym typeface="Arial"/>
              </a:rPr>
              <a:t>GSM Core Network (Network Switching Subsystem)</a:t>
            </a:r>
            <a:endParaRPr lang="en-IN" sz="2400" kern="0" dirty="0">
              <a:solidFill>
                <a:srgbClr val="4472C4"/>
              </a:solidFill>
              <a:latin typeface="Arial"/>
              <a:cs typeface="Arial"/>
              <a:sym typeface="Arial"/>
            </a:endParaRPr>
          </a:p>
        </p:txBody>
      </p:sp>
      <p:sp>
        <p:nvSpPr>
          <p:cNvPr id="139" name="Google Shape;139;p6">
            <a:extLst>
              <a:ext uri="{FF2B5EF4-FFF2-40B4-BE49-F238E27FC236}">
                <a16:creationId xmlns:a16="http://schemas.microsoft.com/office/drawing/2014/main" id="{983E9FDA-9E31-2E2D-F46F-CFB8F19DF80E}"/>
              </a:ext>
            </a:extLst>
          </p:cNvPr>
          <p:cNvSpPr/>
          <p:nvPr/>
        </p:nvSpPr>
        <p:spPr>
          <a:xfrm>
            <a:off x="571500" y="704850"/>
            <a:ext cx="1714500" cy="28575"/>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44" name="Google Shape;144;p6">
            <a:extLst>
              <a:ext uri="{FF2B5EF4-FFF2-40B4-BE49-F238E27FC236}">
                <a16:creationId xmlns:a16="http://schemas.microsoft.com/office/drawing/2014/main" id="{4AC01CD7-83F0-0AC7-F1E5-6830D7FC40B3}"/>
              </a:ext>
            </a:extLst>
          </p:cNvPr>
          <p:cNvSpPr/>
          <p:nvPr/>
        </p:nvSpPr>
        <p:spPr>
          <a:xfrm>
            <a:off x="904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More Users</a:t>
            </a:r>
            <a:endParaRPr sz="1200" kern="0">
              <a:solidFill>
                <a:srgbClr val="000000"/>
              </a:solidFill>
              <a:latin typeface="Arial"/>
              <a:cs typeface="Arial"/>
              <a:sym typeface="Arial"/>
            </a:endParaRPr>
          </a:p>
        </p:txBody>
      </p:sp>
      <p:sp>
        <p:nvSpPr>
          <p:cNvPr id="147" name="Google Shape;147;p6">
            <a:extLst>
              <a:ext uri="{FF2B5EF4-FFF2-40B4-BE49-F238E27FC236}">
                <a16:creationId xmlns:a16="http://schemas.microsoft.com/office/drawing/2014/main" id="{D507DCD3-636D-2345-8EFE-6845D2809D6A}"/>
              </a:ext>
            </a:extLst>
          </p:cNvPr>
          <p:cNvSpPr/>
          <p:nvPr/>
        </p:nvSpPr>
        <p:spPr>
          <a:xfrm>
            <a:off x="30956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125" b="1" kern="0" dirty="0">
                <a:solidFill>
                  <a:srgbClr val="FFFFFF"/>
                </a:solidFill>
                <a:latin typeface="Quattrocento Sans"/>
                <a:ea typeface="Quattrocento Sans"/>
                <a:cs typeface="Quattrocento Sans"/>
                <a:sym typeface="Quattrocento Sans"/>
              </a:rPr>
              <a:t>Beer Spectrum</a:t>
            </a:r>
            <a:endParaRPr sz="1125" kern="0" dirty="0">
              <a:solidFill>
                <a:srgbClr val="000000"/>
              </a:solidFill>
              <a:latin typeface="Arial"/>
              <a:cs typeface="Arial"/>
              <a:sym typeface="Arial"/>
            </a:endParaRPr>
          </a:p>
        </p:txBody>
      </p:sp>
      <p:sp>
        <p:nvSpPr>
          <p:cNvPr id="150" name="Google Shape;150;p6">
            <a:extLst>
              <a:ext uri="{FF2B5EF4-FFF2-40B4-BE49-F238E27FC236}">
                <a16:creationId xmlns:a16="http://schemas.microsoft.com/office/drawing/2014/main" id="{8431D766-F694-7F34-7310-7A78C01D4580}"/>
              </a:ext>
            </a:extLst>
          </p:cNvPr>
          <p:cNvSpPr/>
          <p:nvPr/>
        </p:nvSpPr>
        <p:spPr>
          <a:xfrm>
            <a:off x="52863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Capacity</a:t>
            </a:r>
            <a:endParaRPr sz="1200" kern="0">
              <a:solidFill>
                <a:srgbClr val="000000"/>
              </a:solidFill>
              <a:latin typeface="Arial"/>
              <a:cs typeface="Arial"/>
              <a:sym typeface="Arial"/>
            </a:endParaRPr>
          </a:p>
        </p:txBody>
      </p:sp>
      <p:sp>
        <p:nvSpPr>
          <p:cNvPr id="156" name="Google Shape;156;p6">
            <a:extLst>
              <a:ext uri="{FF2B5EF4-FFF2-40B4-BE49-F238E27FC236}">
                <a16:creationId xmlns:a16="http://schemas.microsoft.com/office/drawing/2014/main" id="{BF176195-78AB-078F-FDF7-6B547ABED54B}"/>
              </a:ext>
            </a:extLst>
          </p:cNvPr>
          <p:cNvSpPr/>
          <p:nvPr/>
        </p:nvSpPr>
        <p:spPr>
          <a:xfrm>
            <a:off x="9667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050" b="1" kern="0">
                <a:solidFill>
                  <a:srgbClr val="FFFFFF"/>
                </a:solidFill>
                <a:latin typeface="Quattrocento Sans"/>
                <a:ea typeface="Quattrocento Sans"/>
                <a:cs typeface="Quattrocento Sans"/>
                <a:sym typeface="Quattrocento Sans"/>
              </a:rPr>
              <a:t>Better Experience</a:t>
            </a:r>
            <a:endParaRPr sz="1050" kern="0">
              <a:solidFill>
                <a:srgbClr val="000000"/>
              </a:solidFill>
              <a:latin typeface="Arial"/>
              <a:cs typeface="Arial"/>
              <a:sym typeface="Arial"/>
            </a:endParaRPr>
          </a:p>
        </p:txBody>
      </p:sp>
      <p:sp>
        <p:nvSpPr>
          <p:cNvPr id="160" name="Google Shape;160;p6">
            <a:extLst>
              <a:ext uri="{FF2B5EF4-FFF2-40B4-BE49-F238E27FC236}">
                <a16:creationId xmlns:a16="http://schemas.microsoft.com/office/drawing/2014/main" id="{92F24969-066B-B90E-1B6F-787F89A6A1F3}"/>
              </a:ext>
            </a:extLst>
          </p:cNvPr>
          <p:cNvSpPr/>
          <p:nvPr/>
        </p:nvSpPr>
        <p:spPr>
          <a:xfrm>
            <a:off x="571500" y="6457950"/>
            <a:ext cx="11049000" cy="9525"/>
          </a:xfrm>
          <a:prstGeom prst="rect">
            <a:avLst/>
          </a:prstGeom>
          <a:solidFill>
            <a:srgbClr val="D0D5DD"/>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 name="Google Shape;161;p6">
            <a:extLst>
              <a:ext uri="{FF2B5EF4-FFF2-40B4-BE49-F238E27FC236}">
                <a16:creationId xmlns:a16="http://schemas.microsoft.com/office/drawing/2014/main" id="{F7A8EE9E-5AC6-E660-D209-889B6EAD8F6C}"/>
              </a:ext>
            </a:extLst>
          </p:cNvPr>
          <p:cNvSpPr/>
          <p:nvPr/>
        </p:nvSpPr>
        <p:spPr>
          <a:xfrm>
            <a:off x="571500" y="6524625"/>
            <a:ext cx="2381250" cy="228600"/>
          </a:xfrm>
          <a:prstGeom prst="rect">
            <a:avLst/>
          </a:prstGeom>
          <a:noFill/>
          <a:ln>
            <a:noFill/>
          </a:ln>
        </p:spPr>
        <p:txBody>
          <a:bodyPr spcFirstLastPara="1" wrap="square" lIns="0" tIns="0" rIns="0" bIns="0" anchor="ctr" anchorCtr="0">
            <a:noAutofit/>
          </a:bodyPr>
          <a:lstStyle/>
          <a:p>
            <a:pPr defTabSz="685800">
              <a:lnSpc>
                <a:spcPct val="140000"/>
              </a:lnSpc>
              <a:buClr>
                <a:srgbClr val="000000"/>
              </a:buClr>
            </a:pPr>
            <a:r>
              <a:rPr lang="en-US" sz="1050" kern="0" dirty="0">
                <a:solidFill>
                  <a:srgbClr val="6B7280"/>
                </a:solidFill>
                <a:latin typeface="Quattrocento Sans"/>
                <a:ea typeface="Quattrocento Sans"/>
                <a:cs typeface="Quattrocento Sans"/>
                <a:sym typeface="Quattrocento Sans"/>
              </a:rPr>
              <a:t>Part II</a:t>
            </a:r>
            <a:endParaRPr sz="1050" kern="0" dirty="0">
              <a:solidFill>
                <a:srgbClr val="000000"/>
              </a:solidFill>
              <a:latin typeface="Arial"/>
              <a:cs typeface="Arial"/>
              <a:sym typeface="Arial"/>
            </a:endParaRPr>
          </a:p>
        </p:txBody>
      </p:sp>
      <p:sp>
        <p:nvSpPr>
          <p:cNvPr id="2" name="TextBox 1">
            <a:extLst>
              <a:ext uri="{FF2B5EF4-FFF2-40B4-BE49-F238E27FC236}">
                <a16:creationId xmlns:a16="http://schemas.microsoft.com/office/drawing/2014/main" id="{A46A8264-345D-96FC-DDA3-9ADDB7DA04D6}"/>
              </a:ext>
            </a:extLst>
          </p:cNvPr>
          <p:cNvSpPr txBox="1"/>
          <p:nvPr/>
        </p:nvSpPr>
        <p:spPr>
          <a:xfrm>
            <a:off x="571499" y="847725"/>
            <a:ext cx="6716269" cy="1200329"/>
          </a:xfrm>
          <a:prstGeom prst="rect">
            <a:avLst/>
          </a:prstGeom>
          <a:noFill/>
        </p:spPr>
        <p:txBody>
          <a:bodyPr wrap="square" rtlCol="0">
            <a:spAutoFit/>
          </a:bodyPr>
          <a:lstStyle/>
          <a:p>
            <a:r>
              <a:rPr lang="en-IN" dirty="0"/>
              <a:t>The </a:t>
            </a:r>
            <a:r>
              <a:rPr lang="en-IN" b="1" dirty="0"/>
              <a:t>Mobile Core Network</a:t>
            </a:r>
            <a:r>
              <a:rPr lang="en-IN" dirty="0"/>
              <a:t> is the intelligence of the GSM system. It is responsible for managing subscribers, establishing voice calls, providing mobility support, and connecting users to external telephone networks. </a:t>
            </a:r>
          </a:p>
        </p:txBody>
      </p:sp>
      <p:pic>
        <p:nvPicPr>
          <p:cNvPr id="7" name="Picture 6">
            <a:extLst>
              <a:ext uri="{FF2B5EF4-FFF2-40B4-BE49-F238E27FC236}">
                <a16:creationId xmlns:a16="http://schemas.microsoft.com/office/drawing/2014/main" id="{46350A69-E5D1-AB81-D844-314C2BE840A3}"/>
              </a:ext>
            </a:extLst>
          </p:cNvPr>
          <p:cNvPicPr>
            <a:picLocks noChangeAspect="1"/>
          </p:cNvPicPr>
          <p:nvPr/>
        </p:nvPicPr>
        <p:blipFill>
          <a:blip r:embed="rId3"/>
          <a:stretch>
            <a:fillRect/>
          </a:stretch>
        </p:blipFill>
        <p:spPr>
          <a:xfrm>
            <a:off x="7000875" y="885825"/>
            <a:ext cx="5047489" cy="3138678"/>
          </a:xfrm>
          <a:prstGeom prst="rect">
            <a:avLst/>
          </a:prstGeom>
        </p:spPr>
      </p:pic>
      <p:graphicFrame>
        <p:nvGraphicFramePr>
          <p:cNvPr id="8" name="Table 7">
            <a:extLst>
              <a:ext uri="{FF2B5EF4-FFF2-40B4-BE49-F238E27FC236}">
                <a16:creationId xmlns:a16="http://schemas.microsoft.com/office/drawing/2014/main" id="{100D469C-BDE1-7264-7FCB-884EAEA7310F}"/>
              </a:ext>
            </a:extLst>
          </p:cNvPr>
          <p:cNvGraphicFramePr>
            <a:graphicFrameLocks noGrp="1"/>
          </p:cNvGraphicFramePr>
          <p:nvPr>
            <p:extLst>
              <p:ext uri="{D42A27DB-BD31-4B8C-83A1-F6EECF244321}">
                <p14:modId xmlns:p14="http://schemas.microsoft.com/office/powerpoint/2010/main" val="2329292988"/>
              </p:ext>
            </p:extLst>
          </p:nvPr>
        </p:nvGraphicFramePr>
        <p:xfrm>
          <a:off x="571499" y="2038350"/>
          <a:ext cx="6429376" cy="4114801"/>
        </p:xfrm>
        <a:graphic>
          <a:graphicData uri="http://schemas.openxmlformats.org/drawingml/2006/table">
            <a:tbl>
              <a:tblPr firstRow="1" bandRow="1">
                <a:tableStyleId>{5C22544A-7EE6-4342-B048-85BDC9FD1C3A}</a:tableStyleId>
              </a:tblPr>
              <a:tblGrid>
                <a:gridCol w="3214688">
                  <a:extLst>
                    <a:ext uri="{9D8B030D-6E8A-4147-A177-3AD203B41FA5}">
                      <a16:colId xmlns:a16="http://schemas.microsoft.com/office/drawing/2014/main" val="1743940300"/>
                    </a:ext>
                  </a:extLst>
                </a:gridCol>
                <a:gridCol w="3214688">
                  <a:extLst>
                    <a:ext uri="{9D8B030D-6E8A-4147-A177-3AD203B41FA5}">
                      <a16:colId xmlns:a16="http://schemas.microsoft.com/office/drawing/2014/main" val="1411033454"/>
                    </a:ext>
                  </a:extLst>
                </a:gridCol>
              </a:tblGrid>
              <a:tr h="488135">
                <a:tc>
                  <a:txBody>
                    <a:bodyPr/>
                    <a:lstStyle/>
                    <a:p>
                      <a:r>
                        <a:rPr lang="en-IN" dirty="0"/>
                        <a:t>Component</a:t>
                      </a:r>
                    </a:p>
                  </a:txBody>
                  <a:tcPr/>
                </a:tc>
                <a:tc>
                  <a:txBody>
                    <a:bodyPr/>
                    <a:lstStyle/>
                    <a:p>
                      <a:r>
                        <a:rPr lang="en-IN" dirty="0"/>
                        <a:t>Primary Function</a:t>
                      </a:r>
                    </a:p>
                  </a:txBody>
                  <a:tcPr/>
                </a:tc>
                <a:extLst>
                  <a:ext uri="{0D108BD9-81ED-4DB2-BD59-A6C34878D82A}">
                    <a16:rowId xmlns:a16="http://schemas.microsoft.com/office/drawing/2014/main" val="472897898"/>
                  </a:ext>
                </a:extLst>
              </a:tr>
              <a:tr h="659226">
                <a:tc>
                  <a:txBody>
                    <a:bodyPr/>
                    <a:lstStyle/>
                    <a:p>
                      <a:r>
                        <a:rPr lang="en-IN" dirty="0"/>
                        <a:t>MSC (Mobile Switching </a:t>
                      </a:r>
                      <a:r>
                        <a:rPr lang="en-IN" dirty="0" err="1"/>
                        <a:t>Center</a:t>
                      </a:r>
                      <a:r>
                        <a:rPr lang="en-IN" dirty="0"/>
                        <a:t>)</a:t>
                      </a:r>
                    </a:p>
                  </a:txBody>
                  <a:tcPr/>
                </a:tc>
                <a:tc>
                  <a:txBody>
                    <a:bodyPr/>
                    <a:lstStyle/>
                    <a:p>
                      <a:r>
                        <a:rPr lang="en-IN" dirty="0"/>
                        <a:t>Establishes, routes, and manages voice calls within the GSM network; supports mobility management.</a:t>
                      </a:r>
                    </a:p>
                  </a:txBody>
                  <a:tcPr/>
                </a:tc>
                <a:extLst>
                  <a:ext uri="{0D108BD9-81ED-4DB2-BD59-A6C34878D82A}">
                    <a16:rowId xmlns:a16="http://schemas.microsoft.com/office/drawing/2014/main" val="1027008427"/>
                  </a:ext>
                </a:extLst>
              </a:tr>
              <a:tr h="843809">
                <a:tc>
                  <a:txBody>
                    <a:bodyPr/>
                    <a:lstStyle/>
                    <a:p>
                      <a:r>
                        <a:rPr lang="en-IN" dirty="0"/>
                        <a:t>GMSC (Gateway Mobile Switching </a:t>
                      </a:r>
                      <a:r>
                        <a:rPr lang="en-IN" dirty="0" err="1"/>
                        <a:t>Center</a:t>
                      </a:r>
                      <a:r>
                        <a:rPr lang="en-IN" dirty="0"/>
                        <a:t>)</a:t>
                      </a:r>
                    </a:p>
                  </a:txBody>
                  <a:tcPr/>
                </a:tc>
                <a:tc>
                  <a:txBody>
                    <a:bodyPr/>
                    <a:lstStyle/>
                    <a:p>
                      <a:r>
                        <a:rPr lang="en-IN" dirty="0"/>
                        <a:t>Acts as the gateway between the GSM network and external networks (PSTN/ISDN or other mobile networks); determines the destination MSC for incoming calls.</a:t>
                      </a:r>
                    </a:p>
                  </a:txBody>
                  <a:tcPr/>
                </a:tc>
                <a:extLst>
                  <a:ext uri="{0D108BD9-81ED-4DB2-BD59-A6C34878D82A}">
                    <a16:rowId xmlns:a16="http://schemas.microsoft.com/office/drawing/2014/main" val="3077049986"/>
                  </a:ext>
                </a:extLst>
              </a:tr>
              <a:tr h="659226">
                <a:tc>
                  <a:txBody>
                    <a:bodyPr/>
                    <a:lstStyle/>
                    <a:p>
                      <a:r>
                        <a:rPr lang="en-IN" dirty="0"/>
                        <a:t>HLR (Home Location Register)</a:t>
                      </a:r>
                    </a:p>
                  </a:txBody>
                  <a:tcPr/>
                </a:tc>
                <a:tc>
                  <a:txBody>
                    <a:bodyPr/>
                    <a:lstStyle/>
                    <a:p>
                      <a:r>
                        <a:rPr lang="en-IN" dirty="0"/>
                        <a:t>Stores permanent subscriber information, subscribed services, and the subscriber's current serving MSC/VLR.</a:t>
                      </a:r>
                    </a:p>
                  </a:txBody>
                  <a:tcPr/>
                </a:tc>
                <a:extLst>
                  <a:ext uri="{0D108BD9-81ED-4DB2-BD59-A6C34878D82A}">
                    <a16:rowId xmlns:a16="http://schemas.microsoft.com/office/drawing/2014/main" val="490173127"/>
                  </a:ext>
                </a:extLst>
              </a:tr>
              <a:tr h="488135">
                <a:tc>
                  <a:txBody>
                    <a:bodyPr/>
                    <a:lstStyle/>
                    <a:p>
                      <a:r>
                        <a:rPr lang="en-IN" dirty="0"/>
                        <a:t>VLR (Visitor Location Register)</a:t>
                      </a:r>
                    </a:p>
                  </a:txBody>
                  <a:tcPr/>
                </a:tc>
                <a:tc>
                  <a:txBody>
                    <a:bodyPr/>
                    <a:lstStyle/>
                    <a:p>
                      <a:r>
                        <a:rPr lang="en-IN" dirty="0"/>
                        <a:t>Temporarily stores information about subscribers currently registered in an MSC service area.</a:t>
                      </a:r>
                    </a:p>
                  </a:txBody>
                  <a:tcPr/>
                </a:tc>
                <a:extLst>
                  <a:ext uri="{0D108BD9-81ED-4DB2-BD59-A6C34878D82A}">
                    <a16:rowId xmlns:a16="http://schemas.microsoft.com/office/drawing/2014/main" val="719386830"/>
                  </a:ext>
                </a:extLst>
              </a:tr>
              <a:tr h="488135">
                <a:tc>
                  <a:txBody>
                    <a:bodyPr/>
                    <a:lstStyle/>
                    <a:p>
                      <a:r>
                        <a:rPr lang="en-IN" dirty="0" err="1"/>
                        <a:t>AuC</a:t>
                      </a:r>
                      <a:r>
                        <a:rPr lang="en-IN" dirty="0"/>
                        <a:t> (Authentication </a:t>
                      </a:r>
                      <a:r>
                        <a:rPr lang="en-IN" dirty="0" err="1"/>
                        <a:t>Center</a:t>
                      </a:r>
                      <a:r>
                        <a:rPr lang="en-IN" dirty="0"/>
                        <a:t>)</a:t>
                      </a:r>
                    </a:p>
                  </a:txBody>
                  <a:tcPr/>
                </a:tc>
                <a:tc>
                  <a:txBody>
                    <a:bodyPr/>
                    <a:lstStyle/>
                    <a:p>
                      <a:r>
                        <a:rPr lang="en-IN" dirty="0"/>
                        <a:t>Authenticates subscribers and generates security keys for encryption.</a:t>
                      </a:r>
                    </a:p>
                  </a:txBody>
                  <a:tcPr/>
                </a:tc>
                <a:extLst>
                  <a:ext uri="{0D108BD9-81ED-4DB2-BD59-A6C34878D82A}">
                    <a16:rowId xmlns:a16="http://schemas.microsoft.com/office/drawing/2014/main" val="2483507082"/>
                  </a:ext>
                </a:extLst>
              </a:tr>
              <a:tr h="488135">
                <a:tc>
                  <a:txBody>
                    <a:bodyPr/>
                    <a:lstStyle/>
                    <a:p>
                      <a:r>
                        <a:rPr lang="en-IN" dirty="0"/>
                        <a:t>EIR (Equipment Identity Register)</a:t>
                      </a:r>
                    </a:p>
                  </a:txBody>
                  <a:tcPr/>
                </a:tc>
                <a:tc>
                  <a:txBody>
                    <a:bodyPr/>
                    <a:lstStyle/>
                    <a:p>
                      <a:r>
                        <a:rPr lang="en-IN" dirty="0"/>
                        <a:t>Maintains the IMEI database and allows or blocks mobile devices from accessing the network.</a:t>
                      </a:r>
                    </a:p>
                  </a:txBody>
                  <a:tcPr/>
                </a:tc>
                <a:extLst>
                  <a:ext uri="{0D108BD9-81ED-4DB2-BD59-A6C34878D82A}">
                    <a16:rowId xmlns:a16="http://schemas.microsoft.com/office/drawing/2014/main" val="3802442523"/>
                  </a:ext>
                </a:extLst>
              </a:tr>
            </a:tbl>
          </a:graphicData>
        </a:graphic>
      </p:graphicFrame>
    </p:spTree>
    <p:extLst>
      <p:ext uri="{BB962C8B-B14F-4D97-AF65-F5344CB8AC3E}">
        <p14:creationId xmlns:p14="http://schemas.microsoft.com/office/powerpoint/2010/main" val="256071241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DF923F72-3985-1964-37D4-8B0AA23A3AB9}"/>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C2135ECB-9F87-5611-A68D-F44D638BE7F9}"/>
              </a:ext>
            </a:extLst>
          </p:cNvPr>
          <p:cNvSpPr/>
          <p:nvPr/>
        </p:nvSpPr>
        <p:spPr>
          <a:xfrm>
            <a:off x="0" y="0"/>
            <a:ext cx="12192000" cy="38100"/>
          </a:xfrm>
          <a:prstGeom prst="rect">
            <a:avLst/>
          </a:prstGeom>
          <a:solidFill>
            <a:srgbClr val="1E5AA8"/>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38" name="Google Shape;138;p6">
            <a:extLst>
              <a:ext uri="{FF2B5EF4-FFF2-40B4-BE49-F238E27FC236}">
                <a16:creationId xmlns:a16="http://schemas.microsoft.com/office/drawing/2014/main" id="{C3689858-EFC7-D8FA-B591-6B420C59EF34}"/>
              </a:ext>
            </a:extLst>
          </p:cNvPr>
          <p:cNvSpPr/>
          <p:nvPr/>
        </p:nvSpPr>
        <p:spPr>
          <a:xfrm>
            <a:off x="571500" y="238125"/>
            <a:ext cx="11049000" cy="447675"/>
          </a:xfrm>
          <a:prstGeom prst="rect">
            <a:avLst/>
          </a:prstGeom>
          <a:noFill/>
          <a:ln>
            <a:noFill/>
          </a:ln>
        </p:spPr>
        <p:txBody>
          <a:bodyPr spcFirstLastPara="1" wrap="square" lIns="0" tIns="0" rIns="0" bIns="0" anchor="ctr" anchorCtr="0">
            <a:noAutofit/>
          </a:bodyPr>
          <a:lstStyle/>
          <a:p>
            <a:pPr defTabSz="685800">
              <a:buClr>
                <a:srgbClr val="000000"/>
              </a:buClr>
            </a:pPr>
            <a:r>
              <a:rPr lang="en-US" sz="2400" b="1" kern="0" dirty="0">
                <a:solidFill>
                  <a:srgbClr val="4472C4"/>
                </a:solidFill>
                <a:latin typeface="Arial"/>
                <a:cs typeface="Arial"/>
                <a:sym typeface="Arial"/>
              </a:rPr>
              <a:t>2.5G – General Packet Radio Service (GPRS)</a:t>
            </a:r>
            <a:endParaRPr lang="en-IN" sz="2400" kern="0" dirty="0">
              <a:solidFill>
                <a:srgbClr val="4472C4"/>
              </a:solidFill>
              <a:latin typeface="Arial"/>
              <a:cs typeface="Arial"/>
              <a:sym typeface="Arial"/>
            </a:endParaRPr>
          </a:p>
        </p:txBody>
      </p:sp>
      <p:sp>
        <p:nvSpPr>
          <p:cNvPr id="139" name="Google Shape;139;p6">
            <a:extLst>
              <a:ext uri="{FF2B5EF4-FFF2-40B4-BE49-F238E27FC236}">
                <a16:creationId xmlns:a16="http://schemas.microsoft.com/office/drawing/2014/main" id="{7499A54E-007C-0484-C247-AAA51D421B46}"/>
              </a:ext>
            </a:extLst>
          </p:cNvPr>
          <p:cNvSpPr/>
          <p:nvPr/>
        </p:nvSpPr>
        <p:spPr>
          <a:xfrm>
            <a:off x="571500" y="704850"/>
            <a:ext cx="1714500" cy="28575"/>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44" name="Google Shape;144;p6">
            <a:extLst>
              <a:ext uri="{FF2B5EF4-FFF2-40B4-BE49-F238E27FC236}">
                <a16:creationId xmlns:a16="http://schemas.microsoft.com/office/drawing/2014/main" id="{B4ADE621-F272-A821-32B4-1DF7C3106425}"/>
              </a:ext>
            </a:extLst>
          </p:cNvPr>
          <p:cNvSpPr/>
          <p:nvPr/>
        </p:nvSpPr>
        <p:spPr>
          <a:xfrm>
            <a:off x="904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More Users</a:t>
            </a:r>
            <a:endParaRPr sz="1200" kern="0">
              <a:solidFill>
                <a:srgbClr val="000000"/>
              </a:solidFill>
              <a:latin typeface="Arial"/>
              <a:cs typeface="Arial"/>
              <a:sym typeface="Arial"/>
            </a:endParaRPr>
          </a:p>
        </p:txBody>
      </p:sp>
      <p:sp>
        <p:nvSpPr>
          <p:cNvPr id="147" name="Google Shape;147;p6">
            <a:extLst>
              <a:ext uri="{FF2B5EF4-FFF2-40B4-BE49-F238E27FC236}">
                <a16:creationId xmlns:a16="http://schemas.microsoft.com/office/drawing/2014/main" id="{9A503882-9C96-B118-BD04-C955BC8354CE}"/>
              </a:ext>
            </a:extLst>
          </p:cNvPr>
          <p:cNvSpPr/>
          <p:nvPr/>
        </p:nvSpPr>
        <p:spPr>
          <a:xfrm>
            <a:off x="30956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125" b="1" kern="0" dirty="0">
                <a:solidFill>
                  <a:srgbClr val="FFFFFF"/>
                </a:solidFill>
                <a:latin typeface="Quattrocento Sans"/>
                <a:ea typeface="Quattrocento Sans"/>
                <a:cs typeface="Quattrocento Sans"/>
                <a:sym typeface="Quattrocento Sans"/>
              </a:rPr>
              <a:t>Beer Spectrum</a:t>
            </a:r>
            <a:endParaRPr sz="1125" kern="0" dirty="0">
              <a:solidFill>
                <a:srgbClr val="000000"/>
              </a:solidFill>
              <a:latin typeface="Arial"/>
              <a:cs typeface="Arial"/>
              <a:sym typeface="Arial"/>
            </a:endParaRPr>
          </a:p>
        </p:txBody>
      </p:sp>
      <p:sp>
        <p:nvSpPr>
          <p:cNvPr id="150" name="Google Shape;150;p6">
            <a:extLst>
              <a:ext uri="{FF2B5EF4-FFF2-40B4-BE49-F238E27FC236}">
                <a16:creationId xmlns:a16="http://schemas.microsoft.com/office/drawing/2014/main" id="{F427AF80-AD4D-C63A-3214-2B93681F8DD6}"/>
              </a:ext>
            </a:extLst>
          </p:cNvPr>
          <p:cNvSpPr/>
          <p:nvPr/>
        </p:nvSpPr>
        <p:spPr>
          <a:xfrm>
            <a:off x="52863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Capacity</a:t>
            </a:r>
            <a:endParaRPr sz="1200" kern="0">
              <a:solidFill>
                <a:srgbClr val="000000"/>
              </a:solidFill>
              <a:latin typeface="Arial"/>
              <a:cs typeface="Arial"/>
              <a:sym typeface="Arial"/>
            </a:endParaRPr>
          </a:p>
        </p:txBody>
      </p:sp>
      <p:sp>
        <p:nvSpPr>
          <p:cNvPr id="153" name="Google Shape;153;p6">
            <a:extLst>
              <a:ext uri="{FF2B5EF4-FFF2-40B4-BE49-F238E27FC236}">
                <a16:creationId xmlns:a16="http://schemas.microsoft.com/office/drawing/2014/main" id="{13CF5424-7325-CEC6-C87E-230F2F4CDA70}"/>
              </a:ext>
            </a:extLst>
          </p:cNvPr>
          <p:cNvSpPr/>
          <p:nvPr/>
        </p:nvSpPr>
        <p:spPr>
          <a:xfrm>
            <a:off x="74771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Speed</a:t>
            </a:r>
            <a:endParaRPr sz="1200" kern="0">
              <a:solidFill>
                <a:srgbClr val="000000"/>
              </a:solidFill>
              <a:latin typeface="Arial"/>
              <a:cs typeface="Arial"/>
              <a:sym typeface="Arial"/>
            </a:endParaRPr>
          </a:p>
        </p:txBody>
      </p:sp>
      <p:sp>
        <p:nvSpPr>
          <p:cNvPr id="156" name="Google Shape;156;p6">
            <a:extLst>
              <a:ext uri="{FF2B5EF4-FFF2-40B4-BE49-F238E27FC236}">
                <a16:creationId xmlns:a16="http://schemas.microsoft.com/office/drawing/2014/main" id="{76070273-A37A-F389-EDAA-1F259BB4A07D}"/>
              </a:ext>
            </a:extLst>
          </p:cNvPr>
          <p:cNvSpPr/>
          <p:nvPr/>
        </p:nvSpPr>
        <p:spPr>
          <a:xfrm>
            <a:off x="9667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050" b="1" kern="0">
                <a:solidFill>
                  <a:srgbClr val="FFFFFF"/>
                </a:solidFill>
                <a:latin typeface="Quattrocento Sans"/>
                <a:ea typeface="Quattrocento Sans"/>
                <a:cs typeface="Quattrocento Sans"/>
                <a:sym typeface="Quattrocento Sans"/>
              </a:rPr>
              <a:t>Better Experience</a:t>
            </a:r>
            <a:endParaRPr sz="1050" kern="0">
              <a:solidFill>
                <a:srgbClr val="000000"/>
              </a:solidFill>
              <a:latin typeface="Arial"/>
              <a:cs typeface="Arial"/>
              <a:sym typeface="Arial"/>
            </a:endParaRPr>
          </a:p>
        </p:txBody>
      </p:sp>
      <p:sp>
        <p:nvSpPr>
          <p:cNvPr id="160" name="Google Shape;160;p6">
            <a:extLst>
              <a:ext uri="{FF2B5EF4-FFF2-40B4-BE49-F238E27FC236}">
                <a16:creationId xmlns:a16="http://schemas.microsoft.com/office/drawing/2014/main" id="{E34254DC-69E6-2C8A-69D0-F93E9BF68958}"/>
              </a:ext>
            </a:extLst>
          </p:cNvPr>
          <p:cNvSpPr/>
          <p:nvPr/>
        </p:nvSpPr>
        <p:spPr>
          <a:xfrm>
            <a:off x="571500" y="6457950"/>
            <a:ext cx="11049000" cy="9525"/>
          </a:xfrm>
          <a:prstGeom prst="rect">
            <a:avLst/>
          </a:prstGeom>
          <a:solidFill>
            <a:srgbClr val="D0D5DD"/>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 name="Google Shape;161;p6">
            <a:extLst>
              <a:ext uri="{FF2B5EF4-FFF2-40B4-BE49-F238E27FC236}">
                <a16:creationId xmlns:a16="http://schemas.microsoft.com/office/drawing/2014/main" id="{D8DE0F1B-79F6-8AD9-6EF3-880C1D7273F3}"/>
              </a:ext>
            </a:extLst>
          </p:cNvPr>
          <p:cNvSpPr/>
          <p:nvPr/>
        </p:nvSpPr>
        <p:spPr>
          <a:xfrm>
            <a:off x="571500" y="6524625"/>
            <a:ext cx="2381250" cy="228600"/>
          </a:xfrm>
          <a:prstGeom prst="rect">
            <a:avLst/>
          </a:prstGeom>
          <a:noFill/>
          <a:ln>
            <a:noFill/>
          </a:ln>
        </p:spPr>
        <p:txBody>
          <a:bodyPr spcFirstLastPara="1" wrap="square" lIns="0" tIns="0" rIns="0" bIns="0" anchor="ctr" anchorCtr="0">
            <a:noAutofit/>
          </a:bodyPr>
          <a:lstStyle/>
          <a:p>
            <a:pPr defTabSz="685800">
              <a:lnSpc>
                <a:spcPct val="140000"/>
              </a:lnSpc>
              <a:buClr>
                <a:srgbClr val="000000"/>
              </a:buClr>
            </a:pPr>
            <a:r>
              <a:rPr lang="en-US" sz="1050" kern="0" dirty="0">
                <a:solidFill>
                  <a:srgbClr val="6B7280"/>
                </a:solidFill>
                <a:latin typeface="Quattrocento Sans"/>
                <a:ea typeface="Quattrocento Sans"/>
                <a:cs typeface="Quattrocento Sans"/>
                <a:sym typeface="Quattrocento Sans"/>
              </a:rPr>
              <a:t>Part II</a:t>
            </a:r>
            <a:endParaRPr sz="1050" kern="0" dirty="0">
              <a:solidFill>
                <a:srgbClr val="000000"/>
              </a:solidFill>
              <a:latin typeface="Arial"/>
              <a:cs typeface="Arial"/>
              <a:sym typeface="Arial"/>
            </a:endParaRPr>
          </a:p>
        </p:txBody>
      </p:sp>
      <p:sp>
        <p:nvSpPr>
          <p:cNvPr id="2" name="TextBox 1">
            <a:extLst>
              <a:ext uri="{FF2B5EF4-FFF2-40B4-BE49-F238E27FC236}">
                <a16:creationId xmlns:a16="http://schemas.microsoft.com/office/drawing/2014/main" id="{5026D6EF-6DBF-86DD-EB7C-CAE9B440CAFC}"/>
              </a:ext>
            </a:extLst>
          </p:cNvPr>
          <p:cNvSpPr txBox="1"/>
          <p:nvPr/>
        </p:nvSpPr>
        <p:spPr>
          <a:xfrm>
            <a:off x="571500" y="870857"/>
            <a:ext cx="7353300" cy="4247317"/>
          </a:xfrm>
          <a:prstGeom prst="rect">
            <a:avLst/>
          </a:prstGeom>
          <a:noFill/>
        </p:spPr>
        <p:txBody>
          <a:bodyPr wrap="square" rtlCol="0">
            <a:spAutoFit/>
          </a:bodyPr>
          <a:lstStyle/>
          <a:p>
            <a:r>
              <a:rPr lang="en-IN" dirty="0"/>
              <a:t>2.5G refers to </a:t>
            </a:r>
            <a:r>
              <a:rPr lang="en-IN" b="1" dirty="0"/>
              <a:t>GPRS (General Packet Radio Service)</a:t>
            </a:r>
            <a:r>
              <a:rPr lang="en-IN" dirty="0"/>
              <a:t>, an enhancement to the GSM (2G) network that introduced </a:t>
            </a:r>
            <a:r>
              <a:rPr lang="en-IN" b="1" dirty="0"/>
              <a:t>packet-switched data services</a:t>
            </a:r>
            <a:r>
              <a:rPr lang="en-IN" dirty="0"/>
              <a:t>. While GSM was primarily designed for voice communication using </a:t>
            </a:r>
            <a:r>
              <a:rPr lang="en-IN" b="1" dirty="0"/>
              <a:t>circuit switching</a:t>
            </a:r>
            <a:r>
              <a:rPr lang="en-IN" dirty="0"/>
              <a:t>, GPRS enabled users to access internet-based services such as web browsing, email, and multimedia messaging more efficiently.</a:t>
            </a:r>
          </a:p>
          <a:p>
            <a:endParaRPr lang="en-IN" dirty="0"/>
          </a:p>
          <a:p>
            <a:r>
              <a:rPr lang="en-IN" b="1" dirty="0"/>
              <a:t>What changed in GPRS?</a:t>
            </a:r>
          </a:p>
          <a:p>
            <a:r>
              <a:rPr lang="en-IN" dirty="0"/>
              <a:t>The biggest innovation was the introduction of </a:t>
            </a:r>
            <a:r>
              <a:rPr lang="en-IN" b="1" dirty="0"/>
              <a:t>packet switching</a:t>
            </a:r>
            <a:r>
              <a:rPr lang="en-IN" dirty="0"/>
              <a:t>.</a:t>
            </a:r>
          </a:p>
          <a:p>
            <a:r>
              <a:rPr lang="en-IN" dirty="0"/>
              <a:t>Instead of reserving a dedicated communication channel for the entire session, data is divided into </a:t>
            </a:r>
            <a:r>
              <a:rPr lang="en-IN" b="1" dirty="0"/>
              <a:t>small packets</a:t>
            </a:r>
            <a:r>
              <a:rPr lang="en-IN" dirty="0"/>
              <a:t>. These packets are transmitted only when there is actual data to send, allowing multiple users to share the same radio resources </a:t>
            </a:r>
            <a:r>
              <a:rPr lang="en-IN" dirty="0" err="1"/>
              <a:t>efficiently.This</a:t>
            </a:r>
            <a:r>
              <a:rPr lang="en-IN" dirty="0"/>
              <a:t> significantly improved bandwidth utilization.</a:t>
            </a:r>
          </a:p>
          <a:p>
            <a:endParaRPr lang="en-IN" dirty="0"/>
          </a:p>
        </p:txBody>
      </p:sp>
    </p:spTree>
    <p:extLst>
      <p:ext uri="{BB962C8B-B14F-4D97-AF65-F5344CB8AC3E}">
        <p14:creationId xmlns:p14="http://schemas.microsoft.com/office/powerpoint/2010/main" val="178076630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99204EF9-67C6-8769-B304-46F674312A6F}"/>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A223E6E4-D77E-2250-AB42-752802DCCF6F}"/>
              </a:ext>
            </a:extLst>
          </p:cNvPr>
          <p:cNvSpPr/>
          <p:nvPr/>
        </p:nvSpPr>
        <p:spPr>
          <a:xfrm>
            <a:off x="0" y="0"/>
            <a:ext cx="12192000" cy="38100"/>
          </a:xfrm>
          <a:prstGeom prst="rect">
            <a:avLst/>
          </a:prstGeom>
          <a:solidFill>
            <a:srgbClr val="1E5AA8"/>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38" name="Google Shape;138;p6">
            <a:extLst>
              <a:ext uri="{FF2B5EF4-FFF2-40B4-BE49-F238E27FC236}">
                <a16:creationId xmlns:a16="http://schemas.microsoft.com/office/drawing/2014/main" id="{4D871659-223B-D2F5-FA90-22FECF3E3046}"/>
              </a:ext>
            </a:extLst>
          </p:cNvPr>
          <p:cNvSpPr/>
          <p:nvPr/>
        </p:nvSpPr>
        <p:spPr>
          <a:xfrm>
            <a:off x="571500" y="238125"/>
            <a:ext cx="11049000" cy="447675"/>
          </a:xfrm>
          <a:prstGeom prst="rect">
            <a:avLst/>
          </a:prstGeom>
          <a:noFill/>
          <a:ln>
            <a:noFill/>
          </a:ln>
        </p:spPr>
        <p:txBody>
          <a:bodyPr spcFirstLastPara="1" wrap="square" lIns="0" tIns="0" rIns="0" bIns="0" anchor="ctr" anchorCtr="0">
            <a:noAutofit/>
          </a:bodyPr>
          <a:lstStyle/>
          <a:p>
            <a:pPr defTabSz="685800">
              <a:buClr>
                <a:srgbClr val="000000"/>
              </a:buClr>
            </a:pPr>
            <a:r>
              <a:rPr lang="en-US" sz="2400" b="1" kern="0" dirty="0">
                <a:solidFill>
                  <a:srgbClr val="4472C4"/>
                </a:solidFill>
                <a:cs typeface="Arial"/>
                <a:sym typeface="Arial"/>
              </a:rPr>
              <a:t>2.5G – General Packet Radio Service (GPRS)</a:t>
            </a:r>
            <a:endParaRPr lang="en-IN" sz="2400" kern="0" dirty="0">
              <a:solidFill>
                <a:srgbClr val="4472C4"/>
              </a:solidFill>
              <a:cs typeface="Arial"/>
              <a:sym typeface="Arial"/>
            </a:endParaRPr>
          </a:p>
        </p:txBody>
      </p:sp>
      <p:sp>
        <p:nvSpPr>
          <p:cNvPr id="139" name="Google Shape;139;p6">
            <a:extLst>
              <a:ext uri="{FF2B5EF4-FFF2-40B4-BE49-F238E27FC236}">
                <a16:creationId xmlns:a16="http://schemas.microsoft.com/office/drawing/2014/main" id="{FD2007FD-30CD-9C3F-FA43-FD10CA0A3FD3}"/>
              </a:ext>
            </a:extLst>
          </p:cNvPr>
          <p:cNvSpPr/>
          <p:nvPr/>
        </p:nvSpPr>
        <p:spPr>
          <a:xfrm>
            <a:off x="571500" y="704850"/>
            <a:ext cx="1714500" cy="28575"/>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44" name="Google Shape;144;p6">
            <a:extLst>
              <a:ext uri="{FF2B5EF4-FFF2-40B4-BE49-F238E27FC236}">
                <a16:creationId xmlns:a16="http://schemas.microsoft.com/office/drawing/2014/main" id="{EC030E92-C949-5803-6D01-26D83321D3CA}"/>
              </a:ext>
            </a:extLst>
          </p:cNvPr>
          <p:cNvSpPr/>
          <p:nvPr/>
        </p:nvSpPr>
        <p:spPr>
          <a:xfrm>
            <a:off x="904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More Users</a:t>
            </a:r>
            <a:endParaRPr sz="1200" kern="0">
              <a:solidFill>
                <a:srgbClr val="000000"/>
              </a:solidFill>
              <a:latin typeface="Arial"/>
              <a:cs typeface="Arial"/>
              <a:sym typeface="Arial"/>
            </a:endParaRPr>
          </a:p>
        </p:txBody>
      </p:sp>
      <p:sp>
        <p:nvSpPr>
          <p:cNvPr id="147" name="Google Shape;147;p6">
            <a:extLst>
              <a:ext uri="{FF2B5EF4-FFF2-40B4-BE49-F238E27FC236}">
                <a16:creationId xmlns:a16="http://schemas.microsoft.com/office/drawing/2014/main" id="{8AE3B7D2-D8C6-F299-0A83-63D10955852A}"/>
              </a:ext>
            </a:extLst>
          </p:cNvPr>
          <p:cNvSpPr/>
          <p:nvPr/>
        </p:nvSpPr>
        <p:spPr>
          <a:xfrm>
            <a:off x="30956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125" b="1" kern="0" dirty="0">
                <a:solidFill>
                  <a:srgbClr val="FFFFFF"/>
                </a:solidFill>
                <a:latin typeface="Quattrocento Sans"/>
                <a:ea typeface="Quattrocento Sans"/>
                <a:cs typeface="Quattrocento Sans"/>
                <a:sym typeface="Quattrocento Sans"/>
              </a:rPr>
              <a:t>Beer Spectrum</a:t>
            </a:r>
            <a:endParaRPr sz="1125" kern="0" dirty="0">
              <a:solidFill>
                <a:srgbClr val="000000"/>
              </a:solidFill>
              <a:latin typeface="Arial"/>
              <a:cs typeface="Arial"/>
              <a:sym typeface="Arial"/>
            </a:endParaRPr>
          </a:p>
        </p:txBody>
      </p:sp>
      <p:sp>
        <p:nvSpPr>
          <p:cNvPr id="150" name="Google Shape;150;p6">
            <a:extLst>
              <a:ext uri="{FF2B5EF4-FFF2-40B4-BE49-F238E27FC236}">
                <a16:creationId xmlns:a16="http://schemas.microsoft.com/office/drawing/2014/main" id="{5773B219-8747-FDB7-C4E7-5D8525A8DFEB}"/>
              </a:ext>
            </a:extLst>
          </p:cNvPr>
          <p:cNvSpPr/>
          <p:nvPr/>
        </p:nvSpPr>
        <p:spPr>
          <a:xfrm>
            <a:off x="52863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Capacity</a:t>
            </a:r>
            <a:endParaRPr sz="1200" kern="0">
              <a:solidFill>
                <a:srgbClr val="000000"/>
              </a:solidFill>
              <a:latin typeface="Arial"/>
              <a:cs typeface="Arial"/>
              <a:sym typeface="Arial"/>
            </a:endParaRPr>
          </a:p>
        </p:txBody>
      </p:sp>
      <p:sp>
        <p:nvSpPr>
          <p:cNvPr id="153" name="Google Shape;153;p6">
            <a:extLst>
              <a:ext uri="{FF2B5EF4-FFF2-40B4-BE49-F238E27FC236}">
                <a16:creationId xmlns:a16="http://schemas.microsoft.com/office/drawing/2014/main" id="{1B134DA3-7EFC-AC89-5A70-62FAA38138DC}"/>
              </a:ext>
            </a:extLst>
          </p:cNvPr>
          <p:cNvSpPr/>
          <p:nvPr/>
        </p:nvSpPr>
        <p:spPr>
          <a:xfrm>
            <a:off x="74771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Speed</a:t>
            </a:r>
            <a:endParaRPr sz="1200" kern="0">
              <a:solidFill>
                <a:srgbClr val="000000"/>
              </a:solidFill>
              <a:latin typeface="Arial"/>
              <a:cs typeface="Arial"/>
              <a:sym typeface="Arial"/>
            </a:endParaRPr>
          </a:p>
        </p:txBody>
      </p:sp>
      <p:sp>
        <p:nvSpPr>
          <p:cNvPr id="156" name="Google Shape;156;p6">
            <a:extLst>
              <a:ext uri="{FF2B5EF4-FFF2-40B4-BE49-F238E27FC236}">
                <a16:creationId xmlns:a16="http://schemas.microsoft.com/office/drawing/2014/main" id="{017EAECD-9C3C-8371-F147-D716087CB01A}"/>
              </a:ext>
            </a:extLst>
          </p:cNvPr>
          <p:cNvSpPr/>
          <p:nvPr/>
        </p:nvSpPr>
        <p:spPr>
          <a:xfrm>
            <a:off x="9667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050" b="1" kern="0">
                <a:solidFill>
                  <a:srgbClr val="FFFFFF"/>
                </a:solidFill>
                <a:latin typeface="Quattrocento Sans"/>
                <a:ea typeface="Quattrocento Sans"/>
                <a:cs typeface="Quattrocento Sans"/>
                <a:sym typeface="Quattrocento Sans"/>
              </a:rPr>
              <a:t>Better Experience</a:t>
            </a:r>
            <a:endParaRPr sz="1050" kern="0">
              <a:solidFill>
                <a:srgbClr val="000000"/>
              </a:solidFill>
              <a:latin typeface="Arial"/>
              <a:cs typeface="Arial"/>
              <a:sym typeface="Arial"/>
            </a:endParaRPr>
          </a:p>
        </p:txBody>
      </p:sp>
      <p:sp>
        <p:nvSpPr>
          <p:cNvPr id="160" name="Google Shape;160;p6">
            <a:extLst>
              <a:ext uri="{FF2B5EF4-FFF2-40B4-BE49-F238E27FC236}">
                <a16:creationId xmlns:a16="http://schemas.microsoft.com/office/drawing/2014/main" id="{D5F67C98-BA06-5741-3574-C66ED92B411E}"/>
              </a:ext>
            </a:extLst>
          </p:cNvPr>
          <p:cNvSpPr/>
          <p:nvPr/>
        </p:nvSpPr>
        <p:spPr>
          <a:xfrm>
            <a:off x="571500" y="6457950"/>
            <a:ext cx="11049000" cy="9525"/>
          </a:xfrm>
          <a:prstGeom prst="rect">
            <a:avLst/>
          </a:prstGeom>
          <a:solidFill>
            <a:srgbClr val="D0D5DD"/>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 name="Google Shape;161;p6">
            <a:extLst>
              <a:ext uri="{FF2B5EF4-FFF2-40B4-BE49-F238E27FC236}">
                <a16:creationId xmlns:a16="http://schemas.microsoft.com/office/drawing/2014/main" id="{E8C2303C-25E3-5882-6AEC-DA4663AA2284}"/>
              </a:ext>
            </a:extLst>
          </p:cNvPr>
          <p:cNvSpPr/>
          <p:nvPr/>
        </p:nvSpPr>
        <p:spPr>
          <a:xfrm>
            <a:off x="571500" y="6524625"/>
            <a:ext cx="2381250" cy="228600"/>
          </a:xfrm>
          <a:prstGeom prst="rect">
            <a:avLst/>
          </a:prstGeom>
          <a:noFill/>
          <a:ln>
            <a:noFill/>
          </a:ln>
        </p:spPr>
        <p:txBody>
          <a:bodyPr spcFirstLastPara="1" wrap="square" lIns="0" tIns="0" rIns="0" bIns="0" anchor="ctr" anchorCtr="0">
            <a:noAutofit/>
          </a:bodyPr>
          <a:lstStyle/>
          <a:p>
            <a:pPr defTabSz="685800">
              <a:lnSpc>
                <a:spcPct val="140000"/>
              </a:lnSpc>
              <a:buClr>
                <a:srgbClr val="000000"/>
              </a:buClr>
            </a:pPr>
            <a:r>
              <a:rPr lang="en-US" sz="1050" kern="0" dirty="0">
                <a:solidFill>
                  <a:srgbClr val="6B7280"/>
                </a:solidFill>
                <a:latin typeface="Quattrocento Sans"/>
                <a:ea typeface="Quattrocento Sans"/>
                <a:cs typeface="Quattrocento Sans"/>
                <a:sym typeface="Quattrocento Sans"/>
              </a:rPr>
              <a:t>Part II</a:t>
            </a:r>
            <a:endParaRPr sz="1050" kern="0" dirty="0">
              <a:solidFill>
                <a:srgbClr val="000000"/>
              </a:solidFill>
              <a:latin typeface="Arial"/>
              <a:cs typeface="Arial"/>
              <a:sym typeface="Arial"/>
            </a:endParaRPr>
          </a:p>
        </p:txBody>
      </p:sp>
      <p:pic>
        <p:nvPicPr>
          <p:cNvPr id="9" name="Picture 8">
            <a:extLst>
              <a:ext uri="{FF2B5EF4-FFF2-40B4-BE49-F238E27FC236}">
                <a16:creationId xmlns:a16="http://schemas.microsoft.com/office/drawing/2014/main" id="{4A7E3C99-470A-E24A-F921-834CD02FBF50}"/>
              </a:ext>
            </a:extLst>
          </p:cNvPr>
          <p:cNvPicPr>
            <a:picLocks noChangeAspect="1"/>
          </p:cNvPicPr>
          <p:nvPr/>
        </p:nvPicPr>
        <p:blipFill>
          <a:blip r:embed="rId3"/>
          <a:stretch>
            <a:fillRect/>
          </a:stretch>
        </p:blipFill>
        <p:spPr>
          <a:xfrm>
            <a:off x="809625" y="733425"/>
            <a:ext cx="9739086" cy="5791200"/>
          </a:xfrm>
          <a:prstGeom prst="rect">
            <a:avLst/>
          </a:prstGeom>
        </p:spPr>
      </p:pic>
    </p:spTree>
    <p:extLst>
      <p:ext uri="{BB962C8B-B14F-4D97-AF65-F5344CB8AC3E}">
        <p14:creationId xmlns:p14="http://schemas.microsoft.com/office/powerpoint/2010/main" val="21261247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AE30E9F4-64F4-931B-9789-DF68163D7CAD}"/>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4D033EE9-06B2-BB9A-FFBD-FEC8DEBCDA59}"/>
              </a:ext>
            </a:extLst>
          </p:cNvPr>
          <p:cNvSpPr/>
          <p:nvPr/>
        </p:nvSpPr>
        <p:spPr>
          <a:xfrm>
            <a:off x="0" y="0"/>
            <a:ext cx="12192000" cy="38100"/>
          </a:xfrm>
          <a:prstGeom prst="rect">
            <a:avLst/>
          </a:prstGeom>
          <a:solidFill>
            <a:srgbClr val="1E5AA8"/>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38" name="Google Shape;138;p6">
            <a:extLst>
              <a:ext uri="{FF2B5EF4-FFF2-40B4-BE49-F238E27FC236}">
                <a16:creationId xmlns:a16="http://schemas.microsoft.com/office/drawing/2014/main" id="{08F5699D-2A2A-2CAF-DBB7-BC78780413E1}"/>
              </a:ext>
            </a:extLst>
          </p:cNvPr>
          <p:cNvSpPr/>
          <p:nvPr/>
        </p:nvSpPr>
        <p:spPr>
          <a:xfrm>
            <a:off x="571500" y="238125"/>
            <a:ext cx="11049000" cy="447675"/>
          </a:xfrm>
          <a:prstGeom prst="rect">
            <a:avLst/>
          </a:prstGeom>
          <a:noFill/>
          <a:ln>
            <a:noFill/>
          </a:ln>
        </p:spPr>
        <p:txBody>
          <a:bodyPr spcFirstLastPara="1" wrap="square" lIns="0" tIns="0" rIns="0" bIns="0" anchor="ctr" anchorCtr="0">
            <a:noAutofit/>
          </a:bodyPr>
          <a:lstStyle/>
          <a:p>
            <a:pPr defTabSz="685800">
              <a:buClr>
                <a:srgbClr val="000000"/>
              </a:buClr>
            </a:pPr>
            <a:r>
              <a:rPr lang="en-US" sz="2400" b="1" kern="0" dirty="0">
                <a:solidFill>
                  <a:srgbClr val="4472C4"/>
                </a:solidFill>
                <a:latin typeface="Arial"/>
                <a:cs typeface="Arial"/>
                <a:sym typeface="Arial"/>
              </a:rPr>
              <a:t>2.5G architecture with GPRS Subsystems</a:t>
            </a:r>
            <a:endParaRPr lang="en-IN" sz="2400" kern="0" dirty="0">
              <a:solidFill>
                <a:srgbClr val="4472C4"/>
              </a:solidFill>
              <a:latin typeface="Arial"/>
              <a:cs typeface="Arial"/>
              <a:sym typeface="Arial"/>
            </a:endParaRPr>
          </a:p>
        </p:txBody>
      </p:sp>
      <p:sp>
        <p:nvSpPr>
          <p:cNvPr id="139" name="Google Shape;139;p6">
            <a:extLst>
              <a:ext uri="{FF2B5EF4-FFF2-40B4-BE49-F238E27FC236}">
                <a16:creationId xmlns:a16="http://schemas.microsoft.com/office/drawing/2014/main" id="{521C766C-E3BD-83F4-5471-56EEB951C9BC}"/>
              </a:ext>
            </a:extLst>
          </p:cNvPr>
          <p:cNvSpPr/>
          <p:nvPr/>
        </p:nvSpPr>
        <p:spPr>
          <a:xfrm>
            <a:off x="571500" y="704850"/>
            <a:ext cx="1714500" cy="28575"/>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44" name="Google Shape;144;p6">
            <a:extLst>
              <a:ext uri="{FF2B5EF4-FFF2-40B4-BE49-F238E27FC236}">
                <a16:creationId xmlns:a16="http://schemas.microsoft.com/office/drawing/2014/main" id="{87D34B28-1304-E200-9B26-D8083F58E44E}"/>
              </a:ext>
            </a:extLst>
          </p:cNvPr>
          <p:cNvSpPr/>
          <p:nvPr/>
        </p:nvSpPr>
        <p:spPr>
          <a:xfrm>
            <a:off x="904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More Users</a:t>
            </a:r>
            <a:endParaRPr sz="1200" kern="0">
              <a:solidFill>
                <a:srgbClr val="000000"/>
              </a:solidFill>
              <a:latin typeface="Arial"/>
              <a:cs typeface="Arial"/>
              <a:sym typeface="Arial"/>
            </a:endParaRPr>
          </a:p>
        </p:txBody>
      </p:sp>
      <p:sp>
        <p:nvSpPr>
          <p:cNvPr id="147" name="Google Shape;147;p6">
            <a:extLst>
              <a:ext uri="{FF2B5EF4-FFF2-40B4-BE49-F238E27FC236}">
                <a16:creationId xmlns:a16="http://schemas.microsoft.com/office/drawing/2014/main" id="{63B1E560-E02E-9A4E-CA08-CE7BA1479D5D}"/>
              </a:ext>
            </a:extLst>
          </p:cNvPr>
          <p:cNvSpPr/>
          <p:nvPr/>
        </p:nvSpPr>
        <p:spPr>
          <a:xfrm>
            <a:off x="30956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125" b="1" kern="0" dirty="0">
                <a:solidFill>
                  <a:srgbClr val="FFFFFF"/>
                </a:solidFill>
                <a:latin typeface="Quattrocento Sans"/>
                <a:ea typeface="Quattrocento Sans"/>
                <a:cs typeface="Quattrocento Sans"/>
                <a:sym typeface="Quattrocento Sans"/>
              </a:rPr>
              <a:t>Beer Spectrum</a:t>
            </a:r>
            <a:endParaRPr sz="1125" kern="0" dirty="0">
              <a:solidFill>
                <a:srgbClr val="000000"/>
              </a:solidFill>
              <a:latin typeface="Arial"/>
              <a:cs typeface="Arial"/>
              <a:sym typeface="Arial"/>
            </a:endParaRPr>
          </a:p>
        </p:txBody>
      </p:sp>
      <p:sp>
        <p:nvSpPr>
          <p:cNvPr id="150" name="Google Shape;150;p6">
            <a:extLst>
              <a:ext uri="{FF2B5EF4-FFF2-40B4-BE49-F238E27FC236}">
                <a16:creationId xmlns:a16="http://schemas.microsoft.com/office/drawing/2014/main" id="{64FC174D-260E-DC76-0F67-6D45FD01EEE0}"/>
              </a:ext>
            </a:extLst>
          </p:cNvPr>
          <p:cNvSpPr/>
          <p:nvPr/>
        </p:nvSpPr>
        <p:spPr>
          <a:xfrm>
            <a:off x="52863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Capacity</a:t>
            </a:r>
            <a:endParaRPr sz="1200" kern="0">
              <a:solidFill>
                <a:srgbClr val="000000"/>
              </a:solidFill>
              <a:latin typeface="Arial"/>
              <a:cs typeface="Arial"/>
              <a:sym typeface="Arial"/>
            </a:endParaRPr>
          </a:p>
        </p:txBody>
      </p:sp>
      <p:sp>
        <p:nvSpPr>
          <p:cNvPr id="153" name="Google Shape;153;p6">
            <a:extLst>
              <a:ext uri="{FF2B5EF4-FFF2-40B4-BE49-F238E27FC236}">
                <a16:creationId xmlns:a16="http://schemas.microsoft.com/office/drawing/2014/main" id="{9995847F-E1D5-D7BB-8FCF-C7BDC5B48AE9}"/>
              </a:ext>
            </a:extLst>
          </p:cNvPr>
          <p:cNvSpPr/>
          <p:nvPr/>
        </p:nvSpPr>
        <p:spPr>
          <a:xfrm>
            <a:off x="74771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Speed</a:t>
            </a:r>
            <a:endParaRPr sz="1200" kern="0">
              <a:solidFill>
                <a:srgbClr val="000000"/>
              </a:solidFill>
              <a:latin typeface="Arial"/>
              <a:cs typeface="Arial"/>
              <a:sym typeface="Arial"/>
            </a:endParaRPr>
          </a:p>
        </p:txBody>
      </p:sp>
      <p:sp>
        <p:nvSpPr>
          <p:cNvPr id="156" name="Google Shape;156;p6">
            <a:extLst>
              <a:ext uri="{FF2B5EF4-FFF2-40B4-BE49-F238E27FC236}">
                <a16:creationId xmlns:a16="http://schemas.microsoft.com/office/drawing/2014/main" id="{DB21D1B3-E97D-B327-6B1E-857840727389}"/>
              </a:ext>
            </a:extLst>
          </p:cNvPr>
          <p:cNvSpPr/>
          <p:nvPr/>
        </p:nvSpPr>
        <p:spPr>
          <a:xfrm>
            <a:off x="9667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050" b="1" kern="0">
                <a:solidFill>
                  <a:srgbClr val="FFFFFF"/>
                </a:solidFill>
                <a:latin typeface="Quattrocento Sans"/>
                <a:ea typeface="Quattrocento Sans"/>
                <a:cs typeface="Quattrocento Sans"/>
                <a:sym typeface="Quattrocento Sans"/>
              </a:rPr>
              <a:t>Better Experience</a:t>
            </a:r>
            <a:endParaRPr sz="1050" kern="0">
              <a:solidFill>
                <a:srgbClr val="000000"/>
              </a:solidFill>
              <a:latin typeface="Arial"/>
              <a:cs typeface="Arial"/>
              <a:sym typeface="Arial"/>
            </a:endParaRPr>
          </a:p>
        </p:txBody>
      </p:sp>
      <p:sp>
        <p:nvSpPr>
          <p:cNvPr id="160" name="Google Shape;160;p6">
            <a:extLst>
              <a:ext uri="{FF2B5EF4-FFF2-40B4-BE49-F238E27FC236}">
                <a16:creationId xmlns:a16="http://schemas.microsoft.com/office/drawing/2014/main" id="{780E10A0-4E63-CE27-BB7A-7874B41AB1AA}"/>
              </a:ext>
            </a:extLst>
          </p:cNvPr>
          <p:cNvSpPr/>
          <p:nvPr/>
        </p:nvSpPr>
        <p:spPr>
          <a:xfrm>
            <a:off x="571500" y="6457950"/>
            <a:ext cx="11049000" cy="9525"/>
          </a:xfrm>
          <a:prstGeom prst="rect">
            <a:avLst/>
          </a:prstGeom>
          <a:solidFill>
            <a:srgbClr val="D0D5DD"/>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 name="Google Shape;161;p6">
            <a:extLst>
              <a:ext uri="{FF2B5EF4-FFF2-40B4-BE49-F238E27FC236}">
                <a16:creationId xmlns:a16="http://schemas.microsoft.com/office/drawing/2014/main" id="{A32E69C1-ED25-155B-40F3-C383E4B01652}"/>
              </a:ext>
            </a:extLst>
          </p:cNvPr>
          <p:cNvSpPr/>
          <p:nvPr/>
        </p:nvSpPr>
        <p:spPr>
          <a:xfrm>
            <a:off x="571500" y="6524625"/>
            <a:ext cx="2381250" cy="228600"/>
          </a:xfrm>
          <a:prstGeom prst="rect">
            <a:avLst/>
          </a:prstGeom>
          <a:noFill/>
          <a:ln>
            <a:noFill/>
          </a:ln>
        </p:spPr>
        <p:txBody>
          <a:bodyPr spcFirstLastPara="1" wrap="square" lIns="0" tIns="0" rIns="0" bIns="0" anchor="ctr" anchorCtr="0">
            <a:noAutofit/>
          </a:bodyPr>
          <a:lstStyle/>
          <a:p>
            <a:pPr defTabSz="685800">
              <a:lnSpc>
                <a:spcPct val="140000"/>
              </a:lnSpc>
              <a:buClr>
                <a:srgbClr val="000000"/>
              </a:buClr>
            </a:pPr>
            <a:r>
              <a:rPr lang="en-US" sz="1050" kern="0" dirty="0">
                <a:solidFill>
                  <a:srgbClr val="6B7280"/>
                </a:solidFill>
                <a:latin typeface="Quattrocento Sans"/>
                <a:ea typeface="Quattrocento Sans"/>
                <a:cs typeface="Quattrocento Sans"/>
                <a:sym typeface="Quattrocento Sans"/>
              </a:rPr>
              <a:t>Part II</a:t>
            </a:r>
            <a:endParaRPr sz="1050" kern="0" dirty="0">
              <a:solidFill>
                <a:srgbClr val="000000"/>
              </a:solidFill>
              <a:latin typeface="Arial"/>
              <a:cs typeface="Arial"/>
              <a:sym typeface="Arial"/>
            </a:endParaRPr>
          </a:p>
        </p:txBody>
      </p:sp>
      <p:pic>
        <p:nvPicPr>
          <p:cNvPr id="4" name="Picture 3">
            <a:extLst>
              <a:ext uri="{FF2B5EF4-FFF2-40B4-BE49-F238E27FC236}">
                <a16:creationId xmlns:a16="http://schemas.microsoft.com/office/drawing/2014/main" id="{F40EE546-FB85-C235-D842-9C4FB926CCAC}"/>
              </a:ext>
            </a:extLst>
          </p:cNvPr>
          <p:cNvPicPr>
            <a:picLocks noChangeAspect="1"/>
          </p:cNvPicPr>
          <p:nvPr/>
        </p:nvPicPr>
        <p:blipFill>
          <a:blip r:embed="rId3">
            <a:extLst>
              <a:ext uri="{28A0092B-C50C-407E-A947-70E740481C1C}">
                <a14:useLocalDpi xmlns:a14="http://schemas.microsoft.com/office/drawing/2010/main" val="0"/>
              </a:ext>
            </a:extLst>
          </a:blip>
          <a:srcRect b="7841"/>
          <a:stretch>
            <a:fillRect/>
          </a:stretch>
        </p:blipFill>
        <p:spPr>
          <a:xfrm>
            <a:off x="440871" y="742950"/>
            <a:ext cx="10715625" cy="5624286"/>
          </a:xfrm>
          <a:prstGeom prst="rect">
            <a:avLst/>
          </a:prstGeom>
        </p:spPr>
      </p:pic>
    </p:spTree>
    <p:extLst>
      <p:ext uri="{BB962C8B-B14F-4D97-AF65-F5344CB8AC3E}">
        <p14:creationId xmlns:p14="http://schemas.microsoft.com/office/powerpoint/2010/main" val="306043089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72554294-BB65-AA95-2235-89B2A8FEC346}"/>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B0FC6984-31E2-2FCC-B326-3DAB45CB07CE}"/>
              </a:ext>
            </a:extLst>
          </p:cNvPr>
          <p:cNvSpPr/>
          <p:nvPr/>
        </p:nvSpPr>
        <p:spPr>
          <a:xfrm>
            <a:off x="0" y="0"/>
            <a:ext cx="12192000" cy="38100"/>
          </a:xfrm>
          <a:prstGeom prst="rect">
            <a:avLst/>
          </a:prstGeom>
          <a:solidFill>
            <a:srgbClr val="1E5AA8"/>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38" name="Google Shape;138;p6">
            <a:extLst>
              <a:ext uri="{FF2B5EF4-FFF2-40B4-BE49-F238E27FC236}">
                <a16:creationId xmlns:a16="http://schemas.microsoft.com/office/drawing/2014/main" id="{978AC7B0-74D9-F3F1-699A-E11680EA01DB}"/>
              </a:ext>
            </a:extLst>
          </p:cNvPr>
          <p:cNvSpPr/>
          <p:nvPr/>
        </p:nvSpPr>
        <p:spPr>
          <a:xfrm>
            <a:off x="571500" y="238125"/>
            <a:ext cx="11049000" cy="447675"/>
          </a:xfrm>
          <a:prstGeom prst="rect">
            <a:avLst/>
          </a:prstGeom>
          <a:noFill/>
          <a:ln>
            <a:noFill/>
          </a:ln>
        </p:spPr>
        <p:txBody>
          <a:bodyPr spcFirstLastPara="1" wrap="square" lIns="0" tIns="0" rIns="0" bIns="0" anchor="ctr" anchorCtr="0">
            <a:noAutofit/>
          </a:bodyPr>
          <a:lstStyle/>
          <a:p>
            <a:pPr defTabSz="685800">
              <a:buClr>
                <a:srgbClr val="000000"/>
              </a:buClr>
            </a:pPr>
            <a:r>
              <a:rPr lang="en-US" sz="2400" b="1" kern="0" dirty="0">
                <a:solidFill>
                  <a:srgbClr val="4472C4"/>
                </a:solidFill>
                <a:latin typeface="Arial"/>
                <a:cs typeface="Arial"/>
                <a:sym typeface="Arial"/>
              </a:rPr>
              <a:t>2.75G – EDGE (Enhanced Data Rates for GSM Evolution)</a:t>
            </a:r>
            <a:endParaRPr lang="en-IN" sz="2400" kern="0" dirty="0">
              <a:solidFill>
                <a:srgbClr val="4472C4"/>
              </a:solidFill>
              <a:latin typeface="Arial"/>
              <a:cs typeface="Arial"/>
              <a:sym typeface="Arial"/>
            </a:endParaRPr>
          </a:p>
        </p:txBody>
      </p:sp>
      <p:sp>
        <p:nvSpPr>
          <p:cNvPr id="139" name="Google Shape;139;p6">
            <a:extLst>
              <a:ext uri="{FF2B5EF4-FFF2-40B4-BE49-F238E27FC236}">
                <a16:creationId xmlns:a16="http://schemas.microsoft.com/office/drawing/2014/main" id="{FE93712A-349E-7B1D-57CC-9AE8786CF5B1}"/>
              </a:ext>
            </a:extLst>
          </p:cNvPr>
          <p:cNvSpPr/>
          <p:nvPr/>
        </p:nvSpPr>
        <p:spPr>
          <a:xfrm>
            <a:off x="571500" y="704850"/>
            <a:ext cx="1714500" cy="28575"/>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44" name="Google Shape;144;p6">
            <a:extLst>
              <a:ext uri="{FF2B5EF4-FFF2-40B4-BE49-F238E27FC236}">
                <a16:creationId xmlns:a16="http://schemas.microsoft.com/office/drawing/2014/main" id="{4C14F92E-9EE6-BCC2-9D52-6FDD55B99ACC}"/>
              </a:ext>
            </a:extLst>
          </p:cNvPr>
          <p:cNvSpPr/>
          <p:nvPr/>
        </p:nvSpPr>
        <p:spPr>
          <a:xfrm>
            <a:off x="904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More Users</a:t>
            </a:r>
            <a:endParaRPr sz="1200" kern="0">
              <a:solidFill>
                <a:srgbClr val="000000"/>
              </a:solidFill>
              <a:latin typeface="Arial"/>
              <a:cs typeface="Arial"/>
              <a:sym typeface="Arial"/>
            </a:endParaRPr>
          </a:p>
        </p:txBody>
      </p:sp>
      <p:sp>
        <p:nvSpPr>
          <p:cNvPr id="150" name="Google Shape;150;p6">
            <a:extLst>
              <a:ext uri="{FF2B5EF4-FFF2-40B4-BE49-F238E27FC236}">
                <a16:creationId xmlns:a16="http://schemas.microsoft.com/office/drawing/2014/main" id="{919BA741-611E-0F6F-FB32-2A8B78B80E1B}"/>
              </a:ext>
            </a:extLst>
          </p:cNvPr>
          <p:cNvSpPr/>
          <p:nvPr/>
        </p:nvSpPr>
        <p:spPr>
          <a:xfrm>
            <a:off x="52863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Capacity</a:t>
            </a:r>
            <a:endParaRPr sz="1200" kern="0">
              <a:solidFill>
                <a:srgbClr val="000000"/>
              </a:solidFill>
              <a:latin typeface="Arial"/>
              <a:cs typeface="Arial"/>
              <a:sym typeface="Arial"/>
            </a:endParaRPr>
          </a:p>
        </p:txBody>
      </p:sp>
      <p:sp>
        <p:nvSpPr>
          <p:cNvPr id="153" name="Google Shape;153;p6">
            <a:extLst>
              <a:ext uri="{FF2B5EF4-FFF2-40B4-BE49-F238E27FC236}">
                <a16:creationId xmlns:a16="http://schemas.microsoft.com/office/drawing/2014/main" id="{F3681CDD-EB5D-3CA0-7BB3-8B1767421C72}"/>
              </a:ext>
            </a:extLst>
          </p:cNvPr>
          <p:cNvSpPr/>
          <p:nvPr/>
        </p:nvSpPr>
        <p:spPr>
          <a:xfrm>
            <a:off x="74771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Speed</a:t>
            </a:r>
            <a:endParaRPr sz="1200" kern="0">
              <a:solidFill>
                <a:srgbClr val="000000"/>
              </a:solidFill>
              <a:latin typeface="Arial"/>
              <a:cs typeface="Arial"/>
              <a:sym typeface="Arial"/>
            </a:endParaRPr>
          </a:p>
        </p:txBody>
      </p:sp>
      <p:sp>
        <p:nvSpPr>
          <p:cNvPr id="156" name="Google Shape;156;p6">
            <a:extLst>
              <a:ext uri="{FF2B5EF4-FFF2-40B4-BE49-F238E27FC236}">
                <a16:creationId xmlns:a16="http://schemas.microsoft.com/office/drawing/2014/main" id="{E57C3761-9025-0F8A-1BA4-ABE9F69993D5}"/>
              </a:ext>
            </a:extLst>
          </p:cNvPr>
          <p:cNvSpPr/>
          <p:nvPr/>
        </p:nvSpPr>
        <p:spPr>
          <a:xfrm>
            <a:off x="9667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050" b="1" kern="0">
                <a:solidFill>
                  <a:srgbClr val="FFFFFF"/>
                </a:solidFill>
                <a:latin typeface="Quattrocento Sans"/>
                <a:ea typeface="Quattrocento Sans"/>
                <a:cs typeface="Quattrocento Sans"/>
                <a:sym typeface="Quattrocento Sans"/>
              </a:rPr>
              <a:t>Better Experience</a:t>
            </a:r>
            <a:endParaRPr sz="1050" kern="0">
              <a:solidFill>
                <a:srgbClr val="000000"/>
              </a:solidFill>
              <a:latin typeface="Arial"/>
              <a:cs typeface="Arial"/>
              <a:sym typeface="Arial"/>
            </a:endParaRPr>
          </a:p>
        </p:txBody>
      </p:sp>
      <p:sp>
        <p:nvSpPr>
          <p:cNvPr id="160" name="Google Shape;160;p6">
            <a:extLst>
              <a:ext uri="{FF2B5EF4-FFF2-40B4-BE49-F238E27FC236}">
                <a16:creationId xmlns:a16="http://schemas.microsoft.com/office/drawing/2014/main" id="{2C3D02F5-C940-D43C-27D2-5D13FC428C0F}"/>
              </a:ext>
            </a:extLst>
          </p:cNvPr>
          <p:cNvSpPr/>
          <p:nvPr/>
        </p:nvSpPr>
        <p:spPr>
          <a:xfrm>
            <a:off x="571500" y="6457950"/>
            <a:ext cx="11049000" cy="9525"/>
          </a:xfrm>
          <a:prstGeom prst="rect">
            <a:avLst/>
          </a:prstGeom>
          <a:solidFill>
            <a:srgbClr val="D0D5DD"/>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 name="Google Shape;161;p6">
            <a:extLst>
              <a:ext uri="{FF2B5EF4-FFF2-40B4-BE49-F238E27FC236}">
                <a16:creationId xmlns:a16="http://schemas.microsoft.com/office/drawing/2014/main" id="{620D46A9-5919-FCEA-9AFD-B6D00261263A}"/>
              </a:ext>
            </a:extLst>
          </p:cNvPr>
          <p:cNvSpPr/>
          <p:nvPr/>
        </p:nvSpPr>
        <p:spPr>
          <a:xfrm>
            <a:off x="571500" y="6524625"/>
            <a:ext cx="2381250" cy="228600"/>
          </a:xfrm>
          <a:prstGeom prst="rect">
            <a:avLst/>
          </a:prstGeom>
          <a:noFill/>
          <a:ln>
            <a:noFill/>
          </a:ln>
        </p:spPr>
        <p:txBody>
          <a:bodyPr spcFirstLastPara="1" wrap="square" lIns="0" tIns="0" rIns="0" bIns="0" anchor="ctr" anchorCtr="0">
            <a:noAutofit/>
          </a:bodyPr>
          <a:lstStyle/>
          <a:p>
            <a:pPr defTabSz="685800">
              <a:lnSpc>
                <a:spcPct val="140000"/>
              </a:lnSpc>
              <a:buClr>
                <a:srgbClr val="000000"/>
              </a:buClr>
            </a:pPr>
            <a:r>
              <a:rPr lang="en-US" sz="1050" kern="0" dirty="0">
                <a:solidFill>
                  <a:srgbClr val="6B7280"/>
                </a:solidFill>
                <a:latin typeface="Quattrocento Sans"/>
                <a:ea typeface="Quattrocento Sans"/>
                <a:cs typeface="Quattrocento Sans"/>
                <a:sym typeface="Quattrocento Sans"/>
              </a:rPr>
              <a:t>Part II</a:t>
            </a:r>
            <a:endParaRPr sz="1050" kern="0" dirty="0">
              <a:solidFill>
                <a:srgbClr val="000000"/>
              </a:solidFill>
              <a:latin typeface="Arial"/>
              <a:cs typeface="Arial"/>
              <a:sym typeface="Arial"/>
            </a:endParaRPr>
          </a:p>
        </p:txBody>
      </p:sp>
      <p:sp>
        <p:nvSpPr>
          <p:cNvPr id="2" name="TextBox 1">
            <a:extLst>
              <a:ext uri="{FF2B5EF4-FFF2-40B4-BE49-F238E27FC236}">
                <a16:creationId xmlns:a16="http://schemas.microsoft.com/office/drawing/2014/main" id="{668C684A-E5B5-0C56-694A-E4D03EDDF4D7}"/>
              </a:ext>
            </a:extLst>
          </p:cNvPr>
          <p:cNvSpPr txBox="1"/>
          <p:nvPr/>
        </p:nvSpPr>
        <p:spPr>
          <a:xfrm>
            <a:off x="536121" y="835895"/>
            <a:ext cx="10306050" cy="2585323"/>
          </a:xfrm>
          <a:prstGeom prst="rect">
            <a:avLst/>
          </a:prstGeom>
          <a:noFill/>
        </p:spPr>
        <p:txBody>
          <a:bodyPr wrap="square" rtlCol="0">
            <a:spAutoFit/>
          </a:bodyPr>
          <a:lstStyle/>
          <a:p>
            <a:r>
              <a:rPr lang="en-IN" b="1" dirty="0"/>
              <a:t>What is EDGE?</a:t>
            </a:r>
          </a:p>
          <a:p>
            <a:pPr marL="285750" indent="-285750">
              <a:buFont typeface="Arial" panose="020B0604020202020204" pitchFamily="34" charset="0"/>
              <a:buChar char="•"/>
            </a:pPr>
            <a:r>
              <a:rPr lang="en-IN" b="1" dirty="0"/>
              <a:t>EDGE (Enhanced Data Rates for GSM Evolution)</a:t>
            </a:r>
            <a:r>
              <a:rPr lang="en-IN" dirty="0"/>
              <a:t>, commonly referred to as </a:t>
            </a:r>
            <a:r>
              <a:rPr lang="en-IN" b="1" dirty="0"/>
              <a:t>2.75G</a:t>
            </a:r>
            <a:r>
              <a:rPr lang="en-IN" dirty="0"/>
              <a:t>, was introduced as an enhancement to the existing </a:t>
            </a:r>
            <a:r>
              <a:rPr lang="en-IN" b="1" dirty="0"/>
              <a:t>GPRS (2.5G)</a:t>
            </a:r>
            <a:r>
              <a:rPr lang="en-IN" dirty="0"/>
              <a:t> network to improve packet-switched data communication. </a:t>
            </a:r>
          </a:p>
          <a:p>
            <a:pPr marL="285750" indent="-285750">
              <a:buFont typeface="Arial" panose="020B0604020202020204" pitchFamily="34" charset="0"/>
              <a:buChar char="•"/>
            </a:pPr>
            <a:r>
              <a:rPr lang="en-IN" dirty="0"/>
              <a:t>Unlike a completely new cellular generation, EDGE reused the existing GSM radio access infrastructure while introducing more efficient modulation and coding techniques. </a:t>
            </a:r>
          </a:p>
          <a:p>
            <a:pPr marL="285750" indent="-285750">
              <a:buFont typeface="Arial" panose="020B0604020202020204" pitchFamily="34" charset="0"/>
              <a:buChar char="•"/>
            </a:pPr>
            <a:r>
              <a:rPr lang="en-IN" dirty="0"/>
              <a:t>It served as an intermediate technology between </a:t>
            </a:r>
            <a:r>
              <a:rPr lang="en-IN" b="1" dirty="0"/>
              <a:t>GPRS and UMTS (3G)</a:t>
            </a:r>
            <a:r>
              <a:rPr lang="en-IN" dirty="0"/>
              <a:t>, providing higher data rates without requiring operators to deploy an entirely new network.</a:t>
            </a:r>
          </a:p>
          <a:p>
            <a:endParaRPr lang="en-IN" dirty="0"/>
          </a:p>
        </p:txBody>
      </p:sp>
      <p:sp>
        <p:nvSpPr>
          <p:cNvPr id="5" name="TextBox 4">
            <a:extLst>
              <a:ext uri="{FF2B5EF4-FFF2-40B4-BE49-F238E27FC236}">
                <a16:creationId xmlns:a16="http://schemas.microsoft.com/office/drawing/2014/main" id="{8250301E-559A-8BAC-3DC0-7006DD6573D5}"/>
              </a:ext>
            </a:extLst>
          </p:cNvPr>
          <p:cNvSpPr txBox="1"/>
          <p:nvPr/>
        </p:nvSpPr>
        <p:spPr>
          <a:xfrm>
            <a:off x="754743" y="3149600"/>
            <a:ext cx="9942286" cy="3693319"/>
          </a:xfrm>
          <a:prstGeom prst="rect">
            <a:avLst/>
          </a:prstGeom>
          <a:noFill/>
        </p:spPr>
        <p:txBody>
          <a:bodyPr wrap="square" rtlCol="0">
            <a:spAutoFit/>
          </a:bodyPr>
          <a:lstStyle/>
          <a:p>
            <a:r>
              <a:rPr lang="en-IN" b="1" dirty="0"/>
              <a:t>Why was EDGE introduced?</a:t>
            </a:r>
          </a:p>
          <a:p>
            <a:pPr marL="285750" indent="-285750">
              <a:buFont typeface="Arial" panose="020B0604020202020204" pitchFamily="34" charset="0"/>
              <a:buChar char="•"/>
            </a:pPr>
            <a:r>
              <a:rPr lang="en-IN" dirty="0"/>
              <a:t>The rapid growth of Internet-based services created a demand for higher mobile data rates that GPRS could not efficiently support. </a:t>
            </a:r>
          </a:p>
          <a:p>
            <a:pPr marL="285750" indent="-285750">
              <a:buFont typeface="Arial" panose="020B0604020202020204" pitchFamily="34" charset="0"/>
              <a:buChar char="•"/>
            </a:pPr>
            <a:r>
              <a:rPr lang="en-IN" dirty="0"/>
              <a:t>Network operators required a cost-effective solution that improved performance while preserving their existing GSM infrastructure and spectrum allocations.</a:t>
            </a:r>
          </a:p>
          <a:p>
            <a:r>
              <a:rPr lang="en-IN" b="1" dirty="0"/>
              <a:t>Key Features</a:t>
            </a:r>
          </a:p>
          <a:p>
            <a:pPr marL="285750" indent="-285750">
              <a:buFont typeface="Arial" panose="020B0604020202020204" pitchFamily="34" charset="0"/>
              <a:buChar char="•"/>
            </a:pPr>
            <a:r>
              <a:rPr lang="en-IN" dirty="0"/>
              <a:t>Introduced </a:t>
            </a:r>
            <a:r>
              <a:rPr lang="en-IN" b="1" dirty="0"/>
              <a:t>8-PSK modulation</a:t>
            </a:r>
            <a:r>
              <a:rPr lang="en-IN" dirty="0"/>
              <a:t> together with adaptive modulation and coding schemes to increase spectral efficiency. </a:t>
            </a:r>
          </a:p>
          <a:p>
            <a:pPr marL="285750" indent="-285750">
              <a:buFont typeface="Arial" panose="020B0604020202020204" pitchFamily="34" charset="0"/>
              <a:buChar char="•"/>
            </a:pPr>
            <a:r>
              <a:rPr lang="en-IN" dirty="0"/>
              <a:t>Supported a </a:t>
            </a:r>
            <a:r>
              <a:rPr lang="en-IN" b="1" dirty="0"/>
              <a:t>maximum theoretical data rate of 384 kbps</a:t>
            </a:r>
            <a:r>
              <a:rPr lang="en-IN" dirty="0"/>
              <a:t> by utilizing all eight GSM time slots. </a:t>
            </a:r>
          </a:p>
          <a:p>
            <a:pPr marL="285750" indent="-285750">
              <a:buFont typeface="Arial" panose="020B0604020202020204" pitchFamily="34" charset="0"/>
              <a:buChar char="•"/>
            </a:pPr>
            <a:r>
              <a:rPr lang="en-IN" dirty="0"/>
              <a:t>Significantly improved web browsing, multimedia messaging, email, and other packet-based services.</a:t>
            </a:r>
          </a:p>
          <a:p>
            <a:endParaRPr lang="en-IN" dirty="0"/>
          </a:p>
        </p:txBody>
      </p:sp>
    </p:spTree>
    <p:extLst>
      <p:ext uri="{BB962C8B-B14F-4D97-AF65-F5344CB8AC3E}">
        <p14:creationId xmlns:p14="http://schemas.microsoft.com/office/powerpoint/2010/main" val="394741717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332D71AF-9D2D-D658-ECE6-3127B12F7BD1}"/>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8EBE016A-F03A-0857-0DDC-0EA9DCC80948}"/>
              </a:ext>
            </a:extLst>
          </p:cNvPr>
          <p:cNvSpPr/>
          <p:nvPr/>
        </p:nvSpPr>
        <p:spPr>
          <a:xfrm>
            <a:off x="0" y="0"/>
            <a:ext cx="12192000" cy="38100"/>
          </a:xfrm>
          <a:prstGeom prst="rect">
            <a:avLst/>
          </a:prstGeom>
          <a:solidFill>
            <a:srgbClr val="1E5AA8"/>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38" name="Google Shape;138;p6">
            <a:extLst>
              <a:ext uri="{FF2B5EF4-FFF2-40B4-BE49-F238E27FC236}">
                <a16:creationId xmlns:a16="http://schemas.microsoft.com/office/drawing/2014/main" id="{A02132B2-BCC4-5DFC-E4CE-2CCF34550BA5}"/>
              </a:ext>
            </a:extLst>
          </p:cNvPr>
          <p:cNvSpPr/>
          <p:nvPr/>
        </p:nvSpPr>
        <p:spPr>
          <a:xfrm>
            <a:off x="571500" y="238125"/>
            <a:ext cx="11049000" cy="447675"/>
          </a:xfrm>
          <a:prstGeom prst="rect">
            <a:avLst/>
          </a:prstGeom>
          <a:noFill/>
          <a:ln>
            <a:noFill/>
          </a:ln>
        </p:spPr>
        <p:txBody>
          <a:bodyPr spcFirstLastPara="1" wrap="square" lIns="0" tIns="0" rIns="0" bIns="0" anchor="ctr" anchorCtr="0">
            <a:noAutofit/>
          </a:bodyPr>
          <a:lstStyle/>
          <a:p>
            <a:pPr defTabSz="685800">
              <a:buClr>
                <a:srgbClr val="000000"/>
              </a:buClr>
            </a:pPr>
            <a:r>
              <a:rPr lang="en-US" sz="2400" b="1" kern="0" dirty="0">
                <a:solidFill>
                  <a:srgbClr val="4472C4"/>
                </a:solidFill>
                <a:latin typeface="Arial"/>
                <a:cs typeface="Arial"/>
                <a:sym typeface="Arial"/>
              </a:rPr>
              <a:t>Motivation for Third Generation Networks</a:t>
            </a:r>
            <a:endParaRPr lang="en-IN" sz="2400" kern="0" dirty="0">
              <a:solidFill>
                <a:srgbClr val="4472C4"/>
              </a:solidFill>
              <a:latin typeface="Arial"/>
              <a:cs typeface="Arial"/>
              <a:sym typeface="Arial"/>
            </a:endParaRPr>
          </a:p>
        </p:txBody>
      </p:sp>
      <p:sp>
        <p:nvSpPr>
          <p:cNvPr id="139" name="Google Shape;139;p6">
            <a:extLst>
              <a:ext uri="{FF2B5EF4-FFF2-40B4-BE49-F238E27FC236}">
                <a16:creationId xmlns:a16="http://schemas.microsoft.com/office/drawing/2014/main" id="{1D4E8A12-D0C6-0BA4-C53C-A681ADDDB831}"/>
              </a:ext>
            </a:extLst>
          </p:cNvPr>
          <p:cNvSpPr/>
          <p:nvPr/>
        </p:nvSpPr>
        <p:spPr>
          <a:xfrm>
            <a:off x="571500" y="704850"/>
            <a:ext cx="1714500" cy="28575"/>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44" name="Google Shape;144;p6">
            <a:extLst>
              <a:ext uri="{FF2B5EF4-FFF2-40B4-BE49-F238E27FC236}">
                <a16:creationId xmlns:a16="http://schemas.microsoft.com/office/drawing/2014/main" id="{8D7D9FA8-A06E-5E46-433D-1777043B50E9}"/>
              </a:ext>
            </a:extLst>
          </p:cNvPr>
          <p:cNvSpPr/>
          <p:nvPr/>
        </p:nvSpPr>
        <p:spPr>
          <a:xfrm>
            <a:off x="904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More Users</a:t>
            </a:r>
            <a:endParaRPr sz="1200" kern="0">
              <a:solidFill>
                <a:srgbClr val="000000"/>
              </a:solidFill>
              <a:latin typeface="Arial"/>
              <a:cs typeface="Arial"/>
              <a:sym typeface="Arial"/>
            </a:endParaRPr>
          </a:p>
        </p:txBody>
      </p:sp>
      <p:sp>
        <p:nvSpPr>
          <p:cNvPr id="147" name="Google Shape;147;p6">
            <a:extLst>
              <a:ext uri="{FF2B5EF4-FFF2-40B4-BE49-F238E27FC236}">
                <a16:creationId xmlns:a16="http://schemas.microsoft.com/office/drawing/2014/main" id="{43A61665-B7C1-B7B0-A0A2-F2B73BD7F635}"/>
              </a:ext>
            </a:extLst>
          </p:cNvPr>
          <p:cNvSpPr/>
          <p:nvPr/>
        </p:nvSpPr>
        <p:spPr>
          <a:xfrm>
            <a:off x="30956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125" b="1" kern="0" dirty="0">
                <a:solidFill>
                  <a:srgbClr val="FFFFFF"/>
                </a:solidFill>
                <a:latin typeface="Quattrocento Sans"/>
                <a:ea typeface="Quattrocento Sans"/>
                <a:cs typeface="Quattrocento Sans"/>
                <a:sym typeface="Quattrocento Sans"/>
              </a:rPr>
              <a:t>Beer Spectrum</a:t>
            </a:r>
            <a:endParaRPr sz="1125" kern="0" dirty="0">
              <a:solidFill>
                <a:srgbClr val="000000"/>
              </a:solidFill>
              <a:latin typeface="Arial"/>
              <a:cs typeface="Arial"/>
              <a:sym typeface="Arial"/>
            </a:endParaRPr>
          </a:p>
        </p:txBody>
      </p:sp>
      <p:sp>
        <p:nvSpPr>
          <p:cNvPr id="150" name="Google Shape;150;p6">
            <a:extLst>
              <a:ext uri="{FF2B5EF4-FFF2-40B4-BE49-F238E27FC236}">
                <a16:creationId xmlns:a16="http://schemas.microsoft.com/office/drawing/2014/main" id="{159B5EA9-2AB6-E4FC-1CF1-9A68214741AD}"/>
              </a:ext>
            </a:extLst>
          </p:cNvPr>
          <p:cNvSpPr/>
          <p:nvPr/>
        </p:nvSpPr>
        <p:spPr>
          <a:xfrm>
            <a:off x="52863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Capacity</a:t>
            </a:r>
            <a:endParaRPr sz="1200" kern="0">
              <a:solidFill>
                <a:srgbClr val="000000"/>
              </a:solidFill>
              <a:latin typeface="Arial"/>
              <a:cs typeface="Arial"/>
              <a:sym typeface="Arial"/>
            </a:endParaRPr>
          </a:p>
        </p:txBody>
      </p:sp>
      <p:sp>
        <p:nvSpPr>
          <p:cNvPr id="153" name="Google Shape;153;p6">
            <a:extLst>
              <a:ext uri="{FF2B5EF4-FFF2-40B4-BE49-F238E27FC236}">
                <a16:creationId xmlns:a16="http://schemas.microsoft.com/office/drawing/2014/main" id="{D6F598EA-11A9-811B-B5A1-40BFF7E9A0A3}"/>
              </a:ext>
            </a:extLst>
          </p:cNvPr>
          <p:cNvSpPr/>
          <p:nvPr/>
        </p:nvSpPr>
        <p:spPr>
          <a:xfrm>
            <a:off x="74771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Speed</a:t>
            </a:r>
            <a:endParaRPr sz="1200" kern="0">
              <a:solidFill>
                <a:srgbClr val="000000"/>
              </a:solidFill>
              <a:latin typeface="Arial"/>
              <a:cs typeface="Arial"/>
              <a:sym typeface="Arial"/>
            </a:endParaRPr>
          </a:p>
        </p:txBody>
      </p:sp>
      <p:sp>
        <p:nvSpPr>
          <p:cNvPr id="156" name="Google Shape;156;p6">
            <a:extLst>
              <a:ext uri="{FF2B5EF4-FFF2-40B4-BE49-F238E27FC236}">
                <a16:creationId xmlns:a16="http://schemas.microsoft.com/office/drawing/2014/main" id="{8F5168CB-537F-FB89-2C94-61C9624C58D1}"/>
              </a:ext>
            </a:extLst>
          </p:cNvPr>
          <p:cNvSpPr/>
          <p:nvPr/>
        </p:nvSpPr>
        <p:spPr>
          <a:xfrm>
            <a:off x="9667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050" b="1" kern="0">
                <a:solidFill>
                  <a:srgbClr val="FFFFFF"/>
                </a:solidFill>
                <a:latin typeface="Quattrocento Sans"/>
                <a:ea typeface="Quattrocento Sans"/>
                <a:cs typeface="Quattrocento Sans"/>
                <a:sym typeface="Quattrocento Sans"/>
              </a:rPr>
              <a:t>Better Experience</a:t>
            </a:r>
            <a:endParaRPr sz="1050" kern="0">
              <a:solidFill>
                <a:srgbClr val="000000"/>
              </a:solidFill>
              <a:latin typeface="Arial"/>
              <a:cs typeface="Arial"/>
              <a:sym typeface="Arial"/>
            </a:endParaRPr>
          </a:p>
        </p:txBody>
      </p:sp>
      <p:sp>
        <p:nvSpPr>
          <p:cNvPr id="160" name="Google Shape;160;p6">
            <a:extLst>
              <a:ext uri="{FF2B5EF4-FFF2-40B4-BE49-F238E27FC236}">
                <a16:creationId xmlns:a16="http://schemas.microsoft.com/office/drawing/2014/main" id="{4608F043-FDA2-0E9B-0782-35DB901E8345}"/>
              </a:ext>
            </a:extLst>
          </p:cNvPr>
          <p:cNvSpPr/>
          <p:nvPr/>
        </p:nvSpPr>
        <p:spPr>
          <a:xfrm>
            <a:off x="571500" y="6457950"/>
            <a:ext cx="11049000" cy="9525"/>
          </a:xfrm>
          <a:prstGeom prst="rect">
            <a:avLst/>
          </a:prstGeom>
          <a:solidFill>
            <a:srgbClr val="D0D5DD"/>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 name="Google Shape;161;p6">
            <a:extLst>
              <a:ext uri="{FF2B5EF4-FFF2-40B4-BE49-F238E27FC236}">
                <a16:creationId xmlns:a16="http://schemas.microsoft.com/office/drawing/2014/main" id="{33E205F2-0D35-D9CD-E4B2-2E89AA9149A3}"/>
              </a:ext>
            </a:extLst>
          </p:cNvPr>
          <p:cNvSpPr/>
          <p:nvPr/>
        </p:nvSpPr>
        <p:spPr>
          <a:xfrm>
            <a:off x="571500" y="6524625"/>
            <a:ext cx="2381250" cy="228600"/>
          </a:xfrm>
          <a:prstGeom prst="rect">
            <a:avLst/>
          </a:prstGeom>
          <a:noFill/>
          <a:ln>
            <a:noFill/>
          </a:ln>
        </p:spPr>
        <p:txBody>
          <a:bodyPr spcFirstLastPara="1" wrap="square" lIns="0" tIns="0" rIns="0" bIns="0" anchor="ctr" anchorCtr="0">
            <a:noAutofit/>
          </a:bodyPr>
          <a:lstStyle/>
          <a:p>
            <a:pPr defTabSz="685800">
              <a:lnSpc>
                <a:spcPct val="140000"/>
              </a:lnSpc>
              <a:buClr>
                <a:srgbClr val="000000"/>
              </a:buClr>
            </a:pPr>
            <a:r>
              <a:rPr lang="en-US" sz="1050" kern="0" dirty="0">
                <a:solidFill>
                  <a:srgbClr val="6B7280"/>
                </a:solidFill>
                <a:latin typeface="Quattrocento Sans"/>
                <a:ea typeface="Quattrocento Sans"/>
                <a:cs typeface="Quattrocento Sans"/>
                <a:sym typeface="Quattrocento Sans"/>
              </a:rPr>
              <a:t>Part II</a:t>
            </a:r>
            <a:endParaRPr sz="1050" kern="0" dirty="0">
              <a:solidFill>
                <a:srgbClr val="000000"/>
              </a:solidFill>
              <a:latin typeface="Arial"/>
              <a:cs typeface="Arial"/>
              <a:sym typeface="Arial"/>
            </a:endParaRPr>
          </a:p>
        </p:txBody>
      </p:sp>
      <p:sp>
        <p:nvSpPr>
          <p:cNvPr id="2" name="TextBox 1">
            <a:extLst>
              <a:ext uri="{FF2B5EF4-FFF2-40B4-BE49-F238E27FC236}">
                <a16:creationId xmlns:a16="http://schemas.microsoft.com/office/drawing/2014/main" id="{BDC3D32D-5455-09E9-7A0A-D6F6A8F8F683}"/>
              </a:ext>
            </a:extLst>
          </p:cNvPr>
          <p:cNvSpPr txBox="1"/>
          <p:nvPr/>
        </p:nvSpPr>
        <p:spPr>
          <a:xfrm>
            <a:off x="725714" y="1001486"/>
            <a:ext cx="10392229" cy="5078313"/>
          </a:xfrm>
          <a:prstGeom prst="rect">
            <a:avLst/>
          </a:prstGeom>
          <a:noFill/>
        </p:spPr>
        <p:txBody>
          <a:bodyPr wrap="square" rtlCol="0">
            <a:spAutoFit/>
          </a:bodyPr>
          <a:lstStyle/>
          <a:p>
            <a:r>
              <a:rPr lang="en-IN" b="1" dirty="0"/>
              <a:t>Need for a New Generation</a:t>
            </a:r>
          </a:p>
          <a:p>
            <a:pPr marL="285750" indent="-285750">
              <a:buFont typeface="Arial" panose="020B0604020202020204" pitchFamily="34" charset="0"/>
              <a:buChar char="•"/>
            </a:pPr>
            <a:r>
              <a:rPr lang="en-IN" dirty="0"/>
              <a:t>Although EDGE significantly improved packet data transmission, it could not satisfy the rapidly increasing demand for high-speed mobile Internet and multimedia applications. </a:t>
            </a:r>
          </a:p>
          <a:p>
            <a:pPr marL="285750" indent="-285750">
              <a:buFont typeface="Arial" panose="020B0604020202020204" pitchFamily="34" charset="0"/>
              <a:buChar char="•"/>
            </a:pPr>
            <a:r>
              <a:rPr lang="en-IN" dirty="0"/>
              <a:t>The growing number of subscribers, combined with higher bandwidth requirements, necessitated a completely new radio access technology with improved spectral efficiency and network capacity. </a:t>
            </a:r>
          </a:p>
          <a:p>
            <a:pPr marL="285750" indent="-285750">
              <a:buFont typeface="Arial" panose="020B0604020202020204" pitchFamily="34" charset="0"/>
              <a:buChar char="•"/>
            </a:pPr>
            <a:r>
              <a:rPr lang="en-IN" dirty="0"/>
              <a:t>The objective was not only to increase data rates but also to support a wide variety of real-time multimedia services while maintaining seamless mobility. </a:t>
            </a:r>
          </a:p>
          <a:p>
            <a:r>
              <a:rPr lang="en-IN" b="1" dirty="0"/>
              <a:t>Emerging Applications</a:t>
            </a:r>
          </a:p>
          <a:p>
            <a:pPr marL="285750" indent="-285750">
              <a:buFont typeface="Arial" panose="020B0604020202020204" pitchFamily="34" charset="0"/>
              <a:buChar char="•"/>
            </a:pPr>
            <a:r>
              <a:rPr lang="en-IN" dirty="0"/>
              <a:t>Video calling and real-time multimedia communication </a:t>
            </a:r>
          </a:p>
          <a:p>
            <a:pPr marL="285750" indent="-285750">
              <a:buFont typeface="Arial" panose="020B0604020202020204" pitchFamily="34" charset="0"/>
              <a:buChar char="•"/>
            </a:pPr>
            <a:r>
              <a:rPr lang="en-IN" dirty="0"/>
              <a:t>Mobile Internet access with improved browsing experience </a:t>
            </a:r>
          </a:p>
          <a:p>
            <a:pPr marL="285750" indent="-285750">
              <a:buFont typeface="Arial" panose="020B0604020202020204" pitchFamily="34" charset="0"/>
              <a:buChar char="•"/>
            </a:pPr>
            <a:r>
              <a:rPr lang="en-IN" dirty="0"/>
              <a:t>Audio and video streaming services </a:t>
            </a:r>
          </a:p>
          <a:p>
            <a:pPr marL="285750" indent="-285750">
              <a:buFont typeface="Arial" panose="020B0604020202020204" pitchFamily="34" charset="0"/>
              <a:buChar char="•"/>
            </a:pPr>
            <a:r>
              <a:rPr lang="en-IN" dirty="0"/>
              <a:t>GPS-based navigation and location-aware applications </a:t>
            </a:r>
          </a:p>
          <a:p>
            <a:pPr marL="285750" indent="-285750">
              <a:buFont typeface="Arial" panose="020B0604020202020204" pitchFamily="34" charset="0"/>
              <a:buChar char="•"/>
            </a:pPr>
            <a:r>
              <a:rPr lang="en-IN" dirty="0"/>
              <a:t>Collaborative and multimedia-rich mobile services </a:t>
            </a:r>
          </a:p>
          <a:p>
            <a:r>
              <a:rPr lang="en-IN" b="1" dirty="0"/>
              <a:t>Additional Driving Factor</a:t>
            </a:r>
          </a:p>
          <a:p>
            <a:pPr marL="285750" indent="-285750">
              <a:buFont typeface="Arial" panose="020B0604020202020204" pitchFamily="34" charset="0"/>
              <a:buChar char="•"/>
            </a:pPr>
            <a:r>
              <a:rPr lang="en-IN" dirty="0"/>
              <a:t>The widespread adoption of broadband Internet technologies such as </a:t>
            </a:r>
            <a:r>
              <a:rPr lang="en-IN" b="1" dirty="0"/>
              <a:t>DSL and Cable</a:t>
            </a:r>
            <a:r>
              <a:rPr lang="en-IN" dirty="0"/>
              <a:t> significantly increased user expectations, creating the need for mobile networks capable of delivering broadband-like performance. </a:t>
            </a:r>
          </a:p>
          <a:p>
            <a:endParaRPr lang="en-IN" dirty="0"/>
          </a:p>
        </p:txBody>
      </p:sp>
    </p:spTree>
    <p:extLst>
      <p:ext uri="{BB962C8B-B14F-4D97-AF65-F5344CB8AC3E}">
        <p14:creationId xmlns:p14="http://schemas.microsoft.com/office/powerpoint/2010/main" val="268335738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E2CE34B3-6C57-31C4-804C-E2775C01B460}"/>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DB944926-6BF7-A3D7-FF92-5E24E8CE3328}"/>
              </a:ext>
            </a:extLst>
          </p:cNvPr>
          <p:cNvSpPr/>
          <p:nvPr/>
        </p:nvSpPr>
        <p:spPr>
          <a:xfrm>
            <a:off x="0" y="0"/>
            <a:ext cx="12192000" cy="38100"/>
          </a:xfrm>
          <a:prstGeom prst="rect">
            <a:avLst/>
          </a:prstGeom>
          <a:solidFill>
            <a:srgbClr val="1E5AA8"/>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38" name="Google Shape;138;p6">
            <a:extLst>
              <a:ext uri="{FF2B5EF4-FFF2-40B4-BE49-F238E27FC236}">
                <a16:creationId xmlns:a16="http://schemas.microsoft.com/office/drawing/2014/main" id="{A32A5715-81EF-B93B-72A6-33AD56769CCA}"/>
              </a:ext>
            </a:extLst>
          </p:cNvPr>
          <p:cNvSpPr/>
          <p:nvPr/>
        </p:nvSpPr>
        <p:spPr>
          <a:xfrm>
            <a:off x="571500" y="238125"/>
            <a:ext cx="11049000" cy="447675"/>
          </a:xfrm>
          <a:prstGeom prst="rect">
            <a:avLst/>
          </a:prstGeom>
          <a:noFill/>
          <a:ln>
            <a:noFill/>
          </a:ln>
        </p:spPr>
        <p:txBody>
          <a:bodyPr spcFirstLastPara="1" wrap="square" lIns="0" tIns="0" rIns="0" bIns="0" anchor="ctr" anchorCtr="0">
            <a:noAutofit/>
          </a:bodyPr>
          <a:lstStyle/>
          <a:p>
            <a:pPr defTabSz="685800">
              <a:buClr>
                <a:srgbClr val="000000"/>
              </a:buClr>
            </a:pPr>
            <a:r>
              <a:rPr lang="en-US" sz="2400" b="1" kern="0" dirty="0">
                <a:solidFill>
                  <a:srgbClr val="4472C4"/>
                </a:solidFill>
                <a:latin typeface="Arial"/>
                <a:cs typeface="Arial"/>
                <a:sym typeface="Arial"/>
              </a:rPr>
              <a:t>3GPP Standardization</a:t>
            </a:r>
            <a:endParaRPr lang="en-IN" sz="2400" kern="0" dirty="0">
              <a:solidFill>
                <a:srgbClr val="4472C4"/>
              </a:solidFill>
              <a:latin typeface="Arial"/>
              <a:cs typeface="Arial"/>
              <a:sym typeface="Arial"/>
            </a:endParaRPr>
          </a:p>
        </p:txBody>
      </p:sp>
      <p:sp>
        <p:nvSpPr>
          <p:cNvPr id="139" name="Google Shape;139;p6">
            <a:extLst>
              <a:ext uri="{FF2B5EF4-FFF2-40B4-BE49-F238E27FC236}">
                <a16:creationId xmlns:a16="http://schemas.microsoft.com/office/drawing/2014/main" id="{B6EEA394-0B33-5539-502F-E474CC9A5CB5}"/>
              </a:ext>
            </a:extLst>
          </p:cNvPr>
          <p:cNvSpPr/>
          <p:nvPr/>
        </p:nvSpPr>
        <p:spPr>
          <a:xfrm>
            <a:off x="571500" y="704850"/>
            <a:ext cx="1714500" cy="28575"/>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44" name="Google Shape;144;p6">
            <a:extLst>
              <a:ext uri="{FF2B5EF4-FFF2-40B4-BE49-F238E27FC236}">
                <a16:creationId xmlns:a16="http://schemas.microsoft.com/office/drawing/2014/main" id="{206687F8-FD9B-845C-737C-F5B1E85F0493}"/>
              </a:ext>
            </a:extLst>
          </p:cNvPr>
          <p:cNvSpPr/>
          <p:nvPr/>
        </p:nvSpPr>
        <p:spPr>
          <a:xfrm>
            <a:off x="904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More Users</a:t>
            </a:r>
            <a:endParaRPr sz="1200" kern="0">
              <a:solidFill>
                <a:srgbClr val="000000"/>
              </a:solidFill>
              <a:latin typeface="Arial"/>
              <a:cs typeface="Arial"/>
              <a:sym typeface="Arial"/>
            </a:endParaRPr>
          </a:p>
        </p:txBody>
      </p:sp>
      <p:sp>
        <p:nvSpPr>
          <p:cNvPr id="147" name="Google Shape;147;p6">
            <a:extLst>
              <a:ext uri="{FF2B5EF4-FFF2-40B4-BE49-F238E27FC236}">
                <a16:creationId xmlns:a16="http://schemas.microsoft.com/office/drawing/2014/main" id="{0BB4B3DF-F1BE-B17B-F4D7-ED20E7B46228}"/>
              </a:ext>
            </a:extLst>
          </p:cNvPr>
          <p:cNvSpPr/>
          <p:nvPr/>
        </p:nvSpPr>
        <p:spPr>
          <a:xfrm>
            <a:off x="30956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125" b="1" kern="0" dirty="0">
                <a:solidFill>
                  <a:srgbClr val="FFFFFF"/>
                </a:solidFill>
                <a:latin typeface="Quattrocento Sans"/>
                <a:ea typeface="Quattrocento Sans"/>
                <a:cs typeface="Quattrocento Sans"/>
                <a:sym typeface="Quattrocento Sans"/>
              </a:rPr>
              <a:t>Beer Spectrum</a:t>
            </a:r>
            <a:endParaRPr sz="1125" kern="0" dirty="0">
              <a:solidFill>
                <a:srgbClr val="000000"/>
              </a:solidFill>
              <a:latin typeface="Arial"/>
              <a:cs typeface="Arial"/>
              <a:sym typeface="Arial"/>
            </a:endParaRPr>
          </a:p>
        </p:txBody>
      </p:sp>
      <p:sp>
        <p:nvSpPr>
          <p:cNvPr id="150" name="Google Shape;150;p6">
            <a:extLst>
              <a:ext uri="{FF2B5EF4-FFF2-40B4-BE49-F238E27FC236}">
                <a16:creationId xmlns:a16="http://schemas.microsoft.com/office/drawing/2014/main" id="{0F23AFDB-6DB7-0876-E9C4-CF1FAB2094F9}"/>
              </a:ext>
            </a:extLst>
          </p:cNvPr>
          <p:cNvSpPr/>
          <p:nvPr/>
        </p:nvSpPr>
        <p:spPr>
          <a:xfrm>
            <a:off x="52863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Capacity</a:t>
            </a:r>
            <a:endParaRPr sz="1200" kern="0">
              <a:solidFill>
                <a:srgbClr val="000000"/>
              </a:solidFill>
              <a:latin typeface="Arial"/>
              <a:cs typeface="Arial"/>
              <a:sym typeface="Arial"/>
            </a:endParaRPr>
          </a:p>
        </p:txBody>
      </p:sp>
      <p:sp>
        <p:nvSpPr>
          <p:cNvPr id="153" name="Google Shape;153;p6">
            <a:extLst>
              <a:ext uri="{FF2B5EF4-FFF2-40B4-BE49-F238E27FC236}">
                <a16:creationId xmlns:a16="http://schemas.microsoft.com/office/drawing/2014/main" id="{47A5113B-35B7-2135-9471-A293E87455DF}"/>
              </a:ext>
            </a:extLst>
          </p:cNvPr>
          <p:cNvSpPr/>
          <p:nvPr/>
        </p:nvSpPr>
        <p:spPr>
          <a:xfrm>
            <a:off x="74771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Speed</a:t>
            </a:r>
            <a:endParaRPr sz="1200" kern="0">
              <a:solidFill>
                <a:srgbClr val="000000"/>
              </a:solidFill>
              <a:latin typeface="Arial"/>
              <a:cs typeface="Arial"/>
              <a:sym typeface="Arial"/>
            </a:endParaRPr>
          </a:p>
        </p:txBody>
      </p:sp>
      <p:sp>
        <p:nvSpPr>
          <p:cNvPr id="156" name="Google Shape;156;p6">
            <a:extLst>
              <a:ext uri="{FF2B5EF4-FFF2-40B4-BE49-F238E27FC236}">
                <a16:creationId xmlns:a16="http://schemas.microsoft.com/office/drawing/2014/main" id="{E4B4DD10-FC06-16D0-6966-192BA1A6FBF5}"/>
              </a:ext>
            </a:extLst>
          </p:cNvPr>
          <p:cNvSpPr/>
          <p:nvPr/>
        </p:nvSpPr>
        <p:spPr>
          <a:xfrm>
            <a:off x="9667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050" b="1" kern="0">
                <a:solidFill>
                  <a:srgbClr val="FFFFFF"/>
                </a:solidFill>
                <a:latin typeface="Quattrocento Sans"/>
                <a:ea typeface="Quattrocento Sans"/>
                <a:cs typeface="Quattrocento Sans"/>
                <a:sym typeface="Quattrocento Sans"/>
              </a:rPr>
              <a:t>Better Experience</a:t>
            </a:r>
            <a:endParaRPr sz="1050" kern="0">
              <a:solidFill>
                <a:srgbClr val="000000"/>
              </a:solidFill>
              <a:latin typeface="Arial"/>
              <a:cs typeface="Arial"/>
              <a:sym typeface="Arial"/>
            </a:endParaRPr>
          </a:p>
        </p:txBody>
      </p:sp>
      <p:sp>
        <p:nvSpPr>
          <p:cNvPr id="160" name="Google Shape;160;p6">
            <a:extLst>
              <a:ext uri="{FF2B5EF4-FFF2-40B4-BE49-F238E27FC236}">
                <a16:creationId xmlns:a16="http://schemas.microsoft.com/office/drawing/2014/main" id="{227341A1-6A4F-B354-6994-24C0B7C146C9}"/>
              </a:ext>
            </a:extLst>
          </p:cNvPr>
          <p:cNvSpPr/>
          <p:nvPr/>
        </p:nvSpPr>
        <p:spPr>
          <a:xfrm>
            <a:off x="571500" y="6457950"/>
            <a:ext cx="11049000" cy="9525"/>
          </a:xfrm>
          <a:prstGeom prst="rect">
            <a:avLst/>
          </a:prstGeom>
          <a:solidFill>
            <a:srgbClr val="D0D5DD"/>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 name="Google Shape;161;p6">
            <a:extLst>
              <a:ext uri="{FF2B5EF4-FFF2-40B4-BE49-F238E27FC236}">
                <a16:creationId xmlns:a16="http://schemas.microsoft.com/office/drawing/2014/main" id="{5E1F8116-EEE3-66D1-8DD4-7043AEA2668E}"/>
              </a:ext>
            </a:extLst>
          </p:cNvPr>
          <p:cNvSpPr/>
          <p:nvPr/>
        </p:nvSpPr>
        <p:spPr>
          <a:xfrm>
            <a:off x="571500" y="6524625"/>
            <a:ext cx="2381250" cy="228600"/>
          </a:xfrm>
          <a:prstGeom prst="rect">
            <a:avLst/>
          </a:prstGeom>
          <a:noFill/>
          <a:ln>
            <a:noFill/>
          </a:ln>
        </p:spPr>
        <p:txBody>
          <a:bodyPr spcFirstLastPara="1" wrap="square" lIns="0" tIns="0" rIns="0" bIns="0" anchor="ctr" anchorCtr="0">
            <a:noAutofit/>
          </a:bodyPr>
          <a:lstStyle/>
          <a:p>
            <a:pPr defTabSz="685800">
              <a:lnSpc>
                <a:spcPct val="140000"/>
              </a:lnSpc>
              <a:buClr>
                <a:srgbClr val="000000"/>
              </a:buClr>
            </a:pPr>
            <a:r>
              <a:rPr lang="en-US" sz="1050" kern="0" dirty="0">
                <a:solidFill>
                  <a:srgbClr val="6B7280"/>
                </a:solidFill>
                <a:latin typeface="Quattrocento Sans"/>
                <a:ea typeface="Quattrocento Sans"/>
                <a:cs typeface="Quattrocento Sans"/>
                <a:sym typeface="Quattrocento Sans"/>
              </a:rPr>
              <a:t>Part II</a:t>
            </a:r>
            <a:endParaRPr sz="1050" kern="0" dirty="0">
              <a:solidFill>
                <a:srgbClr val="000000"/>
              </a:solidFill>
              <a:latin typeface="Arial"/>
              <a:cs typeface="Arial"/>
              <a:sym typeface="Arial"/>
            </a:endParaRPr>
          </a:p>
        </p:txBody>
      </p:sp>
      <p:sp>
        <p:nvSpPr>
          <p:cNvPr id="2" name="TextBox 1">
            <a:extLst>
              <a:ext uri="{FF2B5EF4-FFF2-40B4-BE49-F238E27FC236}">
                <a16:creationId xmlns:a16="http://schemas.microsoft.com/office/drawing/2014/main" id="{CA924820-10E8-3511-4DE2-EEC2AB218EE1}"/>
              </a:ext>
            </a:extLst>
          </p:cNvPr>
          <p:cNvSpPr txBox="1"/>
          <p:nvPr/>
        </p:nvSpPr>
        <p:spPr>
          <a:xfrm>
            <a:off x="711200" y="1001486"/>
            <a:ext cx="9782629" cy="4801314"/>
          </a:xfrm>
          <a:prstGeom prst="rect">
            <a:avLst/>
          </a:prstGeom>
          <a:noFill/>
        </p:spPr>
        <p:txBody>
          <a:bodyPr wrap="square" rtlCol="0">
            <a:spAutoFit/>
          </a:bodyPr>
          <a:lstStyle/>
          <a:p>
            <a:r>
              <a:rPr lang="en-IN" b="1" dirty="0"/>
              <a:t>What is 3GPP?</a:t>
            </a:r>
          </a:p>
          <a:p>
            <a:r>
              <a:rPr lang="en-IN" dirty="0"/>
              <a:t>The </a:t>
            </a:r>
            <a:r>
              <a:rPr lang="en-IN" b="1" dirty="0"/>
              <a:t>3rd Generation Partnership Project (3GPP)</a:t>
            </a:r>
            <a:r>
              <a:rPr lang="en-IN" dirty="0"/>
              <a:t> formed in 1998, is an international standards organization responsible for developing global specifications for modern mobile communication systems. Since its establishment, 3GPP has standardized </a:t>
            </a:r>
            <a:r>
              <a:rPr lang="en-IN" b="1" dirty="0"/>
              <a:t>3G (UMTS)</a:t>
            </a:r>
            <a:r>
              <a:rPr lang="en-IN" dirty="0"/>
              <a:t>, </a:t>
            </a:r>
            <a:r>
              <a:rPr lang="en-IN" b="1" dirty="0"/>
              <a:t>4G LTE</a:t>
            </a:r>
            <a:r>
              <a:rPr lang="en-IN" dirty="0"/>
              <a:t>, </a:t>
            </a:r>
            <a:r>
              <a:rPr lang="en-IN" b="1" dirty="0"/>
              <a:t>LTE-Advanced</a:t>
            </a:r>
            <a:r>
              <a:rPr lang="en-IN" dirty="0"/>
              <a:t>, </a:t>
            </a:r>
            <a:r>
              <a:rPr lang="en-IN" b="1" dirty="0"/>
              <a:t>5G NR</a:t>
            </a:r>
            <a:r>
              <a:rPr lang="en-IN" dirty="0"/>
              <a:t>, and continues to develop standards for </a:t>
            </a:r>
            <a:r>
              <a:rPr lang="en-IN" b="1" dirty="0"/>
              <a:t>5G-Advanced</a:t>
            </a:r>
            <a:r>
              <a:rPr lang="en-IN" dirty="0"/>
              <a:t> and future </a:t>
            </a:r>
            <a:r>
              <a:rPr lang="en-IN" b="1" dirty="0"/>
              <a:t>6G</a:t>
            </a:r>
            <a:r>
              <a:rPr lang="en-IN" dirty="0"/>
              <a:t> technologies. </a:t>
            </a:r>
          </a:p>
          <a:p>
            <a:r>
              <a:rPr lang="en-IN" b="1" dirty="0"/>
              <a:t>Technical Specification Groups (TSGs)</a:t>
            </a:r>
          </a:p>
          <a:p>
            <a:pPr marL="285750" indent="-285750">
              <a:buFont typeface="Arial" panose="020B0604020202020204" pitchFamily="34" charset="0"/>
              <a:buChar char="•"/>
            </a:pPr>
            <a:r>
              <a:rPr lang="en-IN" dirty="0"/>
              <a:t>3GPP develops standards through three major Technical Specification Groups:</a:t>
            </a:r>
          </a:p>
          <a:p>
            <a:pPr marL="285750" indent="-285750">
              <a:buFont typeface="Arial" panose="020B0604020202020204" pitchFamily="34" charset="0"/>
              <a:buChar char="•"/>
            </a:pPr>
            <a:r>
              <a:rPr lang="en-IN" b="1" dirty="0"/>
              <a:t>RAN (Radio Access Network):</a:t>
            </a:r>
            <a:r>
              <a:rPr lang="en-IN" dirty="0"/>
              <a:t> Develops radio interface technologies and access network protocols. </a:t>
            </a:r>
          </a:p>
          <a:p>
            <a:pPr marL="285750" indent="-285750">
              <a:buFont typeface="Arial" panose="020B0604020202020204" pitchFamily="34" charset="0"/>
              <a:buChar char="•"/>
            </a:pPr>
            <a:r>
              <a:rPr lang="en-IN" b="1" dirty="0"/>
              <a:t>SA (Services and System Aspects):</a:t>
            </a:r>
            <a:r>
              <a:rPr lang="en-IN" dirty="0"/>
              <a:t> Defines overall system architecture, security, network slicing, and service capabilities. </a:t>
            </a:r>
          </a:p>
          <a:p>
            <a:pPr marL="285750" indent="-285750">
              <a:buFont typeface="Arial" panose="020B0604020202020204" pitchFamily="34" charset="0"/>
              <a:buChar char="•"/>
            </a:pPr>
            <a:r>
              <a:rPr lang="en-IN" b="1" dirty="0"/>
              <a:t>CT (Core Network and Terminals):</a:t>
            </a:r>
            <a:r>
              <a:rPr lang="en-IN" dirty="0"/>
              <a:t> Develops protocols related to the core network and user equipment. </a:t>
            </a:r>
          </a:p>
          <a:p>
            <a:r>
              <a:rPr lang="en-IN" dirty="0"/>
              <a:t>Each TSG consists of multiple Working Groups responsible for different aspects of mobile communication standardization</a:t>
            </a:r>
          </a:p>
          <a:p>
            <a:endParaRPr lang="en-IN" dirty="0"/>
          </a:p>
        </p:txBody>
      </p:sp>
    </p:spTree>
    <p:extLst>
      <p:ext uri="{BB962C8B-B14F-4D97-AF65-F5344CB8AC3E}">
        <p14:creationId xmlns:p14="http://schemas.microsoft.com/office/powerpoint/2010/main" val="384707555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9DB3D164-9EDB-2839-8E95-870FC912C80B}"/>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52C8273F-9AD7-1BCC-1B2E-853B1ED7D669}"/>
              </a:ext>
            </a:extLst>
          </p:cNvPr>
          <p:cNvSpPr/>
          <p:nvPr/>
        </p:nvSpPr>
        <p:spPr>
          <a:xfrm>
            <a:off x="0" y="0"/>
            <a:ext cx="12192000" cy="38100"/>
          </a:xfrm>
          <a:prstGeom prst="rect">
            <a:avLst/>
          </a:prstGeom>
          <a:solidFill>
            <a:srgbClr val="1E5AA8"/>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38" name="Google Shape;138;p6">
            <a:extLst>
              <a:ext uri="{FF2B5EF4-FFF2-40B4-BE49-F238E27FC236}">
                <a16:creationId xmlns:a16="http://schemas.microsoft.com/office/drawing/2014/main" id="{0062C947-54BA-876C-6B0F-A559E81C8849}"/>
              </a:ext>
            </a:extLst>
          </p:cNvPr>
          <p:cNvSpPr/>
          <p:nvPr/>
        </p:nvSpPr>
        <p:spPr>
          <a:xfrm>
            <a:off x="571500" y="238125"/>
            <a:ext cx="11049000" cy="447675"/>
          </a:xfrm>
          <a:prstGeom prst="rect">
            <a:avLst/>
          </a:prstGeom>
          <a:noFill/>
          <a:ln>
            <a:noFill/>
          </a:ln>
        </p:spPr>
        <p:txBody>
          <a:bodyPr spcFirstLastPara="1" wrap="square" lIns="0" tIns="0" rIns="0" bIns="0" anchor="ctr" anchorCtr="0">
            <a:noAutofit/>
          </a:bodyPr>
          <a:lstStyle/>
          <a:p>
            <a:pPr defTabSz="685800">
              <a:buClr>
                <a:srgbClr val="000000"/>
              </a:buClr>
            </a:pPr>
            <a:r>
              <a:rPr lang="en-US" sz="2400" b="1" kern="0" dirty="0">
                <a:solidFill>
                  <a:srgbClr val="4472C4"/>
                </a:solidFill>
                <a:latin typeface="Arial"/>
                <a:cs typeface="Arial"/>
                <a:sym typeface="Arial"/>
              </a:rPr>
              <a:t>3G/UMTS Architecture</a:t>
            </a:r>
            <a:endParaRPr lang="en-IN" sz="2400" kern="0" dirty="0">
              <a:solidFill>
                <a:srgbClr val="4472C4"/>
              </a:solidFill>
              <a:latin typeface="Arial"/>
              <a:cs typeface="Arial"/>
              <a:sym typeface="Arial"/>
            </a:endParaRPr>
          </a:p>
        </p:txBody>
      </p:sp>
      <p:sp>
        <p:nvSpPr>
          <p:cNvPr id="139" name="Google Shape;139;p6">
            <a:extLst>
              <a:ext uri="{FF2B5EF4-FFF2-40B4-BE49-F238E27FC236}">
                <a16:creationId xmlns:a16="http://schemas.microsoft.com/office/drawing/2014/main" id="{200821D5-288F-D68E-6C80-B06FD8D17EF8}"/>
              </a:ext>
            </a:extLst>
          </p:cNvPr>
          <p:cNvSpPr/>
          <p:nvPr/>
        </p:nvSpPr>
        <p:spPr>
          <a:xfrm>
            <a:off x="571500" y="704850"/>
            <a:ext cx="1714500" cy="28575"/>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44" name="Google Shape;144;p6">
            <a:extLst>
              <a:ext uri="{FF2B5EF4-FFF2-40B4-BE49-F238E27FC236}">
                <a16:creationId xmlns:a16="http://schemas.microsoft.com/office/drawing/2014/main" id="{18FDB5B9-9AED-B6CF-EA7B-0B268E07AED7}"/>
              </a:ext>
            </a:extLst>
          </p:cNvPr>
          <p:cNvSpPr/>
          <p:nvPr/>
        </p:nvSpPr>
        <p:spPr>
          <a:xfrm>
            <a:off x="904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More Users</a:t>
            </a:r>
            <a:endParaRPr sz="1200" kern="0">
              <a:solidFill>
                <a:srgbClr val="000000"/>
              </a:solidFill>
              <a:latin typeface="Arial"/>
              <a:cs typeface="Arial"/>
              <a:sym typeface="Arial"/>
            </a:endParaRPr>
          </a:p>
        </p:txBody>
      </p:sp>
      <p:sp>
        <p:nvSpPr>
          <p:cNvPr id="147" name="Google Shape;147;p6">
            <a:extLst>
              <a:ext uri="{FF2B5EF4-FFF2-40B4-BE49-F238E27FC236}">
                <a16:creationId xmlns:a16="http://schemas.microsoft.com/office/drawing/2014/main" id="{4E18BB75-D9CB-6FDB-48DE-CE6D79F3C5D8}"/>
              </a:ext>
            </a:extLst>
          </p:cNvPr>
          <p:cNvSpPr/>
          <p:nvPr/>
        </p:nvSpPr>
        <p:spPr>
          <a:xfrm>
            <a:off x="30956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125" b="1" kern="0" dirty="0">
                <a:solidFill>
                  <a:srgbClr val="FFFFFF"/>
                </a:solidFill>
                <a:latin typeface="Quattrocento Sans"/>
                <a:ea typeface="Quattrocento Sans"/>
                <a:cs typeface="Quattrocento Sans"/>
                <a:sym typeface="Quattrocento Sans"/>
              </a:rPr>
              <a:t>Beer Spectrum</a:t>
            </a:r>
            <a:endParaRPr sz="1125" kern="0" dirty="0">
              <a:solidFill>
                <a:srgbClr val="000000"/>
              </a:solidFill>
              <a:latin typeface="Arial"/>
              <a:cs typeface="Arial"/>
              <a:sym typeface="Arial"/>
            </a:endParaRPr>
          </a:p>
        </p:txBody>
      </p:sp>
      <p:sp>
        <p:nvSpPr>
          <p:cNvPr id="150" name="Google Shape;150;p6">
            <a:extLst>
              <a:ext uri="{FF2B5EF4-FFF2-40B4-BE49-F238E27FC236}">
                <a16:creationId xmlns:a16="http://schemas.microsoft.com/office/drawing/2014/main" id="{A6F4B80B-A590-9178-A183-FEBD44A5B6FB}"/>
              </a:ext>
            </a:extLst>
          </p:cNvPr>
          <p:cNvSpPr/>
          <p:nvPr/>
        </p:nvSpPr>
        <p:spPr>
          <a:xfrm>
            <a:off x="52863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Capacity</a:t>
            </a:r>
            <a:endParaRPr sz="1200" kern="0">
              <a:solidFill>
                <a:srgbClr val="000000"/>
              </a:solidFill>
              <a:latin typeface="Arial"/>
              <a:cs typeface="Arial"/>
              <a:sym typeface="Arial"/>
            </a:endParaRPr>
          </a:p>
        </p:txBody>
      </p:sp>
      <p:sp>
        <p:nvSpPr>
          <p:cNvPr id="153" name="Google Shape;153;p6">
            <a:extLst>
              <a:ext uri="{FF2B5EF4-FFF2-40B4-BE49-F238E27FC236}">
                <a16:creationId xmlns:a16="http://schemas.microsoft.com/office/drawing/2014/main" id="{570C1207-5A0A-6B39-A14E-60097B9DCACD}"/>
              </a:ext>
            </a:extLst>
          </p:cNvPr>
          <p:cNvSpPr/>
          <p:nvPr/>
        </p:nvSpPr>
        <p:spPr>
          <a:xfrm>
            <a:off x="74771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Speed</a:t>
            </a:r>
            <a:endParaRPr sz="1200" kern="0">
              <a:solidFill>
                <a:srgbClr val="000000"/>
              </a:solidFill>
              <a:latin typeface="Arial"/>
              <a:cs typeface="Arial"/>
              <a:sym typeface="Arial"/>
            </a:endParaRPr>
          </a:p>
        </p:txBody>
      </p:sp>
      <p:sp>
        <p:nvSpPr>
          <p:cNvPr id="156" name="Google Shape;156;p6">
            <a:extLst>
              <a:ext uri="{FF2B5EF4-FFF2-40B4-BE49-F238E27FC236}">
                <a16:creationId xmlns:a16="http://schemas.microsoft.com/office/drawing/2014/main" id="{2DCC71FA-A89D-52C6-ED54-1780F7655990}"/>
              </a:ext>
            </a:extLst>
          </p:cNvPr>
          <p:cNvSpPr/>
          <p:nvPr/>
        </p:nvSpPr>
        <p:spPr>
          <a:xfrm>
            <a:off x="9667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050" b="1" kern="0">
                <a:solidFill>
                  <a:srgbClr val="FFFFFF"/>
                </a:solidFill>
                <a:latin typeface="Quattrocento Sans"/>
                <a:ea typeface="Quattrocento Sans"/>
                <a:cs typeface="Quattrocento Sans"/>
                <a:sym typeface="Quattrocento Sans"/>
              </a:rPr>
              <a:t>Better Experience</a:t>
            </a:r>
            <a:endParaRPr sz="1050" kern="0">
              <a:solidFill>
                <a:srgbClr val="000000"/>
              </a:solidFill>
              <a:latin typeface="Arial"/>
              <a:cs typeface="Arial"/>
              <a:sym typeface="Arial"/>
            </a:endParaRPr>
          </a:p>
        </p:txBody>
      </p:sp>
      <p:sp>
        <p:nvSpPr>
          <p:cNvPr id="160" name="Google Shape;160;p6">
            <a:extLst>
              <a:ext uri="{FF2B5EF4-FFF2-40B4-BE49-F238E27FC236}">
                <a16:creationId xmlns:a16="http://schemas.microsoft.com/office/drawing/2014/main" id="{6C8C0157-4F89-55D3-BD6C-D285048C7907}"/>
              </a:ext>
            </a:extLst>
          </p:cNvPr>
          <p:cNvSpPr/>
          <p:nvPr/>
        </p:nvSpPr>
        <p:spPr>
          <a:xfrm>
            <a:off x="571500" y="6457950"/>
            <a:ext cx="11049000" cy="9525"/>
          </a:xfrm>
          <a:prstGeom prst="rect">
            <a:avLst/>
          </a:prstGeom>
          <a:solidFill>
            <a:srgbClr val="D0D5DD"/>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 name="Google Shape;161;p6">
            <a:extLst>
              <a:ext uri="{FF2B5EF4-FFF2-40B4-BE49-F238E27FC236}">
                <a16:creationId xmlns:a16="http://schemas.microsoft.com/office/drawing/2014/main" id="{93954310-35CD-D859-EB39-BCD7973B0FFE}"/>
              </a:ext>
            </a:extLst>
          </p:cNvPr>
          <p:cNvSpPr/>
          <p:nvPr/>
        </p:nvSpPr>
        <p:spPr>
          <a:xfrm>
            <a:off x="571500" y="6524625"/>
            <a:ext cx="2381250" cy="228600"/>
          </a:xfrm>
          <a:prstGeom prst="rect">
            <a:avLst/>
          </a:prstGeom>
          <a:noFill/>
          <a:ln>
            <a:noFill/>
          </a:ln>
        </p:spPr>
        <p:txBody>
          <a:bodyPr spcFirstLastPara="1" wrap="square" lIns="0" tIns="0" rIns="0" bIns="0" anchor="ctr" anchorCtr="0">
            <a:noAutofit/>
          </a:bodyPr>
          <a:lstStyle/>
          <a:p>
            <a:pPr defTabSz="685800">
              <a:lnSpc>
                <a:spcPct val="140000"/>
              </a:lnSpc>
              <a:buClr>
                <a:srgbClr val="000000"/>
              </a:buClr>
            </a:pPr>
            <a:r>
              <a:rPr lang="en-US" sz="1050" kern="0" dirty="0">
                <a:solidFill>
                  <a:srgbClr val="6B7280"/>
                </a:solidFill>
                <a:latin typeface="Quattrocento Sans"/>
                <a:ea typeface="Quattrocento Sans"/>
                <a:cs typeface="Quattrocento Sans"/>
                <a:sym typeface="Quattrocento Sans"/>
              </a:rPr>
              <a:t>Part II</a:t>
            </a:r>
            <a:endParaRPr sz="1050" kern="0" dirty="0">
              <a:solidFill>
                <a:srgbClr val="000000"/>
              </a:solidFill>
              <a:latin typeface="Arial"/>
              <a:cs typeface="Arial"/>
              <a:sym typeface="Arial"/>
            </a:endParaRPr>
          </a:p>
        </p:txBody>
      </p:sp>
      <p:sp>
        <p:nvSpPr>
          <p:cNvPr id="2" name="TextBox 1">
            <a:extLst>
              <a:ext uri="{FF2B5EF4-FFF2-40B4-BE49-F238E27FC236}">
                <a16:creationId xmlns:a16="http://schemas.microsoft.com/office/drawing/2014/main" id="{A255B300-F257-DB56-1214-E497C571BB43}"/>
              </a:ext>
            </a:extLst>
          </p:cNvPr>
          <p:cNvSpPr txBox="1"/>
          <p:nvPr/>
        </p:nvSpPr>
        <p:spPr>
          <a:xfrm>
            <a:off x="455386" y="731907"/>
            <a:ext cx="11591471" cy="5909310"/>
          </a:xfrm>
          <a:prstGeom prst="rect">
            <a:avLst/>
          </a:prstGeom>
          <a:noFill/>
        </p:spPr>
        <p:txBody>
          <a:bodyPr wrap="square" rtlCol="0">
            <a:spAutoFit/>
          </a:bodyPr>
          <a:lstStyle/>
          <a:p>
            <a:r>
              <a:rPr lang="en-IN" b="1" dirty="0"/>
              <a:t>UMTS Network Architecture</a:t>
            </a:r>
          </a:p>
          <a:p>
            <a:r>
              <a:rPr lang="en-IN" dirty="0"/>
              <a:t>The </a:t>
            </a:r>
            <a:r>
              <a:rPr lang="en-IN" b="1" dirty="0"/>
              <a:t>Universal Mobile Telecommunications System (UMTS)</a:t>
            </a:r>
            <a:r>
              <a:rPr lang="en-IN" dirty="0"/>
              <a:t> architecture is divided into two major subsystems:</a:t>
            </a:r>
          </a:p>
          <a:p>
            <a:r>
              <a:rPr lang="en-IN" b="1" dirty="0"/>
              <a:t>1. UTRAN (UMTS Terrestrial Radio Access Network)</a:t>
            </a:r>
          </a:p>
          <a:p>
            <a:r>
              <a:rPr lang="en-IN" dirty="0"/>
              <a:t>Provides the wireless interface between the </a:t>
            </a:r>
            <a:r>
              <a:rPr lang="en-IN" b="1" dirty="0"/>
              <a:t>User Equipment (UE)</a:t>
            </a:r>
            <a:r>
              <a:rPr lang="en-IN" dirty="0"/>
              <a:t> and the Core Network using the </a:t>
            </a:r>
            <a:r>
              <a:rPr lang="en-IN" b="1" dirty="0"/>
              <a:t>WCDMA</a:t>
            </a:r>
            <a:r>
              <a:rPr lang="en-IN" dirty="0"/>
              <a:t> radio access technology.</a:t>
            </a:r>
          </a:p>
          <a:p>
            <a:r>
              <a:rPr lang="en-IN" b="1" dirty="0"/>
              <a:t>Major Components</a:t>
            </a:r>
            <a:endParaRPr lang="en-IN" dirty="0"/>
          </a:p>
          <a:p>
            <a:pPr marL="285750" indent="-285750">
              <a:buFont typeface="Arial" panose="020B0604020202020204" pitchFamily="34" charset="0"/>
              <a:buChar char="•"/>
            </a:pPr>
            <a:r>
              <a:rPr lang="en-IN" b="1" dirty="0"/>
              <a:t>Node B</a:t>
            </a:r>
            <a:r>
              <a:rPr lang="en-IN" dirty="0"/>
              <a:t> – UMTS base station responsible for radio transmission, reception, and WCDMA signal processing. </a:t>
            </a:r>
          </a:p>
          <a:p>
            <a:pPr marL="285750" indent="-285750">
              <a:buFont typeface="Arial" panose="020B0604020202020204" pitchFamily="34" charset="0"/>
              <a:buChar char="•"/>
            </a:pPr>
            <a:r>
              <a:rPr lang="en-IN" b="1" dirty="0"/>
              <a:t>Radio Network Controller (RNC)</a:t>
            </a:r>
            <a:r>
              <a:rPr lang="en-IN" dirty="0"/>
              <a:t> – Controls multiple Node Bs, performs radio resource management, admission control, mobility management, and soft handovers. </a:t>
            </a:r>
          </a:p>
          <a:p>
            <a:r>
              <a:rPr lang="en-IN" b="1" dirty="0"/>
              <a:t>2. Core Network (CN)</a:t>
            </a:r>
          </a:p>
          <a:p>
            <a:r>
              <a:rPr lang="en-IN" dirty="0"/>
              <a:t>Provides switching, mobility management, authentication, Internet connectivity, and interconnection with external communication networks.</a:t>
            </a:r>
          </a:p>
          <a:p>
            <a:r>
              <a:rPr lang="en-IN" b="1" dirty="0"/>
              <a:t>Circuit-Switched Domain</a:t>
            </a:r>
            <a:endParaRPr lang="en-IN" dirty="0"/>
          </a:p>
          <a:p>
            <a:pPr marL="285750" indent="-285750">
              <a:buFont typeface="Arial" panose="020B0604020202020204" pitchFamily="34" charset="0"/>
              <a:buChar char="•"/>
            </a:pPr>
            <a:r>
              <a:rPr lang="en-IN" b="1" dirty="0"/>
              <a:t>MSC Server</a:t>
            </a:r>
            <a:r>
              <a:rPr lang="en-IN" dirty="0"/>
              <a:t> – Call control and mobility management. </a:t>
            </a:r>
          </a:p>
          <a:p>
            <a:pPr marL="285750" indent="-285750">
              <a:buFont typeface="Arial" panose="020B0604020202020204" pitchFamily="34" charset="0"/>
              <a:buChar char="•"/>
            </a:pPr>
            <a:r>
              <a:rPr lang="en-IN" b="1" dirty="0"/>
              <a:t>Media Gateway (MGW)</a:t>
            </a:r>
            <a:r>
              <a:rPr lang="en-IN" dirty="0"/>
              <a:t> – Voice traffic transport. </a:t>
            </a:r>
          </a:p>
          <a:p>
            <a:pPr marL="285750" indent="-285750">
              <a:buFont typeface="Arial" panose="020B0604020202020204" pitchFamily="34" charset="0"/>
              <a:buChar char="•"/>
            </a:pPr>
            <a:r>
              <a:rPr lang="en-IN" b="1" dirty="0"/>
              <a:t>GMSC</a:t>
            </a:r>
            <a:r>
              <a:rPr lang="en-IN" dirty="0"/>
              <a:t> – Gateway to external telephone networks (PSTN/ISDN). </a:t>
            </a:r>
          </a:p>
          <a:p>
            <a:pPr marL="285750" indent="-285750">
              <a:buFont typeface="Arial" panose="020B0604020202020204" pitchFamily="34" charset="0"/>
              <a:buChar char="•"/>
            </a:pPr>
            <a:r>
              <a:rPr lang="en-IN" b="1" dirty="0"/>
              <a:t>Packet-Switched Domain</a:t>
            </a:r>
            <a:endParaRPr lang="en-IN" dirty="0"/>
          </a:p>
          <a:p>
            <a:pPr marL="285750" indent="-285750">
              <a:buFont typeface="Arial" panose="020B0604020202020204" pitchFamily="34" charset="0"/>
              <a:buChar char="•"/>
            </a:pPr>
            <a:r>
              <a:rPr lang="en-IN" b="1" dirty="0"/>
              <a:t>SGSN</a:t>
            </a:r>
            <a:r>
              <a:rPr lang="en-IN" dirty="0"/>
              <a:t> – Packet mobility management and session control. </a:t>
            </a:r>
          </a:p>
          <a:p>
            <a:pPr marL="285750" indent="-285750">
              <a:buFont typeface="Arial" panose="020B0604020202020204" pitchFamily="34" charset="0"/>
              <a:buChar char="•"/>
            </a:pPr>
            <a:r>
              <a:rPr lang="en-IN" b="1" dirty="0"/>
              <a:t>GGSN</a:t>
            </a:r>
            <a:r>
              <a:rPr lang="en-IN" dirty="0"/>
              <a:t> – Gateway connecting UMTS users to external IP networks such as the Internet. </a:t>
            </a:r>
          </a:p>
          <a:p>
            <a:endParaRPr lang="en-IN" dirty="0"/>
          </a:p>
        </p:txBody>
      </p:sp>
    </p:spTree>
    <p:extLst>
      <p:ext uri="{BB962C8B-B14F-4D97-AF65-F5344CB8AC3E}">
        <p14:creationId xmlns:p14="http://schemas.microsoft.com/office/powerpoint/2010/main" val="104653279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46A985CA-B3E9-9D7B-01EB-C48C5A103224}"/>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E2C7AEB0-42A1-4B79-60C7-2901934BADD2}"/>
              </a:ext>
            </a:extLst>
          </p:cNvPr>
          <p:cNvSpPr/>
          <p:nvPr/>
        </p:nvSpPr>
        <p:spPr>
          <a:xfrm>
            <a:off x="0" y="0"/>
            <a:ext cx="12192000" cy="38100"/>
          </a:xfrm>
          <a:prstGeom prst="rect">
            <a:avLst/>
          </a:prstGeom>
          <a:solidFill>
            <a:srgbClr val="1E5AA8"/>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38" name="Google Shape;138;p6">
            <a:extLst>
              <a:ext uri="{FF2B5EF4-FFF2-40B4-BE49-F238E27FC236}">
                <a16:creationId xmlns:a16="http://schemas.microsoft.com/office/drawing/2014/main" id="{71EF9E4C-4A6D-4375-6B03-8319C29F5419}"/>
              </a:ext>
            </a:extLst>
          </p:cNvPr>
          <p:cNvSpPr/>
          <p:nvPr/>
        </p:nvSpPr>
        <p:spPr>
          <a:xfrm>
            <a:off x="571500" y="238125"/>
            <a:ext cx="11049000" cy="447675"/>
          </a:xfrm>
          <a:prstGeom prst="rect">
            <a:avLst/>
          </a:prstGeom>
          <a:noFill/>
          <a:ln>
            <a:noFill/>
          </a:ln>
        </p:spPr>
        <p:txBody>
          <a:bodyPr spcFirstLastPara="1" wrap="square" lIns="0" tIns="0" rIns="0" bIns="0" anchor="ctr" anchorCtr="0">
            <a:noAutofit/>
          </a:bodyPr>
          <a:lstStyle/>
          <a:p>
            <a:pPr defTabSz="685800">
              <a:buClr>
                <a:srgbClr val="000000"/>
              </a:buClr>
            </a:pPr>
            <a:r>
              <a:rPr lang="en-US" sz="2400" b="1" kern="0" dirty="0">
                <a:solidFill>
                  <a:srgbClr val="4472C4"/>
                </a:solidFill>
                <a:latin typeface="Arial"/>
                <a:cs typeface="Arial"/>
                <a:sym typeface="Arial"/>
              </a:rPr>
              <a:t>3G / UMTS Architecture</a:t>
            </a:r>
            <a:endParaRPr lang="en-IN" sz="2400" kern="0" dirty="0">
              <a:solidFill>
                <a:srgbClr val="4472C4"/>
              </a:solidFill>
              <a:latin typeface="Arial"/>
              <a:cs typeface="Arial"/>
              <a:sym typeface="Arial"/>
            </a:endParaRPr>
          </a:p>
        </p:txBody>
      </p:sp>
      <p:sp>
        <p:nvSpPr>
          <p:cNvPr id="139" name="Google Shape;139;p6">
            <a:extLst>
              <a:ext uri="{FF2B5EF4-FFF2-40B4-BE49-F238E27FC236}">
                <a16:creationId xmlns:a16="http://schemas.microsoft.com/office/drawing/2014/main" id="{50CC8D9D-7445-B03B-F4A6-7019FF8156BA}"/>
              </a:ext>
            </a:extLst>
          </p:cNvPr>
          <p:cNvSpPr/>
          <p:nvPr/>
        </p:nvSpPr>
        <p:spPr>
          <a:xfrm>
            <a:off x="571500" y="704850"/>
            <a:ext cx="1714500" cy="28575"/>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44" name="Google Shape;144;p6">
            <a:extLst>
              <a:ext uri="{FF2B5EF4-FFF2-40B4-BE49-F238E27FC236}">
                <a16:creationId xmlns:a16="http://schemas.microsoft.com/office/drawing/2014/main" id="{F949AA42-EB68-75E9-EE9E-3ED3A6E6B767}"/>
              </a:ext>
            </a:extLst>
          </p:cNvPr>
          <p:cNvSpPr/>
          <p:nvPr/>
        </p:nvSpPr>
        <p:spPr>
          <a:xfrm>
            <a:off x="904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More Users</a:t>
            </a:r>
            <a:endParaRPr sz="1200" kern="0">
              <a:solidFill>
                <a:srgbClr val="000000"/>
              </a:solidFill>
              <a:latin typeface="Arial"/>
              <a:cs typeface="Arial"/>
              <a:sym typeface="Arial"/>
            </a:endParaRPr>
          </a:p>
        </p:txBody>
      </p:sp>
      <p:sp>
        <p:nvSpPr>
          <p:cNvPr id="147" name="Google Shape;147;p6">
            <a:extLst>
              <a:ext uri="{FF2B5EF4-FFF2-40B4-BE49-F238E27FC236}">
                <a16:creationId xmlns:a16="http://schemas.microsoft.com/office/drawing/2014/main" id="{ACE47F62-C9ED-0056-636C-765969E0261D}"/>
              </a:ext>
            </a:extLst>
          </p:cNvPr>
          <p:cNvSpPr/>
          <p:nvPr/>
        </p:nvSpPr>
        <p:spPr>
          <a:xfrm>
            <a:off x="30956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125" b="1" kern="0" dirty="0">
                <a:solidFill>
                  <a:srgbClr val="FFFFFF"/>
                </a:solidFill>
                <a:latin typeface="Quattrocento Sans"/>
                <a:ea typeface="Quattrocento Sans"/>
                <a:cs typeface="Quattrocento Sans"/>
                <a:sym typeface="Quattrocento Sans"/>
              </a:rPr>
              <a:t>Beer Spectrum</a:t>
            </a:r>
            <a:endParaRPr sz="1125" kern="0" dirty="0">
              <a:solidFill>
                <a:srgbClr val="000000"/>
              </a:solidFill>
              <a:latin typeface="Arial"/>
              <a:cs typeface="Arial"/>
              <a:sym typeface="Arial"/>
            </a:endParaRPr>
          </a:p>
        </p:txBody>
      </p:sp>
      <p:sp>
        <p:nvSpPr>
          <p:cNvPr id="150" name="Google Shape;150;p6">
            <a:extLst>
              <a:ext uri="{FF2B5EF4-FFF2-40B4-BE49-F238E27FC236}">
                <a16:creationId xmlns:a16="http://schemas.microsoft.com/office/drawing/2014/main" id="{575BB43B-27A7-432A-49E5-6F696AD322B9}"/>
              </a:ext>
            </a:extLst>
          </p:cNvPr>
          <p:cNvSpPr/>
          <p:nvPr/>
        </p:nvSpPr>
        <p:spPr>
          <a:xfrm>
            <a:off x="52863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Capacity</a:t>
            </a:r>
            <a:endParaRPr sz="1200" kern="0">
              <a:solidFill>
                <a:srgbClr val="000000"/>
              </a:solidFill>
              <a:latin typeface="Arial"/>
              <a:cs typeface="Arial"/>
              <a:sym typeface="Arial"/>
            </a:endParaRPr>
          </a:p>
        </p:txBody>
      </p:sp>
      <p:sp>
        <p:nvSpPr>
          <p:cNvPr id="153" name="Google Shape;153;p6">
            <a:extLst>
              <a:ext uri="{FF2B5EF4-FFF2-40B4-BE49-F238E27FC236}">
                <a16:creationId xmlns:a16="http://schemas.microsoft.com/office/drawing/2014/main" id="{A1D50C4E-6B28-5B9C-F36B-D78CD669BDCD}"/>
              </a:ext>
            </a:extLst>
          </p:cNvPr>
          <p:cNvSpPr/>
          <p:nvPr/>
        </p:nvSpPr>
        <p:spPr>
          <a:xfrm>
            <a:off x="74771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Speed</a:t>
            </a:r>
            <a:endParaRPr sz="1200" kern="0">
              <a:solidFill>
                <a:srgbClr val="000000"/>
              </a:solidFill>
              <a:latin typeface="Arial"/>
              <a:cs typeface="Arial"/>
              <a:sym typeface="Arial"/>
            </a:endParaRPr>
          </a:p>
        </p:txBody>
      </p:sp>
      <p:sp>
        <p:nvSpPr>
          <p:cNvPr id="156" name="Google Shape;156;p6">
            <a:extLst>
              <a:ext uri="{FF2B5EF4-FFF2-40B4-BE49-F238E27FC236}">
                <a16:creationId xmlns:a16="http://schemas.microsoft.com/office/drawing/2014/main" id="{91B36A03-AB0F-7B64-16E0-0ACCDCA83373}"/>
              </a:ext>
            </a:extLst>
          </p:cNvPr>
          <p:cNvSpPr/>
          <p:nvPr/>
        </p:nvSpPr>
        <p:spPr>
          <a:xfrm>
            <a:off x="9667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050" b="1" kern="0">
                <a:solidFill>
                  <a:srgbClr val="FFFFFF"/>
                </a:solidFill>
                <a:latin typeface="Quattrocento Sans"/>
                <a:ea typeface="Quattrocento Sans"/>
                <a:cs typeface="Quattrocento Sans"/>
                <a:sym typeface="Quattrocento Sans"/>
              </a:rPr>
              <a:t>Better Experience</a:t>
            </a:r>
            <a:endParaRPr sz="1050" kern="0">
              <a:solidFill>
                <a:srgbClr val="000000"/>
              </a:solidFill>
              <a:latin typeface="Arial"/>
              <a:cs typeface="Arial"/>
              <a:sym typeface="Arial"/>
            </a:endParaRPr>
          </a:p>
        </p:txBody>
      </p:sp>
      <p:sp>
        <p:nvSpPr>
          <p:cNvPr id="160" name="Google Shape;160;p6">
            <a:extLst>
              <a:ext uri="{FF2B5EF4-FFF2-40B4-BE49-F238E27FC236}">
                <a16:creationId xmlns:a16="http://schemas.microsoft.com/office/drawing/2014/main" id="{EA20C656-DE10-8E8C-2BD6-1285CEA12C3B}"/>
              </a:ext>
            </a:extLst>
          </p:cNvPr>
          <p:cNvSpPr/>
          <p:nvPr/>
        </p:nvSpPr>
        <p:spPr>
          <a:xfrm>
            <a:off x="571500" y="6457950"/>
            <a:ext cx="11049000" cy="9525"/>
          </a:xfrm>
          <a:prstGeom prst="rect">
            <a:avLst/>
          </a:prstGeom>
          <a:solidFill>
            <a:srgbClr val="D0D5DD"/>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 name="Google Shape;161;p6">
            <a:extLst>
              <a:ext uri="{FF2B5EF4-FFF2-40B4-BE49-F238E27FC236}">
                <a16:creationId xmlns:a16="http://schemas.microsoft.com/office/drawing/2014/main" id="{A43E17C3-E9B3-9846-A0A6-83CE1DBB3C65}"/>
              </a:ext>
            </a:extLst>
          </p:cNvPr>
          <p:cNvSpPr/>
          <p:nvPr/>
        </p:nvSpPr>
        <p:spPr>
          <a:xfrm>
            <a:off x="571500" y="6524625"/>
            <a:ext cx="2381250" cy="228600"/>
          </a:xfrm>
          <a:prstGeom prst="rect">
            <a:avLst/>
          </a:prstGeom>
          <a:noFill/>
          <a:ln>
            <a:noFill/>
          </a:ln>
        </p:spPr>
        <p:txBody>
          <a:bodyPr spcFirstLastPara="1" wrap="square" lIns="0" tIns="0" rIns="0" bIns="0" anchor="ctr" anchorCtr="0">
            <a:noAutofit/>
          </a:bodyPr>
          <a:lstStyle/>
          <a:p>
            <a:pPr defTabSz="685800">
              <a:lnSpc>
                <a:spcPct val="140000"/>
              </a:lnSpc>
              <a:buClr>
                <a:srgbClr val="000000"/>
              </a:buClr>
            </a:pPr>
            <a:r>
              <a:rPr lang="en-US" sz="1050" kern="0" dirty="0">
                <a:solidFill>
                  <a:srgbClr val="6B7280"/>
                </a:solidFill>
                <a:latin typeface="Quattrocento Sans"/>
                <a:ea typeface="Quattrocento Sans"/>
                <a:cs typeface="Quattrocento Sans"/>
                <a:sym typeface="Quattrocento Sans"/>
              </a:rPr>
              <a:t>Part II</a:t>
            </a:r>
            <a:endParaRPr sz="1050" kern="0" dirty="0">
              <a:solidFill>
                <a:srgbClr val="000000"/>
              </a:solidFill>
              <a:latin typeface="Arial"/>
              <a:cs typeface="Arial"/>
              <a:sym typeface="Arial"/>
            </a:endParaRPr>
          </a:p>
        </p:txBody>
      </p:sp>
      <p:pic>
        <p:nvPicPr>
          <p:cNvPr id="4" name="Picture 3">
            <a:extLst>
              <a:ext uri="{FF2B5EF4-FFF2-40B4-BE49-F238E27FC236}">
                <a16:creationId xmlns:a16="http://schemas.microsoft.com/office/drawing/2014/main" id="{1D1B3372-B924-2DD5-E2BE-A947E9C6C8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90575"/>
            <a:ext cx="10810875" cy="5657850"/>
          </a:xfrm>
          <a:prstGeom prst="rect">
            <a:avLst/>
          </a:prstGeom>
        </p:spPr>
      </p:pic>
    </p:spTree>
    <p:extLst>
      <p:ext uri="{BB962C8B-B14F-4D97-AF65-F5344CB8AC3E}">
        <p14:creationId xmlns:p14="http://schemas.microsoft.com/office/powerpoint/2010/main" val="87419724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3AF5BA48-4014-1823-EEC2-28D5D06B54F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D0BDCF4-47E8-9ABF-2A93-CA12B400F3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686" y="4247698"/>
            <a:ext cx="10923814" cy="2157184"/>
          </a:xfrm>
          <a:prstGeom prst="rect">
            <a:avLst/>
          </a:prstGeom>
        </p:spPr>
      </p:pic>
      <p:sp>
        <p:nvSpPr>
          <p:cNvPr id="137" name="Google Shape;137;p6">
            <a:extLst>
              <a:ext uri="{FF2B5EF4-FFF2-40B4-BE49-F238E27FC236}">
                <a16:creationId xmlns:a16="http://schemas.microsoft.com/office/drawing/2014/main" id="{CB4F519E-64FB-17F3-8EC7-350A375B1BDC}"/>
              </a:ext>
            </a:extLst>
          </p:cNvPr>
          <p:cNvSpPr/>
          <p:nvPr/>
        </p:nvSpPr>
        <p:spPr>
          <a:xfrm>
            <a:off x="0" y="0"/>
            <a:ext cx="12192000" cy="38100"/>
          </a:xfrm>
          <a:prstGeom prst="rect">
            <a:avLst/>
          </a:prstGeom>
          <a:solidFill>
            <a:srgbClr val="1E5AA8"/>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38" name="Google Shape;138;p6">
            <a:extLst>
              <a:ext uri="{FF2B5EF4-FFF2-40B4-BE49-F238E27FC236}">
                <a16:creationId xmlns:a16="http://schemas.microsoft.com/office/drawing/2014/main" id="{818706C9-7B01-BFD8-9C23-4403F2C48B02}"/>
              </a:ext>
            </a:extLst>
          </p:cNvPr>
          <p:cNvSpPr/>
          <p:nvPr/>
        </p:nvSpPr>
        <p:spPr>
          <a:xfrm>
            <a:off x="571500" y="238125"/>
            <a:ext cx="11049000" cy="447675"/>
          </a:xfrm>
          <a:prstGeom prst="rect">
            <a:avLst/>
          </a:prstGeom>
          <a:noFill/>
          <a:ln>
            <a:noFill/>
          </a:ln>
        </p:spPr>
        <p:txBody>
          <a:bodyPr spcFirstLastPara="1" wrap="square" lIns="0" tIns="0" rIns="0" bIns="0" anchor="ctr" anchorCtr="0">
            <a:noAutofit/>
          </a:bodyPr>
          <a:lstStyle/>
          <a:p>
            <a:pPr defTabSz="685800">
              <a:buClr>
                <a:srgbClr val="000000"/>
              </a:buClr>
            </a:pPr>
            <a:r>
              <a:rPr lang="en-US" sz="2400" b="1" kern="0" dirty="0">
                <a:solidFill>
                  <a:srgbClr val="4472C4"/>
                </a:solidFill>
                <a:latin typeface="Arial"/>
                <a:cs typeface="Arial"/>
                <a:sym typeface="Arial"/>
              </a:rPr>
              <a:t>Innovations in 3G Radio Access</a:t>
            </a:r>
            <a:endParaRPr lang="en-IN" sz="2400" kern="0" dirty="0">
              <a:solidFill>
                <a:srgbClr val="4472C4"/>
              </a:solidFill>
              <a:latin typeface="Arial"/>
              <a:cs typeface="Arial"/>
              <a:sym typeface="Arial"/>
            </a:endParaRPr>
          </a:p>
        </p:txBody>
      </p:sp>
      <p:sp>
        <p:nvSpPr>
          <p:cNvPr id="139" name="Google Shape;139;p6">
            <a:extLst>
              <a:ext uri="{FF2B5EF4-FFF2-40B4-BE49-F238E27FC236}">
                <a16:creationId xmlns:a16="http://schemas.microsoft.com/office/drawing/2014/main" id="{C2020B47-5897-EADE-A214-3EA533CA15BE}"/>
              </a:ext>
            </a:extLst>
          </p:cNvPr>
          <p:cNvSpPr/>
          <p:nvPr/>
        </p:nvSpPr>
        <p:spPr>
          <a:xfrm>
            <a:off x="571500" y="704850"/>
            <a:ext cx="1714500" cy="28575"/>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44" name="Google Shape;144;p6">
            <a:extLst>
              <a:ext uri="{FF2B5EF4-FFF2-40B4-BE49-F238E27FC236}">
                <a16:creationId xmlns:a16="http://schemas.microsoft.com/office/drawing/2014/main" id="{B02CAFC9-AE67-A291-6B07-C96A0279CDA9}"/>
              </a:ext>
            </a:extLst>
          </p:cNvPr>
          <p:cNvSpPr/>
          <p:nvPr/>
        </p:nvSpPr>
        <p:spPr>
          <a:xfrm>
            <a:off x="904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More Users</a:t>
            </a:r>
            <a:endParaRPr sz="1200" kern="0">
              <a:solidFill>
                <a:srgbClr val="000000"/>
              </a:solidFill>
              <a:latin typeface="Arial"/>
              <a:cs typeface="Arial"/>
              <a:sym typeface="Arial"/>
            </a:endParaRPr>
          </a:p>
        </p:txBody>
      </p:sp>
      <p:sp>
        <p:nvSpPr>
          <p:cNvPr id="147" name="Google Shape;147;p6">
            <a:extLst>
              <a:ext uri="{FF2B5EF4-FFF2-40B4-BE49-F238E27FC236}">
                <a16:creationId xmlns:a16="http://schemas.microsoft.com/office/drawing/2014/main" id="{8FC50681-D236-1829-E920-4E585E9F1BCB}"/>
              </a:ext>
            </a:extLst>
          </p:cNvPr>
          <p:cNvSpPr/>
          <p:nvPr/>
        </p:nvSpPr>
        <p:spPr>
          <a:xfrm>
            <a:off x="30956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125" b="1" kern="0" dirty="0">
                <a:solidFill>
                  <a:srgbClr val="FFFFFF"/>
                </a:solidFill>
                <a:latin typeface="Quattrocento Sans"/>
                <a:ea typeface="Quattrocento Sans"/>
                <a:cs typeface="Quattrocento Sans"/>
                <a:sym typeface="Quattrocento Sans"/>
              </a:rPr>
              <a:t>Beer Spectrum</a:t>
            </a:r>
            <a:endParaRPr sz="1125" kern="0" dirty="0">
              <a:solidFill>
                <a:srgbClr val="000000"/>
              </a:solidFill>
              <a:latin typeface="Arial"/>
              <a:cs typeface="Arial"/>
              <a:sym typeface="Arial"/>
            </a:endParaRPr>
          </a:p>
        </p:txBody>
      </p:sp>
      <p:sp>
        <p:nvSpPr>
          <p:cNvPr id="150" name="Google Shape;150;p6">
            <a:extLst>
              <a:ext uri="{FF2B5EF4-FFF2-40B4-BE49-F238E27FC236}">
                <a16:creationId xmlns:a16="http://schemas.microsoft.com/office/drawing/2014/main" id="{A8C8A4C3-6C5D-8CBC-D053-52D91D8A901F}"/>
              </a:ext>
            </a:extLst>
          </p:cNvPr>
          <p:cNvSpPr/>
          <p:nvPr/>
        </p:nvSpPr>
        <p:spPr>
          <a:xfrm>
            <a:off x="52863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Capacity</a:t>
            </a:r>
            <a:endParaRPr sz="1200" kern="0">
              <a:solidFill>
                <a:srgbClr val="000000"/>
              </a:solidFill>
              <a:latin typeface="Arial"/>
              <a:cs typeface="Arial"/>
              <a:sym typeface="Arial"/>
            </a:endParaRPr>
          </a:p>
        </p:txBody>
      </p:sp>
      <p:sp>
        <p:nvSpPr>
          <p:cNvPr id="156" name="Google Shape;156;p6">
            <a:extLst>
              <a:ext uri="{FF2B5EF4-FFF2-40B4-BE49-F238E27FC236}">
                <a16:creationId xmlns:a16="http://schemas.microsoft.com/office/drawing/2014/main" id="{20D7C2A5-892F-5357-A0CB-CDA36BF2B18C}"/>
              </a:ext>
            </a:extLst>
          </p:cNvPr>
          <p:cNvSpPr/>
          <p:nvPr/>
        </p:nvSpPr>
        <p:spPr>
          <a:xfrm>
            <a:off x="9667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050" b="1" kern="0">
                <a:solidFill>
                  <a:srgbClr val="FFFFFF"/>
                </a:solidFill>
                <a:latin typeface="Quattrocento Sans"/>
                <a:ea typeface="Quattrocento Sans"/>
                <a:cs typeface="Quattrocento Sans"/>
                <a:sym typeface="Quattrocento Sans"/>
              </a:rPr>
              <a:t>Better Experience</a:t>
            </a:r>
            <a:endParaRPr sz="1050" kern="0">
              <a:solidFill>
                <a:srgbClr val="000000"/>
              </a:solidFill>
              <a:latin typeface="Arial"/>
              <a:cs typeface="Arial"/>
              <a:sym typeface="Arial"/>
            </a:endParaRPr>
          </a:p>
        </p:txBody>
      </p:sp>
      <p:sp>
        <p:nvSpPr>
          <p:cNvPr id="160" name="Google Shape;160;p6">
            <a:extLst>
              <a:ext uri="{FF2B5EF4-FFF2-40B4-BE49-F238E27FC236}">
                <a16:creationId xmlns:a16="http://schemas.microsoft.com/office/drawing/2014/main" id="{42F95E69-BE23-DCCF-159A-A1CFCACFA5DF}"/>
              </a:ext>
            </a:extLst>
          </p:cNvPr>
          <p:cNvSpPr/>
          <p:nvPr/>
        </p:nvSpPr>
        <p:spPr>
          <a:xfrm>
            <a:off x="571500" y="6457950"/>
            <a:ext cx="11049000" cy="9525"/>
          </a:xfrm>
          <a:prstGeom prst="rect">
            <a:avLst/>
          </a:prstGeom>
          <a:solidFill>
            <a:srgbClr val="D0D5DD"/>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 name="Google Shape;161;p6">
            <a:extLst>
              <a:ext uri="{FF2B5EF4-FFF2-40B4-BE49-F238E27FC236}">
                <a16:creationId xmlns:a16="http://schemas.microsoft.com/office/drawing/2014/main" id="{DD2CA51E-A815-178A-A9B7-3A7341E65863}"/>
              </a:ext>
            </a:extLst>
          </p:cNvPr>
          <p:cNvSpPr/>
          <p:nvPr/>
        </p:nvSpPr>
        <p:spPr>
          <a:xfrm>
            <a:off x="571500" y="6524625"/>
            <a:ext cx="2381250" cy="228600"/>
          </a:xfrm>
          <a:prstGeom prst="rect">
            <a:avLst/>
          </a:prstGeom>
          <a:noFill/>
          <a:ln>
            <a:noFill/>
          </a:ln>
        </p:spPr>
        <p:txBody>
          <a:bodyPr spcFirstLastPara="1" wrap="square" lIns="0" tIns="0" rIns="0" bIns="0" anchor="ctr" anchorCtr="0">
            <a:noAutofit/>
          </a:bodyPr>
          <a:lstStyle/>
          <a:p>
            <a:pPr defTabSz="685800">
              <a:lnSpc>
                <a:spcPct val="140000"/>
              </a:lnSpc>
              <a:buClr>
                <a:srgbClr val="000000"/>
              </a:buClr>
            </a:pPr>
            <a:r>
              <a:rPr lang="en-US" sz="1050" kern="0" dirty="0">
                <a:solidFill>
                  <a:srgbClr val="6B7280"/>
                </a:solidFill>
                <a:latin typeface="Quattrocento Sans"/>
                <a:ea typeface="Quattrocento Sans"/>
                <a:cs typeface="Quattrocento Sans"/>
                <a:sym typeface="Quattrocento Sans"/>
              </a:rPr>
              <a:t>Part II</a:t>
            </a:r>
            <a:endParaRPr sz="1050" kern="0" dirty="0">
              <a:solidFill>
                <a:srgbClr val="000000"/>
              </a:solidFill>
              <a:latin typeface="Arial"/>
              <a:cs typeface="Arial"/>
              <a:sym typeface="Arial"/>
            </a:endParaRPr>
          </a:p>
        </p:txBody>
      </p:sp>
      <p:sp>
        <p:nvSpPr>
          <p:cNvPr id="2" name="TextBox 1">
            <a:extLst>
              <a:ext uri="{FF2B5EF4-FFF2-40B4-BE49-F238E27FC236}">
                <a16:creationId xmlns:a16="http://schemas.microsoft.com/office/drawing/2014/main" id="{EA8ED279-232E-05A3-EADE-E77BC4FF9A22}"/>
              </a:ext>
            </a:extLst>
          </p:cNvPr>
          <p:cNvSpPr txBox="1"/>
          <p:nvPr/>
        </p:nvSpPr>
        <p:spPr>
          <a:xfrm>
            <a:off x="571500" y="752475"/>
            <a:ext cx="11431814" cy="3970318"/>
          </a:xfrm>
          <a:prstGeom prst="rect">
            <a:avLst/>
          </a:prstGeom>
          <a:noFill/>
        </p:spPr>
        <p:txBody>
          <a:bodyPr wrap="square" rtlCol="0">
            <a:spAutoFit/>
          </a:bodyPr>
          <a:lstStyle/>
          <a:p>
            <a:r>
              <a:rPr lang="en-IN" dirty="0"/>
              <a:t>The most significant technological advancement introduced by UMTS was the replacement of </a:t>
            </a:r>
            <a:r>
              <a:rPr lang="en-IN" b="1" dirty="0"/>
              <a:t>TDMA</a:t>
            </a:r>
            <a:r>
              <a:rPr lang="en-IN" dirty="0"/>
              <a:t> with </a:t>
            </a:r>
            <a:r>
              <a:rPr lang="en-IN" b="1" dirty="0"/>
              <a:t>Wideband Code Division Multiple Access (WCDMA)</a:t>
            </a:r>
            <a:r>
              <a:rPr lang="en-IN" dirty="0"/>
              <a:t> as the primary radio access technology.</a:t>
            </a:r>
          </a:p>
          <a:p>
            <a:r>
              <a:rPr lang="en-IN" b="1" u="sng" dirty="0"/>
              <a:t>Advantages of WCDMA</a:t>
            </a:r>
          </a:p>
          <a:p>
            <a:pPr marL="285750" indent="-285750">
              <a:buFont typeface="Arial" panose="020B0604020202020204" pitchFamily="34" charset="0"/>
              <a:buChar char="•"/>
            </a:pPr>
            <a:r>
              <a:rPr lang="en-IN" dirty="0"/>
              <a:t>Utilizes a </a:t>
            </a:r>
            <a:r>
              <a:rPr lang="en-IN" b="1" dirty="0"/>
              <a:t>5 MHz wide radio channel</a:t>
            </a:r>
            <a:r>
              <a:rPr lang="en-IN" dirty="0"/>
              <a:t>, considerably larger than GSM. </a:t>
            </a:r>
          </a:p>
          <a:p>
            <a:pPr marL="285750" indent="-285750">
              <a:buFont typeface="Arial" panose="020B0604020202020204" pitchFamily="34" charset="0"/>
              <a:buChar char="•"/>
            </a:pPr>
            <a:r>
              <a:rPr lang="en-IN" dirty="0"/>
              <a:t>Allows multiple users to transmit simultaneously on the same frequency using unique spreading codes. </a:t>
            </a:r>
          </a:p>
          <a:p>
            <a:pPr marL="285750" indent="-285750">
              <a:buFont typeface="Arial" panose="020B0604020202020204" pitchFamily="34" charset="0"/>
              <a:buChar char="•"/>
            </a:pPr>
            <a:r>
              <a:rPr lang="en-IN" dirty="0"/>
              <a:t>Provides higher system capacity, improved spectral efficiency, better interference management, and significantly higher data rates. </a:t>
            </a:r>
          </a:p>
          <a:p>
            <a:r>
              <a:rPr lang="en-IN" b="1" u="sng" dirty="0"/>
              <a:t>WCDMA Principle</a:t>
            </a:r>
          </a:p>
          <a:p>
            <a:r>
              <a:rPr lang="en-IN" dirty="0"/>
              <a:t>Unlike TDMA or FDMA, WCDMA allows multiple users to share the same frequency channel simultaneously. </a:t>
            </a:r>
          </a:p>
          <a:p>
            <a:r>
              <a:rPr lang="en-IN" dirty="0"/>
              <a:t>Each user's information is multiplied by a unique spreading code before transmission, spreading the signal over a wider bandwidth. At the receiver, the same spreading code is used to recover the intended signal while treating signals from other users as background interference. This technique improves spectrum utilization while supporting a large number of simultaneous users.</a:t>
            </a:r>
          </a:p>
          <a:p>
            <a:endParaRPr lang="en-IN" dirty="0"/>
          </a:p>
        </p:txBody>
      </p:sp>
    </p:spTree>
    <p:extLst>
      <p:ext uri="{BB962C8B-B14F-4D97-AF65-F5344CB8AC3E}">
        <p14:creationId xmlns:p14="http://schemas.microsoft.com/office/powerpoint/2010/main" val="34195838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1BC64EFD-8D17-AE08-DBFD-F60913834964}"/>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8F15C465-C324-1A39-ABB9-AECDB0968E6E}"/>
              </a:ext>
            </a:extLst>
          </p:cNvPr>
          <p:cNvSpPr/>
          <p:nvPr/>
        </p:nvSpPr>
        <p:spPr>
          <a:xfrm>
            <a:off x="0" y="0"/>
            <a:ext cx="12192000" cy="38100"/>
          </a:xfrm>
          <a:prstGeom prst="rect">
            <a:avLst/>
          </a:prstGeom>
          <a:solidFill>
            <a:srgbClr val="1E5AA8"/>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38" name="Google Shape;138;p6">
            <a:extLst>
              <a:ext uri="{FF2B5EF4-FFF2-40B4-BE49-F238E27FC236}">
                <a16:creationId xmlns:a16="http://schemas.microsoft.com/office/drawing/2014/main" id="{981B047A-D24C-C944-1272-BE8CCCB1012E}"/>
              </a:ext>
            </a:extLst>
          </p:cNvPr>
          <p:cNvSpPr/>
          <p:nvPr/>
        </p:nvSpPr>
        <p:spPr>
          <a:xfrm>
            <a:off x="571500" y="238125"/>
            <a:ext cx="11049000" cy="447675"/>
          </a:xfrm>
          <a:prstGeom prst="rect">
            <a:avLst/>
          </a:prstGeom>
          <a:noFill/>
          <a:ln>
            <a:noFill/>
          </a:ln>
        </p:spPr>
        <p:txBody>
          <a:bodyPr spcFirstLastPara="1" wrap="square" lIns="0" tIns="0" rIns="0" bIns="0" anchor="ctr" anchorCtr="0">
            <a:noAutofit/>
          </a:bodyPr>
          <a:lstStyle/>
          <a:p>
            <a:pPr defTabSz="685800">
              <a:buClr>
                <a:srgbClr val="000000"/>
              </a:buClr>
            </a:pPr>
            <a:r>
              <a:rPr lang="en-US" sz="2400" b="1" kern="0" dirty="0">
                <a:solidFill>
                  <a:srgbClr val="4472C4"/>
                </a:solidFill>
                <a:latin typeface="Arial"/>
                <a:cs typeface="Arial"/>
                <a:sym typeface="Arial"/>
              </a:rPr>
              <a:t>Additional 3G Innovations</a:t>
            </a:r>
            <a:endParaRPr lang="en-IN" sz="2400" kern="0" dirty="0">
              <a:solidFill>
                <a:srgbClr val="4472C4"/>
              </a:solidFill>
              <a:latin typeface="Arial"/>
              <a:cs typeface="Arial"/>
              <a:sym typeface="Arial"/>
            </a:endParaRPr>
          </a:p>
        </p:txBody>
      </p:sp>
      <p:sp>
        <p:nvSpPr>
          <p:cNvPr id="139" name="Google Shape;139;p6">
            <a:extLst>
              <a:ext uri="{FF2B5EF4-FFF2-40B4-BE49-F238E27FC236}">
                <a16:creationId xmlns:a16="http://schemas.microsoft.com/office/drawing/2014/main" id="{A35A5B7E-48BF-FF10-0AC6-B57AE614467C}"/>
              </a:ext>
            </a:extLst>
          </p:cNvPr>
          <p:cNvSpPr/>
          <p:nvPr/>
        </p:nvSpPr>
        <p:spPr>
          <a:xfrm>
            <a:off x="571500" y="704850"/>
            <a:ext cx="1714500" cy="28575"/>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44" name="Google Shape;144;p6">
            <a:extLst>
              <a:ext uri="{FF2B5EF4-FFF2-40B4-BE49-F238E27FC236}">
                <a16:creationId xmlns:a16="http://schemas.microsoft.com/office/drawing/2014/main" id="{FCBADF31-BA06-A54A-AE35-0E962D7BE49A}"/>
              </a:ext>
            </a:extLst>
          </p:cNvPr>
          <p:cNvSpPr/>
          <p:nvPr/>
        </p:nvSpPr>
        <p:spPr>
          <a:xfrm>
            <a:off x="904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More Users</a:t>
            </a:r>
            <a:endParaRPr sz="1200" kern="0">
              <a:solidFill>
                <a:srgbClr val="000000"/>
              </a:solidFill>
              <a:latin typeface="Arial"/>
              <a:cs typeface="Arial"/>
              <a:sym typeface="Arial"/>
            </a:endParaRPr>
          </a:p>
        </p:txBody>
      </p:sp>
      <p:sp>
        <p:nvSpPr>
          <p:cNvPr id="147" name="Google Shape;147;p6">
            <a:extLst>
              <a:ext uri="{FF2B5EF4-FFF2-40B4-BE49-F238E27FC236}">
                <a16:creationId xmlns:a16="http://schemas.microsoft.com/office/drawing/2014/main" id="{6511CC07-B2AC-7F85-83C0-2E9E0DD964BE}"/>
              </a:ext>
            </a:extLst>
          </p:cNvPr>
          <p:cNvSpPr/>
          <p:nvPr/>
        </p:nvSpPr>
        <p:spPr>
          <a:xfrm>
            <a:off x="30956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125" b="1" kern="0" dirty="0">
                <a:solidFill>
                  <a:srgbClr val="FFFFFF"/>
                </a:solidFill>
                <a:latin typeface="Quattrocento Sans"/>
                <a:ea typeface="Quattrocento Sans"/>
                <a:cs typeface="Quattrocento Sans"/>
                <a:sym typeface="Quattrocento Sans"/>
              </a:rPr>
              <a:t>Beer Spectrum</a:t>
            </a:r>
            <a:endParaRPr sz="1125" kern="0" dirty="0">
              <a:solidFill>
                <a:srgbClr val="000000"/>
              </a:solidFill>
              <a:latin typeface="Arial"/>
              <a:cs typeface="Arial"/>
              <a:sym typeface="Arial"/>
            </a:endParaRPr>
          </a:p>
        </p:txBody>
      </p:sp>
      <p:sp>
        <p:nvSpPr>
          <p:cNvPr id="150" name="Google Shape;150;p6">
            <a:extLst>
              <a:ext uri="{FF2B5EF4-FFF2-40B4-BE49-F238E27FC236}">
                <a16:creationId xmlns:a16="http://schemas.microsoft.com/office/drawing/2014/main" id="{2239045E-51D1-1BBD-5E00-06035200913C}"/>
              </a:ext>
            </a:extLst>
          </p:cNvPr>
          <p:cNvSpPr/>
          <p:nvPr/>
        </p:nvSpPr>
        <p:spPr>
          <a:xfrm>
            <a:off x="52863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Capacity</a:t>
            </a:r>
            <a:endParaRPr sz="1200" kern="0">
              <a:solidFill>
                <a:srgbClr val="000000"/>
              </a:solidFill>
              <a:latin typeface="Arial"/>
              <a:cs typeface="Arial"/>
              <a:sym typeface="Arial"/>
            </a:endParaRPr>
          </a:p>
        </p:txBody>
      </p:sp>
      <p:sp>
        <p:nvSpPr>
          <p:cNvPr id="153" name="Google Shape;153;p6">
            <a:extLst>
              <a:ext uri="{FF2B5EF4-FFF2-40B4-BE49-F238E27FC236}">
                <a16:creationId xmlns:a16="http://schemas.microsoft.com/office/drawing/2014/main" id="{96A40677-D91A-0303-1D48-261C55858E4F}"/>
              </a:ext>
            </a:extLst>
          </p:cNvPr>
          <p:cNvSpPr/>
          <p:nvPr/>
        </p:nvSpPr>
        <p:spPr>
          <a:xfrm>
            <a:off x="74771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Speed</a:t>
            </a:r>
            <a:endParaRPr sz="1200" kern="0">
              <a:solidFill>
                <a:srgbClr val="000000"/>
              </a:solidFill>
              <a:latin typeface="Arial"/>
              <a:cs typeface="Arial"/>
              <a:sym typeface="Arial"/>
            </a:endParaRPr>
          </a:p>
        </p:txBody>
      </p:sp>
      <p:sp>
        <p:nvSpPr>
          <p:cNvPr id="156" name="Google Shape;156;p6">
            <a:extLst>
              <a:ext uri="{FF2B5EF4-FFF2-40B4-BE49-F238E27FC236}">
                <a16:creationId xmlns:a16="http://schemas.microsoft.com/office/drawing/2014/main" id="{B78D975B-8931-F0EA-019E-4F955A994C6C}"/>
              </a:ext>
            </a:extLst>
          </p:cNvPr>
          <p:cNvSpPr/>
          <p:nvPr/>
        </p:nvSpPr>
        <p:spPr>
          <a:xfrm>
            <a:off x="9667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050" b="1" kern="0">
                <a:solidFill>
                  <a:srgbClr val="FFFFFF"/>
                </a:solidFill>
                <a:latin typeface="Quattrocento Sans"/>
                <a:ea typeface="Quattrocento Sans"/>
                <a:cs typeface="Quattrocento Sans"/>
                <a:sym typeface="Quattrocento Sans"/>
              </a:rPr>
              <a:t>Better Experience</a:t>
            </a:r>
            <a:endParaRPr sz="1050" kern="0">
              <a:solidFill>
                <a:srgbClr val="000000"/>
              </a:solidFill>
              <a:latin typeface="Arial"/>
              <a:cs typeface="Arial"/>
              <a:sym typeface="Arial"/>
            </a:endParaRPr>
          </a:p>
        </p:txBody>
      </p:sp>
      <p:sp>
        <p:nvSpPr>
          <p:cNvPr id="160" name="Google Shape;160;p6">
            <a:extLst>
              <a:ext uri="{FF2B5EF4-FFF2-40B4-BE49-F238E27FC236}">
                <a16:creationId xmlns:a16="http://schemas.microsoft.com/office/drawing/2014/main" id="{6E9F798C-380F-0A47-FB82-26ECC293D102}"/>
              </a:ext>
            </a:extLst>
          </p:cNvPr>
          <p:cNvSpPr/>
          <p:nvPr/>
        </p:nvSpPr>
        <p:spPr>
          <a:xfrm>
            <a:off x="571500" y="6457950"/>
            <a:ext cx="11049000" cy="9525"/>
          </a:xfrm>
          <a:prstGeom prst="rect">
            <a:avLst/>
          </a:prstGeom>
          <a:solidFill>
            <a:srgbClr val="D0D5DD"/>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 name="Google Shape;161;p6">
            <a:extLst>
              <a:ext uri="{FF2B5EF4-FFF2-40B4-BE49-F238E27FC236}">
                <a16:creationId xmlns:a16="http://schemas.microsoft.com/office/drawing/2014/main" id="{697EF141-CE6D-6689-7CB9-118F7AC891F6}"/>
              </a:ext>
            </a:extLst>
          </p:cNvPr>
          <p:cNvSpPr/>
          <p:nvPr/>
        </p:nvSpPr>
        <p:spPr>
          <a:xfrm>
            <a:off x="571500" y="6524625"/>
            <a:ext cx="2381250" cy="228600"/>
          </a:xfrm>
          <a:prstGeom prst="rect">
            <a:avLst/>
          </a:prstGeom>
          <a:noFill/>
          <a:ln>
            <a:noFill/>
          </a:ln>
        </p:spPr>
        <p:txBody>
          <a:bodyPr spcFirstLastPara="1" wrap="square" lIns="0" tIns="0" rIns="0" bIns="0" anchor="ctr" anchorCtr="0">
            <a:noAutofit/>
          </a:bodyPr>
          <a:lstStyle/>
          <a:p>
            <a:pPr defTabSz="685800">
              <a:lnSpc>
                <a:spcPct val="140000"/>
              </a:lnSpc>
              <a:buClr>
                <a:srgbClr val="000000"/>
              </a:buClr>
            </a:pPr>
            <a:r>
              <a:rPr lang="en-US" sz="1050" kern="0" dirty="0">
                <a:solidFill>
                  <a:srgbClr val="6B7280"/>
                </a:solidFill>
                <a:latin typeface="Quattrocento Sans"/>
                <a:ea typeface="Quattrocento Sans"/>
                <a:cs typeface="Quattrocento Sans"/>
                <a:sym typeface="Quattrocento Sans"/>
              </a:rPr>
              <a:t>Part II</a:t>
            </a:r>
            <a:endParaRPr sz="1050" kern="0" dirty="0">
              <a:solidFill>
                <a:srgbClr val="000000"/>
              </a:solidFill>
              <a:latin typeface="Arial"/>
              <a:cs typeface="Arial"/>
              <a:sym typeface="Arial"/>
            </a:endParaRPr>
          </a:p>
        </p:txBody>
      </p:sp>
      <p:sp>
        <p:nvSpPr>
          <p:cNvPr id="2" name="TextBox 1">
            <a:extLst>
              <a:ext uri="{FF2B5EF4-FFF2-40B4-BE49-F238E27FC236}">
                <a16:creationId xmlns:a16="http://schemas.microsoft.com/office/drawing/2014/main" id="{2DD3B1FA-E296-9B5B-5129-51BD7B2B1ECB}"/>
              </a:ext>
            </a:extLst>
          </p:cNvPr>
          <p:cNvSpPr txBox="1"/>
          <p:nvPr/>
        </p:nvSpPr>
        <p:spPr>
          <a:xfrm>
            <a:off x="571500" y="914400"/>
            <a:ext cx="10459357" cy="4247317"/>
          </a:xfrm>
          <a:prstGeom prst="rect">
            <a:avLst/>
          </a:prstGeom>
          <a:noFill/>
        </p:spPr>
        <p:txBody>
          <a:bodyPr wrap="square" rtlCol="0">
            <a:spAutoFit/>
          </a:bodyPr>
          <a:lstStyle/>
          <a:p>
            <a:r>
              <a:rPr lang="en-IN" b="1" dirty="0"/>
              <a:t>RAKE Receiver</a:t>
            </a:r>
          </a:p>
          <a:p>
            <a:r>
              <a:rPr lang="en-IN" dirty="0"/>
              <a:t>Combines multiple delayed signal components caused by multipath propagation to improve signal quality and reliability. Provides diversity gain, resulting in better reception under fading channel conditions. </a:t>
            </a:r>
          </a:p>
          <a:p>
            <a:endParaRPr lang="en-IN" b="1" dirty="0"/>
          </a:p>
          <a:p>
            <a:r>
              <a:rPr lang="en-IN" b="1" dirty="0"/>
              <a:t>Soft Handover</a:t>
            </a:r>
          </a:p>
          <a:p>
            <a:r>
              <a:rPr lang="en-IN" dirty="0"/>
              <a:t>Allows a mobile device to remain connected to multiple Node Bs simultaneously during cell transitions. Reduces call drops and provides smoother mobility compared to the hard handover used in GSM. </a:t>
            </a:r>
          </a:p>
          <a:p>
            <a:endParaRPr lang="en-IN" b="1" dirty="0"/>
          </a:p>
          <a:p>
            <a:r>
              <a:rPr lang="en-IN" b="1" dirty="0"/>
              <a:t>Fast Power Control</a:t>
            </a:r>
          </a:p>
          <a:p>
            <a:r>
              <a:rPr lang="en-IN" dirty="0"/>
              <a:t>Continuously adjusts the transmit power of both the mobile device and Node B. Effectively mitigates the </a:t>
            </a:r>
            <a:r>
              <a:rPr lang="en-IN" b="1" dirty="0"/>
              <a:t>Near-Far Problem</a:t>
            </a:r>
            <a:r>
              <a:rPr lang="en-IN" dirty="0"/>
              <a:t>, ensuring that all users arrive at the receiver with approximately equal received power.</a:t>
            </a:r>
          </a:p>
          <a:p>
            <a:endParaRPr lang="en-IN" dirty="0"/>
          </a:p>
        </p:txBody>
      </p:sp>
    </p:spTree>
    <p:extLst>
      <p:ext uri="{BB962C8B-B14F-4D97-AF65-F5344CB8AC3E}">
        <p14:creationId xmlns:p14="http://schemas.microsoft.com/office/powerpoint/2010/main" val="7684319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3B31F26F-A8FB-9687-0E7C-9A63660EE3A7}"/>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42401ABC-7DA0-D032-0543-63A697D67085}"/>
              </a:ext>
            </a:extLst>
          </p:cNvPr>
          <p:cNvSpPr/>
          <p:nvPr/>
        </p:nvSpPr>
        <p:spPr>
          <a:xfrm>
            <a:off x="0" y="0"/>
            <a:ext cx="12192000" cy="38100"/>
          </a:xfrm>
          <a:prstGeom prst="rect">
            <a:avLst/>
          </a:prstGeom>
          <a:solidFill>
            <a:srgbClr val="1E5AA8"/>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38" name="Google Shape;138;p6">
            <a:extLst>
              <a:ext uri="{FF2B5EF4-FFF2-40B4-BE49-F238E27FC236}">
                <a16:creationId xmlns:a16="http://schemas.microsoft.com/office/drawing/2014/main" id="{7453EAA8-DE3F-ABE9-F672-B2C8525C0642}"/>
              </a:ext>
            </a:extLst>
          </p:cNvPr>
          <p:cNvSpPr/>
          <p:nvPr/>
        </p:nvSpPr>
        <p:spPr>
          <a:xfrm>
            <a:off x="571500" y="238125"/>
            <a:ext cx="11049000" cy="447675"/>
          </a:xfrm>
          <a:prstGeom prst="rect">
            <a:avLst/>
          </a:prstGeom>
          <a:noFill/>
          <a:ln>
            <a:noFill/>
          </a:ln>
        </p:spPr>
        <p:txBody>
          <a:bodyPr spcFirstLastPara="1" wrap="square" lIns="0" tIns="0" rIns="0" bIns="0" anchor="ctr" anchorCtr="0">
            <a:noAutofit/>
          </a:bodyPr>
          <a:lstStyle/>
          <a:p>
            <a:pPr defTabSz="685800">
              <a:buClr>
                <a:srgbClr val="000000"/>
              </a:buClr>
            </a:pPr>
            <a:r>
              <a:rPr lang="en-US" sz="2400" b="1" kern="0" dirty="0">
                <a:solidFill>
                  <a:srgbClr val="4472C4"/>
                </a:solidFill>
                <a:latin typeface="Arial"/>
                <a:cs typeface="Arial"/>
                <a:sym typeface="Arial"/>
              </a:rPr>
              <a:t>3G Enhancements</a:t>
            </a:r>
            <a:endParaRPr lang="en-IN" sz="2400" kern="0" dirty="0">
              <a:solidFill>
                <a:srgbClr val="4472C4"/>
              </a:solidFill>
              <a:latin typeface="Arial"/>
              <a:cs typeface="Arial"/>
              <a:sym typeface="Arial"/>
            </a:endParaRPr>
          </a:p>
        </p:txBody>
      </p:sp>
      <p:sp>
        <p:nvSpPr>
          <p:cNvPr id="139" name="Google Shape;139;p6">
            <a:extLst>
              <a:ext uri="{FF2B5EF4-FFF2-40B4-BE49-F238E27FC236}">
                <a16:creationId xmlns:a16="http://schemas.microsoft.com/office/drawing/2014/main" id="{7A990F43-DFAB-CAD2-0115-E0F45D8227BF}"/>
              </a:ext>
            </a:extLst>
          </p:cNvPr>
          <p:cNvSpPr/>
          <p:nvPr/>
        </p:nvSpPr>
        <p:spPr>
          <a:xfrm>
            <a:off x="571500" y="704850"/>
            <a:ext cx="1714500" cy="28575"/>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44" name="Google Shape;144;p6">
            <a:extLst>
              <a:ext uri="{FF2B5EF4-FFF2-40B4-BE49-F238E27FC236}">
                <a16:creationId xmlns:a16="http://schemas.microsoft.com/office/drawing/2014/main" id="{7932DAF6-E292-749C-E610-CB350F297132}"/>
              </a:ext>
            </a:extLst>
          </p:cNvPr>
          <p:cNvSpPr/>
          <p:nvPr/>
        </p:nvSpPr>
        <p:spPr>
          <a:xfrm>
            <a:off x="904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More Users</a:t>
            </a:r>
            <a:endParaRPr sz="1200" kern="0">
              <a:solidFill>
                <a:srgbClr val="000000"/>
              </a:solidFill>
              <a:latin typeface="Arial"/>
              <a:cs typeface="Arial"/>
              <a:sym typeface="Arial"/>
            </a:endParaRPr>
          </a:p>
        </p:txBody>
      </p:sp>
      <p:sp>
        <p:nvSpPr>
          <p:cNvPr id="147" name="Google Shape;147;p6">
            <a:extLst>
              <a:ext uri="{FF2B5EF4-FFF2-40B4-BE49-F238E27FC236}">
                <a16:creationId xmlns:a16="http://schemas.microsoft.com/office/drawing/2014/main" id="{428F2610-773B-7AF0-9F62-B149A5EC159A}"/>
              </a:ext>
            </a:extLst>
          </p:cNvPr>
          <p:cNvSpPr/>
          <p:nvPr/>
        </p:nvSpPr>
        <p:spPr>
          <a:xfrm>
            <a:off x="30956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125" b="1" kern="0" dirty="0">
                <a:solidFill>
                  <a:srgbClr val="FFFFFF"/>
                </a:solidFill>
                <a:latin typeface="Quattrocento Sans"/>
                <a:ea typeface="Quattrocento Sans"/>
                <a:cs typeface="Quattrocento Sans"/>
                <a:sym typeface="Quattrocento Sans"/>
              </a:rPr>
              <a:t>Beer Spectrum</a:t>
            </a:r>
            <a:endParaRPr sz="1125" kern="0" dirty="0">
              <a:solidFill>
                <a:srgbClr val="000000"/>
              </a:solidFill>
              <a:latin typeface="Arial"/>
              <a:cs typeface="Arial"/>
              <a:sym typeface="Arial"/>
            </a:endParaRPr>
          </a:p>
        </p:txBody>
      </p:sp>
      <p:sp>
        <p:nvSpPr>
          <p:cNvPr id="150" name="Google Shape;150;p6">
            <a:extLst>
              <a:ext uri="{FF2B5EF4-FFF2-40B4-BE49-F238E27FC236}">
                <a16:creationId xmlns:a16="http://schemas.microsoft.com/office/drawing/2014/main" id="{BBE32C28-CB03-093B-70F7-CD0925A27DAE}"/>
              </a:ext>
            </a:extLst>
          </p:cNvPr>
          <p:cNvSpPr/>
          <p:nvPr/>
        </p:nvSpPr>
        <p:spPr>
          <a:xfrm>
            <a:off x="52863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Capacity</a:t>
            </a:r>
            <a:endParaRPr sz="1200" kern="0">
              <a:solidFill>
                <a:srgbClr val="000000"/>
              </a:solidFill>
              <a:latin typeface="Arial"/>
              <a:cs typeface="Arial"/>
              <a:sym typeface="Arial"/>
            </a:endParaRPr>
          </a:p>
        </p:txBody>
      </p:sp>
      <p:sp>
        <p:nvSpPr>
          <p:cNvPr id="153" name="Google Shape;153;p6">
            <a:extLst>
              <a:ext uri="{FF2B5EF4-FFF2-40B4-BE49-F238E27FC236}">
                <a16:creationId xmlns:a16="http://schemas.microsoft.com/office/drawing/2014/main" id="{54466354-DC00-27A8-C0BC-416A1261F58C}"/>
              </a:ext>
            </a:extLst>
          </p:cNvPr>
          <p:cNvSpPr/>
          <p:nvPr/>
        </p:nvSpPr>
        <p:spPr>
          <a:xfrm>
            <a:off x="74771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Speed</a:t>
            </a:r>
            <a:endParaRPr sz="1200" kern="0">
              <a:solidFill>
                <a:srgbClr val="000000"/>
              </a:solidFill>
              <a:latin typeface="Arial"/>
              <a:cs typeface="Arial"/>
              <a:sym typeface="Arial"/>
            </a:endParaRPr>
          </a:p>
        </p:txBody>
      </p:sp>
      <p:sp>
        <p:nvSpPr>
          <p:cNvPr id="156" name="Google Shape;156;p6">
            <a:extLst>
              <a:ext uri="{FF2B5EF4-FFF2-40B4-BE49-F238E27FC236}">
                <a16:creationId xmlns:a16="http://schemas.microsoft.com/office/drawing/2014/main" id="{F45488EC-3E6C-6862-49C5-3B293A25BAD7}"/>
              </a:ext>
            </a:extLst>
          </p:cNvPr>
          <p:cNvSpPr/>
          <p:nvPr/>
        </p:nvSpPr>
        <p:spPr>
          <a:xfrm>
            <a:off x="9667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050" b="1" kern="0">
                <a:solidFill>
                  <a:srgbClr val="FFFFFF"/>
                </a:solidFill>
                <a:latin typeface="Quattrocento Sans"/>
                <a:ea typeface="Quattrocento Sans"/>
                <a:cs typeface="Quattrocento Sans"/>
                <a:sym typeface="Quattrocento Sans"/>
              </a:rPr>
              <a:t>Better Experience</a:t>
            </a:r>
            <a:endParaRPr sz="1050" kern="0">
              <a:solidFill>
                <a:srgbClr val="000000"/>
              </a:solidFill>
              <a:latin typeface="Arial"/>
              <a:cs typeface="Arial"/>
              <a:sym typeface="Arial"/>
            </a:endParaRPr>
          </a:p>
        </p:txBody>
      </p:sp>
      <p:sp>
        <p:nvSpPr>
          <p:cNvPr id="160" name="Google Shape;160;p6">
            <a:extLst>
              <a:ext uri="{FF2B5EF4-FFF2-40B4-BE49-F238E27FC236}">
                <a16:creationId xmlns:a16="http://schemas.microsoft.com/office/drawing/2014/main" id="{E016EAD1-25F1-B18B-E7E1-C90B36BF17F9}"/>
              </a:ext>
            </a:extLst>
          </p:cNvPr>
          <p:cNvSpPr/>
          <p:nvPr/>
        </p:nvSpPr>
        <p:spPr>
          <a:xfrm>
            <a:off x="571500" y="6457950"/>
            <a:ext cx="11049000" cy="9525"/>
          </a:xfrm>
          <a:prstGeom prst="rect">
            <a:avLst/>
          </a:prstGeom>
          <a:solidFill>
            <a:srgbClr val="D0D5DD"/>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 name="Google Shape;161;p6">
            <a:extLst>
              <a:ext uri="{FF2B5EF4-FFF2-40B4-BE49-F238E27FC236}">
                <a16:creationId xmlns:a16="http://schemas.microsoft.com/office/drawing/2014/main" id="{17735AC4-3FD4-E2DC-3702-C68AD9B7FB4C}"/>
              </a:ext>
            </a:extLst>
          </p:cNvPr>
          <p:cNvSpPr/>
          <p:nvPr/>
        </p:nvSpPr>
        <p:spPr>
          <a:xfrm>
            <a:off x="571500" y="6524625"/>
            <a:ext cx="2381250" cy="228600"/>
          </a:xfrm>
          <a:prstGeom prst="rect">
            <a:avLst/>
          </a:prstGeom>
          <a:noFill/>
          <a:ln>
            <a:noFill/>
          </a:ln>
        </p:spPr>
        <p:txBody>
          <a:bodyPr spcFirstLastPara="1" wrap="square" lIns="0" tIns="0" rIns="0" bIns="0" anchor="ctr" anchorCtr="0">
            <a:noAutofit/>
          </a:bodyPr>
          <a:lstStyle/>
          <a:p>
            <a:pPr defTabSz="685800">
              <a:lnSpc>
                <a:spcPct val="140000"/>
              </a:lnSpc>
              <a:buClr>
                <a:srgbClr val="000000"/>
              </a:buClr>
            </a:pPr>
            <a:r>
              <a:rPr lang="en-US" sz="1050" kern="0" dirty="0">
                <a:solidFill>
                  <a:srgbClr val="6B7280"/>
                </a:solidFill>
                <a:latin typeface="Quattrocento Sans"/>
                <a:ea typeface="Quattrocento Sans"/>
                <a:cs typeface="Quattrocento Sans"/>
                <a:sym typeface="Quattrocento Sans"/>
              </a:rPr>
              <a:t>Part II</a:t>
            </a:r>
            <a:endParaRPr sz="1050" kern="0" dirty="0">
              <a:solidFill>
                <a:srgbClr val="000000"/>
              </a:solidFill>
              <a:latin typeface="Arial"/>
              <a:cs typeface="Arial"/>
              <a:sym typeface="Arial"/>
            </a:endParaRPr>
          </a:p>
        </p:txBody>
      </p:sp>
      <p:sp>
        <p:nvSpPr>
          <p:cNvPr id="2" name="TextBox 1">
            <a:extLst>
              <a:ext uri="{FF2B5EF4-FFF2-40B4-BE49-F238E27FC236}">
                <a16:creationId xmlns:a16="http://schemas.microsoft.com/office/drawing/2014/main" id="{B87A1154-882F-77B7-12B1-EB14D90377DB}"/>
              </a:ext>
            </a:extLst>
          </p:cNvPr>
          <p:cNvSpPr txBox="1"/>
          <p:nvPr/>
        </p:nvSpPr>
        <p:spPr>
          <a:xfrm>
            <a:off x="571500" y="885371"/>
            <a:ext cx="11049000" cy="5632311"/>
          </a:xfrm>
          <a:prstGeom prst="rect">
            <a:avLst/>
          </a:prstGeom>
          <a:noFill/>
        </p:spPr>
        <p:txBody>
          <a:bodyPr wrap="square" rtlCol="0">
            <a:spAutoFit/>
          </a:bodyPr>
          <a:lstStyle/>
          <a:p>
            <a:r>
              <a:rPr lang="en-IN" b="1" dirty="0"/>
              <a:t>Release 99 (2000) – Introduction of UMTS</a:t>
            </a:r>
          </a:p>
          <a:p>
            <a:r>
              <a:rPr lang="en-IN" b="1" dirty="0"/>
              <a:t>Release 99 (R99)</a:t>
            </a:r>
            <a:r>
              <a:rPr lang="en-IN" dirty="0"/>
              <a:t> marked the first official 3GPP specification for </a:t>
            </a:r>
            <a:r>
              <a:rPr lang="en-IN" b="1" dirty="0"/>
              <a:t>UMTS (Universal Mobile Telecommunications System)</a:t>
            </a:r>
            <a:r>
              <a:rPr lang="en-IN" dirty="0"/>
              <a:t>. It introduced the </a:t>
            </a:r>
            <a:r>
              <a:rPr lang="en-IN" b="1" dirty="0"/>
              <a:t>WCDMA radio interface</a:t>
            </a:r>
            <a:r>
              <a:rPr lang="en-IN" dirty="0"/>
              <a:t>, enabling data rates of up to </a:t>
            </a:r>
            <a:r>
              <a:rPr lang="en-IN" b="1" dirty="0"/>
              <a:t>2 Mbps</a:t>
            </a:r>
            <a:r>
              <a:rPr lang="en-IN" dirty="0"/>
              <a:t>, and established the UTRAN architecture consisting of </a:t>
            </a:r>
            <a:r>
              <a:rPr lang="en-IN" b="1" dirty="0"/>
              <a:t>Node B</a:t>
            </a:r>
            <a:r>
              <a:rPr lang="en-IN" dirty="0"/>
              <a:t> and the </a:t>
            </a:r>
            <a:r>
              <a:rPr lang="en-IN" b="1" dirty="0"/>
              <a:t>Radio Network Controller (RNC)</a:t>
            </a:r>
            <a:r>
              <a:rPr lang="en-IN" dirty="0"/>
              <a:t> while retaining much of the GSM/GPRS core network.</a:t>
            </a:r>
          </a:p>
          <a:p>
            <a:br>
              <a:rPr lang="en-IN" dirty="0"/>
            </a:br>
            <a:endParaRPr lang="en-IN" dirty="0"/>
          </a:p>
          <a:p>
            <a:r>
              <a:rPr lang="en-IN" b="1" dirty="0"/>
              <a:t>Release 4 (2001) – Core Network Evolution</a:t>
            </a:r>
          </a:p>
          <a:p>
            <a:r>
              <a:rPr lang="en-IN" b="1" dirty="0"/>
              <a:t>Release 4</a:t>
            </a:r>
            <a:r>
              <a:rPr lang="en-IN" dirty="0"/>
              <a:t> focused on improving the core network by separating </a:t>
            </a:r>
            <a:r>
              <a:rPr lang="en-IN" b="1" dirty="0"/>
              <a:t>call control</a:t>
            </a:r>
            <a:r>
              <a:rPr lang="en-IN" dirty="0"/>
              <a:t> from </a:t>
            </a:r>
            <a:r>
              <a:rPr lang="en-IN" b="1" dirty="0"/>
              <a:t>media transport</a:t>
            </a:r>
            <a:r>
              <a:rPr lang="en-IN" dirty="0"/>
              <a:t> through the introduction of the </a:t>
            </a:r>
            <a:r>
              <a:rPr lang="en-IN" b="1" dirty="0"/>
              <a:t>MSC Server</a:t>
            </a:r>
            <a:r>
              <a:rPr lang="en-IN" dirty="0"/>
              <a:t> and </a:t>
            </a:r>
            <a:r>
              <a:rPr lang="en-IN" b="1" dirty="0"/>
              <a:t>Media Gateway (MGW)</a:t>
            </a:r>
            <a:r>
              <a:rPr lang="en-IN" dirty="0"/>
              <a:t> architecture. This distributed architecture improved network scalability, supported IP-based transport, and reduced deployment costs for mobile operators.</a:t>
            </a:r>
          </a:p>
          <a:p>
            <a:br>
              <a:rPr lang="en-IN" dirty="0"/>
            </a:br>
            <a:endParaRPr lang="en-IN" dirty="0"/>
          </a:p>
          <a:p>
            <a:r>
              <a:rPr lang="en-IN" b="1" dirty="0"/>
              <a:t>Release 5 (2002) – Introduction of HSDPA</a:t>
            </a:r>
          </a:p>
          <a:p>
            <a:r>
              <a:rPr lang="en-IN" b="1" dirty="0"/>
              <a:t>Release 5</a:t>
            </a:r>
            <a:r>
              <a:rPr lang="en-IN" dirty="0"/>
              <a:t> introduced </a:t>
            </a:r>
            <a:r>
              <a:rPr lang="en-IN" b="1" dirty="0"/>
              <a:t>High-Speed Downlink Packet Access (HSDPA)</a:t>
            </a:r>
            <a:r>
              <a:rPr lang="en-IN" dirty="0"/>
              <a:t>, significantly increasing downlink data rates to a theoretical maximum of </a:t>
            </a:r>
            <a:r>
              <a:rPr lang="en-IN" b="1" dirty="0"/>
              <a:t>14.4 Mbps</a:t>
            </a:r>
            <a:r>
              <a:rPr lang="en-IN" dirty="0"/>
              <a:t>. It also introduced the </a:t>
            </a:r>
            <a:r>
              <a:rPr lang="en-IN" b="1" dirty="0"/>
              <a:t>IP Multimedia Subsystem (IMS)</a:t>
            </a:r>
            <a:r>
              <a:rPr lang="en-IN" dirty="0"/>
              <a:t>, enabling IP-based multimedia services such as video calling, multimedia messaging, and Voice over IP (VoIP).</a:t>
            </a:r>
          </a:p>
          <a:p>
            <a:endParaRPr lang="en-IN" dirty="0"/>
          </a:p>
        </p:txBody>
      </p:sp>
    </p:spTree>
    <p:extLst>
      <p:ext uri="{BB962C8B-B14F-4D97-AF65-F5344CB8AC3E}">
        <p14:creationId xmlns:p14="http://schemas.microsoft.com/office/powerpoint/2010/main" val="198976008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EFB55A1F-54E0-9F20-E661-E53E8D55F9E5}"/>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A259F2F6-372A-5504-C638-A8C029176EFB}"/>
              </a:ext>
            </a:extLst>
          </p:cNvPr>
          <p:cNvSpPr/>
          <p:nvPr/>
        </p:nvSpPr>
        <p:spPr>
          <a:xfrm>
            <a:off x="0" y="0"/>
            <a:ext cx="12192000" cy="38100"/>
          </a:xfrm>
          <a:prstGeom prst="rect">
            <a:avLst/>
          </a:prstGeom>
          <a:solidFill>
            <a:srgbClr val="1E5AA8"/>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38" name="Google Shape;138;p6">
            <a:extLst>
              <a:ext uri="{FF2B5EF4-FFF2-40B4-BE49-F238E27FC236}">
                <a16:creationId xmlns:a16="http://schemas.microsoft.com/office/drawing/2014/main" id="{42196AFA-4E61-4099-956C-116FF20FC742}"/>
              </a:ext>
            </a:extLst>
          </p:cNvPr>
          <p:cNvSpPr/>
          <p:nvPr/>
        </p:nvSpPr>
        <p:spPr>
          <a:xfrm>
            <a:off x="571500" y="238125"/>
            <a:ext cx="11049000" cy="447675"/>
          </a:xfrm>
          <a:prstGeom prst="rect">
            <a:avLst/>
          </a:prstGeom>
          <a:noFill/>
          <a:ln>
            <a:noFill/>
          </a:ln>
        </p:spPr>
        <p:txBody>
          <a:bodyPr spcFirstLastPara="1" wrap="square" lIns="0" tIns="0" rIns="0" bIns="0" anchor="ctr" anchorCtr="0">
            <a:noAutofit/>
          </a:bodyPr>
          <a:lstStyle/>
          <a:p>
            <a:pPr defTabSz="685800">
              <a:buClr>
                <a:srgbClr val="000000"/>
              </a:buClr>
            </a:pPr>
            <a:r>
              <a:rPr lang="en-US" sz="2400" b="1" kern="0" dirty="0">
                <a:solidFill>
                  <a:srgbClr val="4472C4"/>
                </a:solidFill>
                <a:cs typeface="Arial"/>
                <a:sym typeface="Arial"/>
              </a:rPr>
              <a:t>3G Enhancements</a:t>
            </a:r>
            <a:endParaRPr lang="en-IN" sz="2400" kern="0" dirty="0">
              <a:solidFill>
                <a:srgbClr val="4472C4"/>
              </a:solidFill>
              <a:cs typeface="Arial"/>
              <a:sym typeface="Arial"/>
            </a:endParaRPr>
          </a:p>
        </p:txBody>
      </p:sp>
      <p:sp>
        <p:nvSpPr>
          <p:cNvPr id="139" name="Google Shape;139;p6">
            <a:extLst>
              <a:ext uri="{FF2B5EF4-FFF2-40B4-BE49-F238E27FC236}">
                <a16:creationId xmlns:a16="http://schemas.microsoft.com/office/drawing/2014/main" id="{98047E06-A102-F155-48B3-86B6E20F817F}"/>
              </a:ext>
            </a:extLst>
          </p:cNvPr>
          <p:cNvSpPr/>
          <p:nvPr/>
        </p:nvSpPr>
        <p:spPr>
          <a:xfrm>
            <a:off x="571500" y="704850"/>
            <a:ext cx="1714500" cy="28575"/>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44" name="Google Shape;144;p6">
            <a:extLst>
              <a:ext uri="{FF2B5EF4-FFF2-40B4-BE49-F238E27FC236}">
                <a16:creationId xmlns:a16="http://schemas.microsoft.com/office/drawing/2014/main" id="{213DD3AC-67B7-9F3C-9BB7-D733ACFFCD33}"/>
              </a:ext>
            </a:extLst>
          </p:cNvPr>
          <p:cNvSpPr/>
          <p:nvPr/>
        </p:nvSpPr>
        <p:spPr>
          <a:xfrm>
            <a:off x="904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More Users</a:t>
            </a:r>
            <a:endParaRPr sz="1200" kern="0">
              <a:solidFill>
                <a:srgbClr val="000000"/>
              </a:solidFill>
              <a:latin typeface="Arial"/>
              <a:cs typeface="Arial"/>
              <a:sym typeface="Arial"/>
            </a:endParaRPr>
          </a:p>
        </p:txBody>
      </p:sp>
      <p:sp>
        <p:nvSpPr>
          <p:cNvPr id="147" name="Google Shape;147;p6">
            <a:extLst>
              <a:ext uri="{FF2B5EF4-FFF2-40B4-BE49-F238E27FC236}">
                <a16:creationId xmlns:a16="http://schemas.microsoft.com/office/drawing/2014/main" id="{4C8FEBF8-BA43-2465-39FA-A1C3C8F0A4FB}"/>
              </a:ext>
            </a:extLst>
          </p:cNvPr>
          <p:cNvSpPr/>
          <p:nvPr/>
        </p:nvSpPr>
        <p:spPr>
          <a:xfrm>
            <a:off x="30956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125" b="1" kern="0" dirty="0">
                <a:solidFill>
                  <a:srgbClr val="FFFFFF"/>
                </a:solidFill>
                <a:latin typeface="Quattrocento Sans"/>
                <a:ea typeface="Quattrocento Sans"/>
                <a:cs typeface="Quattrocento Sans"/>
                <a:sym typeface="Quattrocento Sans"/>
              </a:rPr>
              <a:t>Beer Spectrum</a:t>
            </a:r>
            <a:endParaRPr sz="1125" kern="0" dirty="0">
              <a:solidFill>
                <a:srgbClr val="000000"/>
              </a:solidFill>
              <a:latin typeface="Arial"/>
              <a:cs typeface="Arial"/>
              <a:sym typeface="Arial"/>
            </a:endParaRPr>
          </a:p>
        </p:txBody>
      </p:sp>
      <p:sp>
        <p:nvSpPr>
          <p:cNvPr id="150" name="Google Shape;150;p6">
            <a:extLst>
              <a:ext uri="{FF2B5EF4-FFF2-40B4-BE49-F238E27FC236}">
                <a16:creationId xmlns:a16="http://schemas.microsoft.com/office/drawing/2014/main" id="{D05203A7-901F-A991-1506-11D10AE13825}"/>
              </a:ext>
            </a:extLst>
          </p:cNvPr>
          <p:cNvSpPr/>
          <p:nvPr/>
        </p:nvSpPr>
        <p:spPr>
          <a:xfrm>
            <a:off x="52863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Capacity</a:t>
            </a:r>
            <a:endParaRPr sz="1200" kern="0">
              <a:solidFill>
                <a:srgbClr val="000000"/>
              </a:solidFill>
              <a:latin typeface="Arial"/>
              <a:cs typeface="Arial"/>
              <a:sym typeface="Arial"/>
            </a:endParaRPr>
          </a:p>
        </p:txBody>
      </p:sp>
      <p:sp>
        <p:nvSpPr>
          <p:cNvPr id="153" name="Google Shape;153;p6">
            <a:extLst>
              <a:ext uri="{FF2B5EF4-FFF2-40B4-BE49-F238E27FC236}">
                <a16:creationId xmlns:a16="http://schemas.microsoft.com/office/drawing/2014/main" id="{AF635B1D-C236-3F18-6DA3-43E8A63FBC2D}"/>
              </a:ext>
            </a:extLst>
          </p:cNvPr>
          <p:cNvSpPr/>
          <p:nvPr/>
        </p:nvSpPr>
        <p:spPr>
          <a:xfrm>
            <a:off x="74771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Speed</a:t>
            </a:r>
            <a:endParaRPr sz="1200" kern="0">
              <a:solidFill>
                <a:srgbClr val="000000"/>
              </a:solidFill>
              <a:latin typeface="Arial"/>
              <a:cs typeface="Arial"/>
              <a:sym typeface="Arial"/>
            </a:endParaRPr>
          </a:p>
        </p:txBody>
      </p:sp>
      <p:sp>
        <p:nvSpPr>
          <p:cNvPr id="156" name="Google Shape;156;p6">
            <a:extLst>
              <a:ext uri="{FF2B5EF4-FFF2-40B4-BE49-F238E27FC236}">
                <a16:creationId xmlns:a16="http://schemas.microsoft.com/office/drawing/2014/main" id="{6CB5E56D-740C-E08B-CB8E-615F6331D3FC}"/>
              </a:ext>
            </a:extLst>
          </p:cNvPr>
          <p:cNvSpPr/>
          <p:nvPr/>
        </p:nvSpPr>
        <p:spPr>
          <a:xfrm>
            <a:off x="9667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050" b="1" kern="0">
                <a:solidFill>
                  <a:srgbClr val="FFFFFF"/>
                </a:solidFill>
                <a:latin typeface="Quattrocento Sans"/>
                <a:ea typeface="Quattrocento Sans"/>
                <a:cs typeface="Quattrocento Sans"/>
                <a:sym typeface="Quattrocento Sans"/>
              </a:rPr>
              <a:t>Better Experience</a:t>
            </a:r>
            <a:endParaRPr sz="1050" kern="0">
              <a:solidFill>
                <a:srgbClr val="000000"/>
              </a:solidFill>
              <a:latin typeface="Arial"/>
              <a:cs typeface="Arial"/>
              <a:sym typeface="Arial"/>
            </a:endParaRPr>
          </a:p>
        </p:txBody>
      </p:sp>
      <p:sp>
        <p:nvSpPr>
          <p:cNvPr id="160" name="Google Shape;160;p6">
            <a:extLst>
              <a:ext uri="{FF2B5EF4-FFF2-40B4-BE49-F238E27FC236}">
                <a16:creationId xmlns:a16="http://schemas.microsoft.com/office/drawing/2014/main" id="{2B053D4F-EF6E-DC56-253D-E0C0E0ED9523}"/>
              </a:ext>
            </a:extLst>
          </p:cNvPr>
          <p:cNvSpPr/>
          <p:nvPr/>
        </p:nvSpPr>
        <p:spPr>
          <a:xfrm>
            <a:off x="571500" y="6457950"/>
            <a:ext cx="11049000" cy="9525"/>
          </a:xfrm>
          <a:prstGeom prst="rect">
            <a:avLst/>
          </a:prstGeom>
          <a:solidFill>
            <a:srgbClr val="D0D5DD"/>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 name="Google Shape;161;p6">
            <a:extLst>
              <a:ext uri="{FF2B5EF4-FFF2-40B4-BE49-F238E27FC236}">
                <a16:creationId xmlns:a16="http://schemas.microsoft.com/office/drawing/2014/main" id="{02B3290B-244B-2CE1-C02B-563F416F59B5}"/>
              </a:ext>
            </a:extLst>
          </p:cNvPr>
          <p:cNvSpPr/>
          <p:nvPr/>
        </p:nvSpPr>
        <p:spPr>
          <a:xfrm>
            <a:off x="571500" y="6524625"/>
            <a:ext cx="2381250" cy="228600"/>
          </a:xfrm>
          <a:prstGeom prst="rect">
            <a:avLst/>
          </a:prstGeom>
          <a:noFill/>
          <a:ln>
            <a:noFill/>
          </a:ln>
        </p:spPr>
        <p:txBody>
          <a:bodyPr spcFirstLastPara="1" wrap="square" lIns="0" tIns="0" rIns="0" bIns="0" anchor="ctr" anchorCtr="0">
            <a:noAutofit/>
          </a:bodyPr>
          <a:lstStyle/>
          <a:p>
            <a:pPr defTabSz="685800">
              <a:lnSpc>
                <a:spcPct val="140000"/>
              </a:lnSpc>
              <a:buClr>
                <a:srgbClr val="000000"/>
              </a:buClr>
            </a:pPr>
            <a:r>
              <a:rPr lang="en-US" sz="1050" kern="0" dirty="0">
                <a:solidFill>
                  <a:srgbClr val="6B7280"/>
                </a:solidFill>
                <a:latin typeface="Quattrocento Sans"/>
                <a:ea typeface="Quattrocento Sans"/>
                <a:cs typeface="Quattrocento Sans"/>
                <a:sym typeface="Quattrocento Sans"/>
              </a:rPr>
              <a:t>Part II</a:t>
            </a:r>
            <a:endParaRPr sz="1050" kern="0" dirty="0">
              <a:solidFill>
                <a:srgbClr val="000000"/>
              </a:solidFill>
              <a:latin typeface="Arial"/>
              <a:cs typeface="Arial"/>
              <a:sym typeface="Arial"/>
            </a:endParaRPr>
          </a:p>
        </p:txBody>
      </p:sp>
      <p:sp>
        <p:nvSpPr>
          <p:cNvPr id="2" name="TextBox 1">
            <a:extLst>
              <a:ext uri="{FF2B5EF4-FFF2-40B4-BE49-F238E27FC236}">
                <a16:creationId xmlns:a16="http://schemas.microsoft.com/office/drawing/2014/main" id="{924A4295-3EAE-9208-0A7B-5F5918EF4B32}"/>
              </a:ext>
            </a:extLst>
          </p:cNvPr>
          <p:cNvSpPr txBox="1"/>
          <p:nvPr/>
        </p:nvSpPr>
        <p:spPr>
          <a:xfrm>
            <a:off x="571500" y="943429"/>
            <a:ext cx="11049000" cy="5355312"/>
          </a:xfrm>
          <a:prstGeom prst="rect">
            <a:avLst/>
          </a:prstGeom>
          <a:noFill/>
        </p:spPr>
        <p:txBody>
          <a:bodyPr wrap="square" rtlCol="0">
            <a:spAutoFit/>
          </a:bodyPr>
          <a:lstStyle/>
          <a:p>
            <a:r>
              <a:rPr lang="en-IN" b="1" dirty="0"/>
              <a:t>Release 6 (2005) – Introduction of HSUPA</a:t>
            </a:r>
          </a:p>
          <a:p>
            <a:r>
              <a:rPr lang="en-IN" b="1" dirty="0"/>
              <a:t>Release 6</a:t>
            </a:r>
            <a:r>
              <a:rPr lang="en-IN" dirty="0"/>
              <a:t> enhanced the uplink by introducing </a:t>
            </a:r>
            <a:r>
              <a:rPr lang="en-IN" b="1" dirty="0"/>
              <a:t>High-Speed Uplink Packet Access (HSUPA)</a:t>
            </a:r>
            <a:r>
              <a:rPr lang="en-IN" dirty="0"/>
              <a:t>, increasing theoretical uplink speeds to </a:t>
            </a:r>
            <a:r>
              <a:rPr lang="en-IN" b="1" dirty="0"/>
              <a:t>5.76 Mbps</a:t>
            </a:r>
            <a:r>
              <a:rPr lang="en-IN" dirty="0"/>
              <a:t> while reducing transmission latency. These improvements provided better support for interactive applications such as video conferencing, online gaming, and real-time multimedia communication.</a:t>
            </a:r>
          </a:p>
          <a:p>
            <a:br>
              <a:rPr lang="en-IN" dirty="0"/>
            </a:br>
            <a:endParaRPr lang="en-IN" dirty="0"/>
          </a:p>
          <a:p>
            <a:r>
              <a:rPr lang="en-IN" b="1" dirty="0"/>
              <a:t>Release 7 (2007) – HSPA Evolution (HSPA+)</a:t>
            </a:r>
          </a:p>
          <a:p>
            <a:r>
              <a:rPr lang="en-IN" b="1" dirty="0"/>
              <a:t>Release 7</a:t>
            </a:r>
            <a:r>
              <a:rPr lang="en-IN" dirty="0"/>
              <a:t> introduced </a:t>
            </a:r>
            <a:r>
              <a:rPr lang="en-IN" b="1" dirty="0"/>
              <a:t>HSPA+ (Evolved HSPA)</a:t>
            </a:r>
            <a:r>
              <a:rPr lang="en-IN" dirty="0"/>
              <a:t>, improving spectral efficiency through technologies such as </a:t>
            </a:r>
            <a:r>
              <a:rPr lang="en-IN" b="1" dirty="0"/>
              <a:t>64-QAM modulation</a:t>
            </a:r>
            <a:r>
              <a:rPr lang="en-IN" dirty="0"/>
              <a:t>, </a:t>
            </a:r>
            <a:r>
              <a:rPr lang="en-IN" b="1" dirty="0"/>
              <a:t>MIMO</a:t>
            </a:r>
            <a:r>
              <a:rPr lang="en-IN" dirty="0"/>
              <a:t>, and enhanced scheduling algorithms. These enhancements increased theoretical downlink speeds to </a:t>
            </a:r>
            <a:r>
              <a:rPr lang="en-IN" b="1" dirty="0"/>
              <a:t>28 Mbps</a:t>
            </a:r>
            <a:r>
              <a:rPr lang="en-IN" dirty="0"/>
              <a:t> while improving network capacity and overall user experience.</a:t>
            </a:r>
          </a:p>
          <a:p>
            <a:br>
              <a:rPr lang="en-IN" dirty="0"/>
            </a:br>
            <a:endParaRPr lang="en-IN" dirty="0"/>
          </a:p>
          <a:p>
            <a:r>
              <a:rPr lang="en-IN" b="1" dirty="0"/>
              <a:t>Release 8 (2008) – Advanced HSPA+ and LTE</a:t>
            </a:r>
          </a:p>
          <a:p>
            <a:r>
              <a:rPr lang="en-IN" b="1" dirty="0"/>
              <a:t>Release 8</a:t>
            </a:r>
            <a:r>
              <a:rPr lang="en-IN" dirty="0"/>
              <a:t> further enhanced HSPA+ by introducing </a:t>
            </a:r>
            <a:r>
              <a:rPr lang="en-IN" b="1" dirty="0"/>
              <a:t>Dual-Carrier HSDPA (DC-HSDPA)</a:t>
            </a:r>
            <a:r>
              <a:rPr lang="en-IN" dirty="0"/>
              <a:t>, increasing theoretical downlink speeds to </a:t>
            </a:r>
            <a:r>
              <a:rPr lang="en-IN" b="1" dirty="0"/>
              <a:t>42 Mbps</a:t>
            </a:r>
            <a:r>
              <a:rPr lang="en-IN" dirty="0"/>
              <a:t> and reducing network latency. More importantly, Release 8 introduced the first specifications for </a:t>
            </a:r>
            <a:r>
              <a:rPr lang="en-IN" b="1" dirty="0"/>
              <a:t>Long Term Evolution (LTE)</a:t>
            </a:r>
            <a:r>
              <a:rPr lang="en-IN" dirty="0"/>
              <a:t>, marking the beginning of the transition from </a:t>
            </a:r>
            <a:r>
              <a:rPr lang="en-IN" b="1" dirty="0"/>
              <a:t>3G to 4G mobile communication</a:t>
            </a:r>
            <a:endParaRPr lang="en-IN" dirty="0"/>
          </a:p>
          <a:p>
            <a:endParaRPr lang="en-IN" dirty="0"/>
          </a:p>
        </p:txBody>
      </p:sp>
    </p:spTree>
    <p:extLst>
      <p:ext uri="{BB962C8B-B14F-4D97-AF65-F5344CB8AC3E}">
        <p14:creationId xmlns:p14="http://schemas.microsoft.com/office/powerpoint/2010/main" val="311210303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4A8E1DE6-0779-DCC5-6DB0-CB213CA63DA0}"/>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DE8ED778-F00E-8C9F-FA46-6E6E9C9EF754}"/>
              </a:ext>
            </a:extLst>
          </p:cNvPr>
          <p:cNvSpPr/>
          <p:nvPr/>
        </p:nvSpPr>
        <p:spPr>
          <a:xfrm>
            <a:off x="0" y="0"/>
            <a:ext cx="12192000" cy="38100"/>
          </a:xfrm>
          <a:prstGeom prst="rect">
            <a:avLst/>
          </a:prstGeom>
          <a:solidFill>
            <a:srgbClr val="1E5AA8"/>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38" name="Google Shape;138;p6">
            <a:extLst>
              <a:ext uri="{FF2B5EF4-FFF2-40B4-BE49-F238E27FC236}">
                <a16:creationId xmlns:a16="http://schemas.microsoft.com/office/drawing/2014/main" id="{80339D3C-BC68-9E17-51C1-52415181EB93}"/>
              </a:ext>
            </a:extLst>
          </p:cNvPr>
          <p:cNvSpPr/>
          <p:nvPr/>
        </p:nvSpPr>
        <p:spPr>
          <a:xfrm>
            <a:off x="571500" y="238125"/>
            <a:ext cx="11049000" cy="447675"/>
          </a:xfrm>
          <a:prstGeom prst="rect">
            <a:avLst/>
          </a:prstGeom>
          <a:noFill/>
          <a:ln>
            <a:noFill/>
          </a:ln>
        </p:spPr>
        <p:txBody>
          <a:bodyPr spcFirstLastPara="1" wrap="square" lIns="0" tIns="0" rIns="0" bIns="0" anchor="ctr" anchorCtr="0">
            <a:noAutofit/>
          </a:bodyPr>
          <a:lstStyle/>
          <a:p>
            <a:pPr defTabSz="685800">
              <a:buClr>
                <a:srgbClr val="000000"/>
              </a:buClr>
            </a:pPr>
            <a:r>
              <a:rPr lang="en-US" sz="2400" b="1" kern="0" dirty="0">
                <a:solidFill>
                  <a:srgbClr val="4472C4"/>
                </a:solidFill>
                <a:cs typeface="Arial"/>
                <a:sym typeface="Arial"/>
              </a:rPr>
              <a:t>Comparison of 2G, 2.5G, 2.75G, and 3G Networks</a:t>
            </a:r>
            <a:endParaRPr lang="en-IN" sz="2400" kern="0" dirty="0">
              <a:solidFill>
                <a:srgbClr val="4472C4"/>
              </a:solidFill>
              <a:cs typeface="Arial"/>
              <a:sym typeface="Arial"/>
            </a:endParaRPr>
          </a:p>
        </p:txBody>
      </p:sp>
      <p:sp>
        <p:nvSpPr>
          <p:cNvPr id="139" name="Google Shape;139;p6">
            <a:extLst>
              <a:ext uri="{FF2B5EF4-FFF2-40B4-BE49-F238E27FC236}">
                <a16:creationId xmlns:a16="http://schemas.microsoft.com/office/drawing/2014/main" id="{C058BEC9-75B8-9A05-D7D6-082CE9A05A59}"/>
              </a:ext>
            </a:extLst>
          </p:cNvPr>
          <p:cNvSpPr/>
          <p:nvPr/>
        </p:nvSpPr>
        <p:spPr>
          <a:xfrm>
            <a:off x="571500" y="704850"/>
            <a:ext cx="1714500" cy="28575"/>
          </a:xfrm>
          <a:prstGeom prst="rect">
            <a:avLst/>
          </a:prstGeom>
          <a:solidFill>
            <a:srgbClr val="5A9BD5"/>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144" name="Google Shape;144;p6">
            <a:extLst>
              <a:ext uri="{FF2B5EF4-FFF2-40B4-BE49-F238E27FC236}">
                <a16:creationId xmlns:a16="http://schemas.microsoft.com/office/drawing/2014/main" id="{13E872C4-EF3F-B769-D5C5-221995B4AC3C}"/>
              </a:ext>
            </a:extLst>
          </p:cNvPr>
          <p:cNvSpPr/>
          <p:nvPr/>
        </p:nvSpPr>
        <p:spPr>
          <a:xfrm>
            <a:off x="904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More Users</a:t>
            </a:r>
            <a:endParaRPr sz="1200" kern="0">
              <a:solidFill>
                <a:srgbClr val="000000"/>
              </a:solidFill>
              <a:latin typeface="Arial"/>
              <a:cs typeface="Arial"/>
              <a:sym typeface="Arial"/>
            </a:endParaRPr>
          </a:p>
        </p:txBody>
      </p:sp>
      <p:sp>
        <p:nvSpPr>
          <p:cNvPr id="147" name="Google Shape;147;p6">
            <a:extLst>
              <a:ext uri="{FF2B5EF4-FFF2-40B4-BE49-F238E27FC236}">
                <a16:creationId xmlns:a16="http://schemas.microsoft.com/office/drawing/2014/main" id="{5BB0607B-028D-4019-A1D7-2E26CBE1569D}"/>
              </a:ext>
            </a:extLst>
          </p:cNvPr>
          <p:cNvSpPr/>
          <p:nvPr/>
        </p:nvSpPr>
        <p:spPr>
          <a:xfrm>
            <a:off x="30956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125" b="1" kern="0" dirty="0">
                <a:solidFill>
                  <a:srgbClr val="FFFFFF"/>
                </a:solidFill>
                <a:latin typeface="Quattrocento Sans"/>
                <a:ea typeface="Quattrocento Sans"/>
                <a:cs typeface="Quattrocento Sans"/>
                <a:sym typeface="Quattrocento Sans"/>
              </a:rPr>
              <a:t>Beer Spectrum</a:t>
            </a:r>
            <a:endParaRPr sz="1125" kern="0" dirty="0">
              <a:solidFill>
                <a:srgbClr val="000000"/>
              </a:solidFill>
              <a:latin typeface="Arial"/>
              <a:cs typeface="Arial"/>
              <a:sym typeface="Arial"/>
            </a:endParaRPr>
          </a:p>
        </p:txBody>
      </p:sp>
      <p:sp>
        <p:nvSpPr>
          <p:cNvPr id="150" name="Google Shape;150;p6">
            <a:extLst>
              <a:ext uri="{FF2B5EF4-FFF2-40B4-BE49-F238E27FC236}">
                <a16:creationId xmlns:a16="http://schemas.microsoft.com/office/drawing/2014/main" id="{6D18F1A4-2F18-813E-2459-86401130FDD3}"/>
              </a:ext>
            </a:extLst>
          </p:cNvPr>
          <p:cNvSpPr/>
          <p:nvPr/>
        </p:nvSpPr>
        <p:spPr>
          <a:xfrm>
            <a:off x="52863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Capacity</a:t>
            </a:r>
            <a:endParaRPr sz="1200" kern="0">
              <a:solidFill>
                <a:srgbClr val="000000"/>
              </a:solidFill>
              <a:latin typeface="Arial"/>
              <a:cs typeface="Arial"/>
              <a:sym typeface="Arial"/>
            </a:endParaRPr>
          </a:p>
        </p:txBody>
      </p:sp>
      <p:sp>
        <p:nvSpPr>
          <p:cNvPr id="153" name="Google Shape;153;p6">
            <a:extLst>
              <a:ext uri="{FF2B5EF4-FFF2-40B4-BE49-F238E27FC236}">
                <a16:creationId xmlns:a16="http://schemas.microsoft.com/office/drawing/2014/main" id="{29C7140D-C983-DCD7-8352-E7993A4D2FC4}"/>
              </a:ext>
            </a:extLst>
          </p:cNvPr>
          <p:cNvSpPr/>
          <p:nvPr/>
        </p:nvSpPr>
        <p:spPr>
          <a:xfrm>
            <a:off x="747712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200" b="1" kern="0">
                <a:solidFill>
                  <a:srgbClr val="FFFFFF"/>
                </a:solidFill>
                <a:latin typeface="Quattrocento Sans"/>
                <a:ea typeface="Quattrocento Sans"/>
                <a:cs typeface="Quattrocento Sans"/>
                <a:sym typeface="Quattrocento Sans"/>
              </a:rPr>
              <a:t>Higher Speed</a:t>
            </a:r>
            <a:endParaRPr sz="1200" kern="0">
              <a:solidFill>
                <a:srgbClr val="000000"/>
              </a:solidFill>
              <a:latin typeface="Arial"/>
              <a:cs typeface="Arial"/>
              <a:sym typeface="Arial"/>
            </a:endParaRPr>
          </a:p>
        </p:txBody>
      </p:sp>
      <p:sp>
        <p:nvSpPr>
          <p:cNvPr id="156" name="Google Shape;156;p6">
            <a:extLst>
              <a:ext uri="{FF2B5EF4-FFF2-40B4-BE49-F238E27FC236}">
                <a16:creationId xmlns:a16="http://schemas.microsoft.com/office/drawing/2014/main" id="{0A100500-9BF9-1D9A-EDA6-7E9C9858C633}"/>
              </a:ext>
            </a:extLst>
          </p:cNvPr>
          <p:cNvSpPr/>
          <p:nvPr/>
        </p:nvSpPr>
        <p:spPr>
          <a:xfrm>
            <a:off x="9667875" y="4619625"/>
            <a:ext cx="1714500" cy="533400"/>
          </a:xfrm>
          <a:prstGeom prst="rect">
            <a:avLst/>
          </a:prstGeom>
          <a:noFill/>
          <a:ln>
            <a:noFill/>
          </a:ln>
        </p:spPr>
        <p:txBody>
          <a:bodyPr spcFirstLastPara="1" wrap="square" lIns="0" tIns="0" rIns="0" bIns="0" anchor="ctr" anchorCtr="0">
            <a:noAutofit/>
          </a:bodyPr>
          <a:lstStyle/>
          <a:p>
            <a:pPr algn="ctr" defTabSz="685800">
              <a:lnSpc>
                <a:spcPct val="120000"/>
              </a:lnSpc>
              <a:buClr>
                <a:srgbClr val="000000"/>
              </a:buClr>
            </a:pPr>
            <a:r>
              <a:rPr lang="en-US" sz="1050" b="1" kern="0">
                <a:solidFill>
                  <a:srgbClr val="FFFFFF"/>
                </a:solidFill>
                <a:latin typeface="Quattrocento Sans"/>
                <a:ea typeface="Quattrocento Sans"/>
                <a:cs typeface="Quattrocento Sans"/>
                <a:sym typeface="Quattrocento Sans"/>
              </a:rPr>
              <a:t>Better Experience</a:t>
            </a:r>
            <a:endParaRPr sz="1050" kern="0">
              <a:solidFill>
                <a:srgbClr val="000000"/>
              </a:solidFill>
              <a:latin typeface="Arial"/>
              <a:cs typeface="Arial"/>
              <a:sym typeface="Arial"/>
            </a:endParaRPr>
          </a:p>
        </p:txBody>
      </p:sp>
      <p:sp>
        <p:nvSpPr>
          <p:cNvPr id="160" name="Google Shape;160;p6">
            <a:extLst>
              <a:ext uri="{FF2B5EF4-FFF2-40B4-BE49-F238E27FC236}">
                <a16:creationId xmlns:a16="http://schemas.microsoft.com/office/drawing/2014/main" id="{B94D71BB-5FE8-C536-64D8-29DA7BC7E5DD}"/>
              </a:ext>
            </a:extLst>
          </p:cNvPr>
          <p:cNvSpPr/>
          <p:nvPr/>
        </p:nvSpPr>
        <p:spPr>
          <a:xfrm>
            <a:off x="571500" y="6457950"/>
            <a:ext cx="11049000" cy="9525"/>
          </a:xfrm>
          <a:prstGeom prst="rect">
            <a:avLst/>
          </a:prstGeom>
          <a:solidFill>
            <a:srgbClr val="D0D5DD"/>
          </a:solidFill>
          <a:ln>
            <a:noFill/>
          </a:ln>
        </p:spPr>
        <p:txBody>
          <a:bodyPr spcFirstLastPara="1" wrap="square" lIns="68569" tIns="68569" rIns="68569" bIns="68569" anchor="ctr" anchorCtr="0">
            <a:noAutofit/>
          </a:bodyPr>
          <a:lstStyle/>
          <a:p>
            <a:pPr defTabSz="685800">
              <a:buClr>
                <a:srgbClr val="000000"/>
              </a:buClr>
            </a:pPr>
            <a:endParaRPr sz="1050" kern="0">
              <a:solidFill>
                <a:srgbClr val="000000"/>
              </a:solidFill>
              <a:latin typeface="Arial"/>
              <a:cs typeface="Arial"/>
              <a:sym typeface="Arial"/>
            </a:endParaRPr>
          </a:p>
        </p:txBody>
      </p:sp>
      <p:sp>
        <p:nvSpPr>
          <p:cNvPr id="3" name="Google Shape;161;p6">
            <a:extLst>
              <a:ext uri="{FF2B5EF4-FFF2-40B4-BE49-F238E27FC236}">
                <a16:creationId xmlns:a16="http://schemas.microsoft.com/office/drawing/2014/main" id="{250101A7-B5B0-D1D0-9971-932F3842FC95}"/>
              </a:ext>
            </a:extLst>
          </p:cNvPr>
          <p:cNvSpPr/>
          <p:nvPr/>
        </p:nvSpPr>
        <p:spPr>
          <a:xfrm>
            <a:off x="571500" y="6524625"/>
            <a:ext cx="2381250" cy="228600"/>
          </a:xfrm>
          <a:prstGeom prst="rect">
            <a:avLst/>
          </a:prstGeom>
          <a:noFill/>
          <a:ln>
            <a:noFill/>
          </a:ln>
        </p:spPr>
        <p:txBody>
          <a:bodyPr spcFirstLastPara="1" wrap="square" lIns="0" tIns="0" rIns="0" bIns="0" anchor="ctr" anchorCtr="0">
            <a:noAutofit/>
          </a:bodyPr>
          <a:lstStyle/>
          <a:p>
            <a:pPr defTabSz="685800">
              <a:lnSpc>
                <a:spcPct val="140000"/>
              </a:lnSpc>
              <a:buClr>
                <a:srgbClr val="000000"/>
              </a:buClr>
            </a:pPr>
            <a:r>
              <a:rPr lang="en-US" sz="1050" kern="0" dirty="0">
                <a:solidFill>
                  <a:srgbClr val="6B7280"/>
                </a:solidFill>
                <a:latin typeface="Quattrocento Sans"/>
                <a:ea typeface="Quattrocento Sans"/>
                <a:cs typeface="Quattrocento Sans"/>
                <a:sym typeface="Quattrocento Sans"/>
              </a:rPr>
              <a:t>Part II</a:t>
            </a:r>
            <a:endParaRPr sz="1050" kern="0" dirty="0">
              <a:solidFill>
                <a:srgbClr val="000000"/>
              </a:solidFill>
              <a:latin typeface="Arial"/>
              <a:cs typeface="Arial"/>
              <a:sym typeface="Arial"/>
            </a:endParaRPr>
          </a:p>
        </p:txBody>
      </p:sp>
      <p:graphicFrame>
        <p:nvGraphicFramePr>
          <p:cNvPr id="4" name="Table 3">
            <a:extLst>
              <a:ext uri="{FF2B5EF4-FFF2-40B4-BE49-F238E27FC236}">
                <a16:creationId xmlns:a16="http://schemas.microsoft.com/office/drawing/2014/main" id="{69D4C0E6-277B-C38B-0D4C-FF45E8D23D73}"/>
              </a:ext>
            </a:extLst>
          </p:cNvPr>
          <p:cNvGraphicFramePr>
            <a:graphicFrameLocks noGrp="1"/>
          </p:cNvGraphicFramePr>
          <p:nvPr>
            <p:extLst>
              <p:ext uri="{D42A27DB-BD31-4B8C-83A1-F6EECF244321}">
                <p14:modId xmlns:p14="http://schemas.microsoft.com/office/powerpoint/2010/main" val="498244619"/>
              </p:ext>
            </p:extLst>
          </p:nvPr>
        </p:nvGraphicFramePr>
        <p:xfrm>
          <a:off x="571499" y="839787"/>
          <a:ext cx="10810875" cy="4675185"/>
        </p:xfrm>
        <a:graphic>
          <a:graphicData uri="http://schemas.openxmlformats.org/drawingml/2006/table">
            <a:tbl>
              <a:tblPr firstRow="1" bandRow="1">
                <a:tableStyleId>{5C22544A-7EE6-4342-B048-85BDC9FD1C3A}</a:tableStyleId>
              </a:tblPr>
              <a:tblGrid>
                <a:gridCol w="2162175">
                  <a:extLst>
                    <a:ext uri="{9D8B030D-6E8A-4147-A177-3AD203B41FA5}">
                      <a16:colId xmlns:a16="http://schemas.microsoft.com/office/drawing/2014/main" val="1172491101"/>
                    </a:ext>
                  </a:extLst>
                </a:gridCol>
                <a:gridCol w="2162175">
                  <a:extLst>
                    <a:ext uri="{9D8B030D-6E8A-4147-A177-3AD203B41FA5}">
                      <a16:colId xmlns:a16="http://schemas.microsoft.com/office/drawing/2014/main" val="3290325715"/>
                    </a:ext>
                  </a:extLst>
                </a:gridCol>
                <a:gridCol w="2162175">
                  <a:extLst>
                    <a:ext uri="{9D8B030D-6E8A-4147-A177-3AD203B41FA5}">
                      <a16:colId xmlns:a16="http://schemas.microsoft.com/office/drawing/2014/main" val="931355886"/>
                    </a:ext>
                  </a:extLst>
                </a:gridCol>
                <a:gridCol w="2162175">
                  <a:extLst>
                    <a:ext uri="{9D8B030D-6E8A-4147-A177-3AD203B41FA5}">
                      <a16:colId xmlns:a16="http://schemas.microsoft.com/office/drawing/2014/main" val="1263166378"/>
                    </a:ext>
                  </a:extLst>
                </a:gridCol>
                <a:gridCol w="2162175">
                  <a:extLst>
                    <a:ext uri="{9D8B030D-6E8A-4147-A177-3AD203B41FA5}">
                      <a16:colId xmlns:a16="http://schemas.microsoft.com/office/drawing/2014/main" val="2547232660"/>
                    </a:ext>
                  </a:extLst>
                </a:gridCol>
              </a:tblGrid>
              <a:tr h="935037">
                <a:tc>
                  <a:txBody>
                    <a:bodyPr/>
                    <a:lstStyle/>
                    <a:p>
                      <a:pPr algn="just"/>
                      <a:r>
                        <a:rPr lang="en-IN" sz="1600" dirty="0"/>
                        <a:t>Feature</a:t>
                      </a:r>
                    </a:p>
                  </a:txBody>
                  <a:tcPr/>
                </a:tc>
                <a:tc>
                  <a:txBody>
                    <a:bodyPr/>
                    <a:lstStyle/>
                    <a:p>
                      <a:pPr algn="just"/>
                      <a:r>
                        <a:rPr lang="en-IN" sz="1600" dirty="0"/>
                        <a:t>2G</a:t>
                      </a:r>
                    </a:p>
                  </a:txBody>
                  <a:tcPr/>
                </a:tc>
                <a:tc>
                  <a:txBody>
                    <a:bodyPr/>
                    <a:lstStyle/>
                    <a:p>
                      <a:pPr algn="just"/>
                      <a:r>
                        <a:rPr lang="en-IN" sz="1600" dirty="0"/>
                        <a:t>GPRS</a:t>
                      </a:r>
                    </a:p>
                  </a:txBody>
                  <a:tcPr/>
                </a:tc>
                <a:tc>
                  <a:txBody>
                    <a:bodyPr/>
                    <a:lstStyle/>
                    <a:p>
                      <a:pPr algn="just"/>
                      <a:r>
                        <a:rPr lang="en-IN" sz="1600" dirty="0"/>
                        <a:t>EDGE</a:t>
                      </a:r>
                    </a:p>
                  </a:txBody>
                  <a:tcPr/>
                </a:tc>
                <a:tc>
                  <a:txBody>
                    <a:bodyPr/>
                    <a:lstStyle/>
                    <a:p>
                      <a:pPr algn="just"/>
                      <a:r>
                        <a:rPr lang="en-IN" sz="1600" dirty="0"/>
                        <a:t>UMTS</a:t>
                      </a:r>
                    </a:p>
                  </a:txBody>
                  <a:tcPr/>
                </a:tc>
                <a:extLst>
                  <a:ext uri="{0D108BD9-81ED-4DB2-BD59-A6C34878D82A}">
                    <a16:rowId xmlns:a16="http://schemas.microsoft.com/office/drawing/2014/main" val="3576435129"/>
                  </a:ext>
                </a:extLst>
              </a:tr>
              <a:tr h="935037">
                <a:tc>
                  <a:txBody>
                    <a:bodyPr/>
                    <a:lstStyle/>
                    <a:p>
                      <a:pPr algn="just"/>
                      <a:r>
                        <a:rPr lang="en-IN" sz="1600" dirty="0"/>
                        <a:t>Switching</a:t>
                      </a:r>
                    </a:p>
                  </a:txBody>
                  <a:tcPr/>
                </a:tc>
                <a:tc>
                  <a:txBody>
                    <a:bodyPr/>
                    <a:lstStyle/>
                    <a:p>
                      <a:pPr algn="just"/>
                      <a:r>
                        <a:rPr lang="en-IN" sz="1600" dirty="0"/>
                        <a:t>Circuit</a:t>
                      </a:r>
                    </a:p>
                  </a:txBody>
                  <a:tcPr/>
                </a:tc>
                <a:tc>
                  <a:txBody>
                    <a:bodyPr/>
                    <a:lstStyle/>
                    <a:p>
                      <a:pPr algn="just"/>
                      <a:r>
                        <a:rPr lang="en-IN" sz="1600" dirty="0"/>
                        <a:t>Packet</a:t>
                      </a:r>
                    </a:p>
                  </a:txBody>
                  <a:tcPr/>
                </a:tc>
                <a:tc>
                  <a:txBody>
                    <a:bodyPr/>
                    <a:lstStyle/>
                    <a:p>
                      <a:pPr algn="just"/>
                      <a:r>
                        <a:rPr lang="en-IN" sz="1600" dirty="0"/>
                        <a:t>Packet</a:t>
                      </a:r>
                    </a:p>
                  </a:txBody>
                  <a:tcPr/>
                </a:tc>
                <a:tc>
                  <a:txBody>
                    <a:bodyPr/>
                    <a:lstStyle/>
                    <a:p>
                      <a:pPr algn="just"/>
                      <a:r>
                        <a:rPr lang="en-IN" sz="1600" dirty="0"/>
                        <a:t>Circuit + Packet</a:t>
                      </a:r>
                    </a:p>
                  </a:txBody>
                  <a:tcPr/>
                </a:tc>
                <a:extLst>
                  <a:ext uri="{0D108BD9-81ED-4DB2-BD59-A6C34878D82A}">
                    <a16:rowId xmlns:a16="http://schemas.microsoft.com/office/drawing/2014/main" val="2158007565"/>
                  </a:ext>
                </a:extLst>
              </a:tr>
              <a:tr h="935037">
                <a:tc>
                  <a:txBody>
                    <a:bodyPr/>
                    <a:lstStyle/>
                    <a:p>
                      <a:pPr algn="just"/>
                      <a:r>
                        <a:rPr lang="en-IN" sz="1600" dirty="0"/>
                        <a:t>Radio Access</a:t>
                      </a:r>
                    </a:p>
                  </a:txBody>
                  <a:tcPr/>
                </a:tc>
                <a:tc>
                  <a:txBody>
                    <a:bodyPr/>
                    <a:lstStyle/>
                    <a:p>
                      <a:pPr algn="just"/>
                      <a:r>
                        <a:rPr lang="en-IN" sz="1600" dirty="0"/>
                        <a:t>TDMA</a:t>
                      </a:r>
                    </a:p>
                  </a:txBody>
                  <a:tcPr/>
                </a:tc>
                <a:tc>
                  <a:txBody>
                    <a:bodyPr/>
                    <a:lstStyle/>
                    <a:p>
                      <a:pPr algn="just"/>
                      <a:r>
                        <a:rPr lang="en-IN" sz="1600" dirty="0"/>
                        <a:t>TDMA</a:t>
                      </a:r>
                    </a:p>
                  </a:txBody>
                  <a:tcPr/>
                </a:tc>
                <a:tc>
                  <a:txBody>
                    <a:bodyPr/>
                    <a:lstStyle/>
                    <a:p>
                      <a:pPr algn="just"/>
                      <a:r>
                        <a:rPr lang="en-IN" sz="1600" dirty="0"/>
                        <a:t>TDMA + 8PSK</a:t>
                      </a:r>
                    </a:p>
                  </a:txBody>
                  <a:tcPr/>
                </a:tc>
                <a:tc>
                  <a:txBody>
                    <a:bodyPr/>
                    <a:lstStyle/>
                    <a:p>
                      <a:pPr algn="just"/>
                      <a:r>
                        <a:rPr lang="en-IN" sz="1600" dirty="0"/>
                        <a:t>WCDMA</a:t>
                      </a:r>
                    </a:p>
                  </a:txBody>
                  <a:tcPr/>
                </a:tc>
                <a:extLst>
                  <a:ext uri="{0D108BD9-81ED-4DB2-BD59-A6C34878D82A}">
                    <a16:rowId xmlns:a16="http://schemas.microsoft.com/office/drawing/2014/main" val="2911202785"/>
                  </a:ext>
                </a:extLst>
              </a:tr>
              <a:tr h="935037">
                <a:tc>
                  <a:txBody>
                    <a:bodyPr/>
                    <a:lstStyle/>
                    <a:p>
                      <a:pPr algn="just"/>
                      <a:r>
                        <a:rPr lang="en-IN" sz="1600" dirty="0"/>
                        <a:t>Peak Data Rate</a:t>
                      </a:r>
                    </a:p>
                  </a:txBody>
                  <a:tcPr/>
                </a:tc>
                <a:tc>
                  <a:txBody>
                    <a:bodyPr/>
                    <a:lstStyle/>
                    <a:p>
                      <a:pPr algn="just"/>
                      <a:r>
                        <a:rPr lang="en-IN" sz="1600" dirty="0"/>
                        <a:t>9.6 kbps</a:t>
                      </a:r>
                    </a:p>
                  </a:txBody>
                  <a:tcPr/>
                </a:tc>
                <a:tc>
                  <a:txBody>
                    <a:bodyPr/>
                    <a:lstStyle/>
                    <a:p>
                      <a:pPr algn="just"/>
                      <a:r>
                        <a:rPr lang="en-IN" sz="1600" dirty="0"/>
                        <a:t>171 kbps</a:t>
                      </a:r>
                    </a:p>
                  </a:txBody>
                  <a:tcPr/>
                </a:tc>
                <a:tc>
                  <a:txBody>
                    <a:bodyPr/>
                    <a:lstStyle/>
                    <a:p>
                      <a:pPr algn="just"/>
                      <a:r>
                        <a:rPr lang="en-IN" sz="1600" dirty="0"/>
                        <a:t>384 kbps</a:t>
                      </a:r>
                    </a:p>
                  </a:txBody>
                  <a:tcPr/>
                </a:tc>
                <a:tc>
                  <a:txBody>
                    <a:bodyPr/>
                    <a:lstStyle/>
                    <a:p>
                      <a:pPr algn="just"/>
                      <a:r>
                        <a:rPr lang="en-IN" sz="1600" dirty="0"/>
                        <a:t>2 Mbps</a:t>
                      </a:r>
                    </a:p>
                  </a:txBody>
                  <a:tcPr/>
                </a:tc>
                <a:extLst>
                  <a:ext uri="{0D108BD9-81ED-4DB2-BD59-A6C34878D82A}">
                    <a16:rowId xmlns:a16="http://schemas.microsoft.com/office/drawing/2014/main" val="3682078637"/>
                  </a:ext>
                </a:extLst>
              </a:tr>
              <a:tr h="935037">
                <a:tc>
                  <a:txBody>
                    <a:bodyPr/>
                    <a:lstStyle/>
                    <a:p>
                      <a:pPr algn="just"/>
                      <a:r>
                        <a:rPr lang="en-IN" sz="1600" dirty="0"/>
                        <a:t>Major Innovation</a:t>
                      </a:r>
                    </a:p>
                  </a:txBody>
                  <a:tcPr/>
                </a:tc>
                <a:tc>
                  <a:txBody>
                    <a:bodyPr/>
                    <a:lstStyle/>
                    <a:p>
                      <a:pPr algn="just"/>
                      <a:r>
                        <a:rPr lang="en-IN" sz="1600" dirty="0"/>
                        <a:t>Digital Voice</a:t>
                      </a:r>
                    </a:p>
                  </a:txBody>
                  <a:tcPr/>
                </a:tc>
                <a:tc>
                  <a:txBody>
                    <a:bodyPr/>
                    <a:lstStyle/>
                    <a:p>
                      <a:pPr algn="just"/>
                      <a:r>
                        <a:rPr lang="en-IN" sz="1600" dirty="0"/>
                        <a:t>Internet</a:t>
                      </a:r>
                    </a:p>
                  </a:txBody>
                  <a:tcPr/>
                </a:tc>
                <a:tc>
                  <a:txBody>
                    <a:bodyPr/>
                    <a:lstStyle/>
                    <a:p>
                      <a:pPr algn="just"/>
                      <a:r>
                        <a:rPr lang="en-IN" sz="1600" dirty="0"/>
                        <a:t>Faster Internet</a:t>
                      </a:r>
                    </a:p>
                  </a:txBody>
                  <a:tcPr/>
                </a:tc>
                <a:tc>
                  <a:txBody>
                    <a:bodyPr/>
                    <a:lstStyle/>
                    <a:p>
                      <a:pPr algn="just"/>
                      <a:r>
                        <a:rPr lang="en-IN" sz="1600" dirty="0"/>
                        <a:t>Multimedia</a:t>
                      </a:r>
                    </a:p>
                  </a:txBody>
                  <a:tcPr/>
                </a:tc>
                <a:extLst>
                  <a:ext uri="{0D108BD9-81ED-4DB2-BD59-A6C34878D82A}">
                    <a16:rowId xmlns:a16="http://schemas.microsoft.com/office/drawing/2014/main" val="725047990"/>
                  </a:ext>
                </a:extLst>
              </a:tr>
            </a:tbl>
          </a:graphicData>
        </a:graphic>
      </p:graphicFrame>
    </p:spTree>
    <p:extLst>
      <p:ext uri="{BB962C8B-B14F-4D97-AF65-F5344CB8AC3E}">
        <p14:creationId xmlns:p14="http://schemas.microsoft.com/office/powerpoint/2010/main" val="88625860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A452DF62-772D-9299-191A-6CDF076A406A}"/>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694928E8-7E4E-AEDD-2314-D9DA875FE3B2}"/>
              </a:ext>
            </a:extLst>
          </p:cNvPr>
          <p:cNvSpPr/>
          <p:nvPr/>
        </p:nvSpPr>
        <p:spPr>
          <a:xfrm>
            <a:off x="0" y="0"/>
            <a:ext cx="12192000" cy="38100"/>
          </a:xfrm>
          <a:prstGeom prst="rect">
            <a:avLst/>
          </a:prstGeom>
          <a:solidFill>
            <a:srgbClr val="1E5AA8"/>
          </a:solidFill>
          <a:ln>
            <a:noFill/>
          </a:ln>
        </p:spPr>
        <p:txBody>
          <a:bodyPr spcFirstLastPara="1" wrap="square" lIns="68569" tIns="68569" rIns="68569" bIns="68569" anchor="ctr" anchorCtr="0">
            <a:noAutofit/>
          </a:bodyPr>
          <a:lstStyle/>
          <a:p>
            <a:endParaRPr sz="1350"/>
          </a:p>
        </p:txBody>
      </p:sp>
      <p:sp>
        <p:nvSpPr>
          <p:cNvPr id="144" name="Google Shape;144;p6">
            <a:extLst>
              <a:ext uri="{FF2B5EF4-FFF2-40B4-BE49-F238E27FC236}">
                <a16:creationId xmlns:a16="http://schemas.microsoft.com/office/drawing/2014/main" id="{2E20AD4A-9083-49B8-532A-B97769DE6991}"/>
              </a:ext>
            </a:extLst>
          </p:cNvPr>
          <p:cNvSpPr/>
          <p:nvPr/>
        </p:nvSpPr>
        <p:spPr>
          <a:xfrm>
            <a:off x="904875" y="4619625"/>
            <a:ext cx="1714500" cy="533400"/>
          </a:xfrm>
          <a:prstGeom prst="rect">
            <a:avLst/>
          </a:prstGeom>
          <a:noFill/>
          <a:ln>
            <a:noFill/>
          </a:ln>
        </p:spPr>
        <p:txBody>
          <a:bodyPr spcFirstLastPara="1" wrap="square" lIns="0" tIns="0" rIns="0" bIns="0" anchor="ctr" anchorCtr="0">
            <a:noAutofit/>
          </a:bodyPr>
          <a:lstStyle/>
          <a:p>
            <a:pPr algn="ctr">
              <a:lnSpc>
                <a:spcPct val="120000"/>
              </a:lnSpc>
            </a:pPr>
            <a:r>
              <a:rPr lang="en-US" sz="1200" b="1">
                <a:solidFill>
                  <a:srgbClr val="FFFFFF"/>
                </a:solidFill>
                <a:latin typeface="Quattrocento Sans"/>
                <a:ea typeface="Quattrocento Sans"/>
                <a:cs typeface="Quattrocento Sans"/>
                <a:sym typeface="Quattrocento Sans"/>
              </a:rPr>
              <a:t>More Users</a:t>
            </a:r>
            <a:endParaRPr sz="1200"/>
          </a:p>
        </p:txBody>
      </p:sp>
      <p:sp>
        <p:nvSpPr>
          <p:cNvPr id="147" name="Google Shape;147;p6">
            <a:extLst>
              <a:ext uri="{FF2B5EF4-FFF2-40B4-BE49-F238E27FC236}">
                <a16:creationId xmlns:a16="http://schemas.microsoft.com/office/drawing/2014/main" id="{9CAF6B4C-C30D-2877-768D-5C6AC6F8FFB4}"/>
              </a:ext>
            </a:extLst>
          </p:cNvPr>
          <p:cNvSpPr/>
          <p:nvPr/>
        </p:nvSpPr>
        <p:spPr>
          <a:xfrm>
            <a:off x="3095625" y="4619625"/>
            <a:ext cx="1714500" cy="533400"/>
          </a:xfrm>
          <a:prstGeom prst="rect">
            <a:avLst/>
          </a:prstGeom>
          <a:noFill/>
          <a:ln>
            <a:noFill/>
          </a:ln>
        </p:spPr>
        <p:txBody>
          <a:bodyPr spcFirstLastPara="1" wrap="square" lIns="0" tIns="0" rIns="0" bIns="0" anchor="ctr" anchorCtr="0">
            <a:noAutofit/>
          </a:bodyPr>
          <a:lstStyle/>
          <a:p>
            <a:pPr algn="ctr">
              <a:lnSpc>
                <a:spcPct val="120000"/>
              </a:lnSpc>
            </a:pPr>
            <a:r>
              <a:rPr lang="en-US" sz="1125" b="1" dirty="0">
                <a:solidFill>
                  <a:srgbClr val="FFFFFF"/>
                </a:solidFill>
                <a:latin typeface="Quattrocento Sans"/>
                <a:ea typeface="Quattrocento Sans"/>
                <a:cs typeface="Quattrocento Sans"/>
                <a:sym typeface="Quattrocento Sans"/>
              </a:rPr>
              <a:t>Beer Spectrum</a:t>
            </a:r>
            <a:endParaRPr sz="1125" dirty="0"/>
          </a:p>
        </p:txBody>
      </p:sp>
      <p:sp>
        <p:nvSpPr>
          <p:cNvPr id="150" name="Google Shape;150;p6">
            <a:extLst>
              <a:ext uri="{FF2B5EF4-FFF2-40B4-BE49-F238E27FC236}">
                <a16:creationId xmlns:a16="http://schemas.microsoft.com/office/drawing/2014/main" id="{59604AFE-8A0C-3B06-0D85-BE2459B16675}"/>
              </a:ext>
            </a:extLst>
          </p:cNvPr>
          <p:cNvSpPr/>
          <p:nvPr/>
        </p:nvSpPr>
        <p:spPr>
          <a:xfrm>
            <a:off x="5286375" y="4619625"/>
            <a:ext cx="1714500" cy="533400"/>
          </a:xfrm>
          <a:prstGeom prst="rect">
            <a:avLst/>
          </a:prstGeom>
          <a:noFill/>
          <a:ln>
            <a:noFill/>
          </a:ln>
        </p:spPr>
        <p:txBody>
          <a:bodyPr spcFirstLastPara="1" wrap="square" lIns="0" tIns="0" rIns="0" bIns="0" anchor="ctr" anchorCtr="0">
            <a:noAutofit/>
          </a:bodyPr>
          <a:lstStyle/>
          <a:p>
            <a:pPr algn="ctr">
              <a:lnSpc>
                <a:spcPct val="120000"/>
              </a:lnSpc>
            </a:pPr>
            <a:r>
              <a:rPr lang="en-US" sz="1200" b="1">
                <a:solidFill>
                  <a:srgbClr val="FFFFFF"/>
                </a:solidFill>
                <a:latin typeface="Quattrocento Sans"/>
                <a:ea typeface="Quattrocento Sans"/>
                <a:cs typeface="Quattrocento Sans"/>
                <a:sym typeface="Quattrocento Sans"/>
              </a:rPr>
              <a:t>Higher Capacity</a:t>
            </a:r>
            <a:endParaRPr sz="1200"/>
          </a:p>
        </p:txBody>
      </p:sp>
      <p:sp>
        <p:nvSpPr>
          <p:cNvPr id="153" name="Google Shape;153;p6">
            <a:extLst>
              <a:ext uri="{FF2B5EF4-FFF2-40B4-BE49-F238E27FC236}">
                <a16:creationId xmlns:a16="http://schemas.microsoft.com/office/drawing/2014/main" id="{25EA7F49-C565-AF58-1A25-32D4312398F5}"/>
              </a:ext>
            </a:extLst>
          </p:cNvPr>
          <p:cNvSpPr/>
          <p:nvPr/>
        </p:nvSpPr>
        <p:spPr>
          <a:xfrm>
            <a:off x="7477125" y="4619625"/>
            <a:ext cx="1714500" cy="533400"/>
          </a:xfrm>
          <a:prstGeom prst="rect">
            <a:avLst/>
          </a:prstGeom>
          <a:noFill/>
          <a:ln>
            <a:noFill/>
          </a:ln>
        </p:spPr>
        <p:txBody>
          <a:bodyPr spcFirstLastPara="1" wrap="square" lIns="0" tIns="0" rIns="0" bIns="0" anchor="ctr" anchorCtr="0">
            <a:noAutofit/>
          </a:bodyPr>
          <a:lstStyle/>
          <a:p>
            <a:pPr algn="ctr">
              <a:lnSpc>
                <a:spcPct val="120000"/>
              </a:lnSpc>
            </a:pPr>
            <a:r>
              <a:rPr lang="en-US" sz="1200" b="1">
                <a:solidFill>
                  <a:srgbClr val="FFFFFF"/>
                </a:solidFill>
                <a:latin typeface="Quattrocento Sans"/>
                <a:ea typeface="Quattrocento Sans"/>
                <a:cs typeface="Quattrocento Sans"/>
                <a:sym typeface="Quattrocento Sans"/>
              </a:rPr>
              <a:t>Higher Speed</a:t>
            </a:r>
            <a:endParaRPr sz="1200"/>
          </a:p>
        </p:txBody>
      </p:sp>
      <p:sp>
        <p:nvSpPr>
          <p:cNvPr id="156" name="Google Shape;156;p6">
            <a:extLst>
              <a:ext uri="{FF2B5EF4-FFF2-40B4-BE49-F238E27FC236}">
                <a16:creationId xmlns:a16="http://schemas.microsoft.com/office/drawing/2014/main" id="{BB3CCC38-4EC0-EE7F-6E1F-4DD7EB681FCC}"/>
              </a:ext>
            </a:extLst>
          </p:cNvPr>
          <p:cNvSpPr/>
          <p:nvPr/>
        </p:nvSpPr>
        <p:spPr>
          <a:xfrm>
            <a:off x="9667875" y="4619625"/>
            <a:ext cx="1714500" cy="533400"/>
          </a:xfrm>
          <a:prstGeom prst="rect">
            <a:avLst/>
          </a:prstGeom>
          <a:noFill/>
          <a:ln>
            <a:noFill/>
          </a:ln>
        </p:spPr>
        <p:txBody>
          <a:bodyPr spcFirstLastPara="1" wrap="square" lIns="0" tIns="0" rIns="0" bIns="0" anchor="ctr" anchorCtr="0">
            <a:noAutofit/>
          </a:bodyPr>
          <a:lstStyle/>
          <a:p>
            <a:pPr algn="ctr">
              <a:lnSpc>
                <a:spcPct val="120000"/>
              </a:lnSpc>
            </a:pPr>
            <a:r>
              <a:rPr lang="en-US" sz="1050" b="1">
                <a:solidFill>
                  <a:srgbClr val="FFFFFF"/>
                </a:solidFill>
                <a:latin typeface="Quattrocento Sans"/>
                <a:ea typeface="Quattrocento Sans"/>
                <a:cs typeface="Quattrocento Sans"/>
                <a:sym typeface="Quattrocento Sans"/>
              </a:rPr>
              <a:t>Better Experience</a:t>
            </a:r>
            <a:endParaRPr sz="1050"/>
          </a:p>
        </p:txBody>
      </p:sp>
      <p:sp>
        <p:nvSpPr>
          <p:cNvPr id="160" name="Google Shape;160;p6">
            <a:extLst>
              <a:ext uri="{FF2B5EF4-FFF2-40B4-BE49-F238E27FC236}">
                <a16:creationId xmlns:a16="http://schemas.microsoft.com/office/drawing/2014/main" id="{3C092EDE-3C78-9885-A56E-B708D51C6144}"/>
              </a:ext>
            </a:extLst>
          </p:cNvPr>
          <p:cNvSpPr/>
          <p:nvPr/>
        </p:nvSpPr>
        <p:spPr>
          <a:xfrm>
            <a:off x="571500" y="6457950"/>
            <a:ext cx="11049000" cy="9525"/>
          </a:xfrm>
          <a:prstGeom prst="rect">
            <a:avLst/>
          </a:prstGeom>
          <a:solidFill>
            <a:srgbClr val="D0D5DD"/>
          </a:solidFill>
          <a:ln>
            <a:noFill/>
          </a:ln>
        </p:spPr>
        <p:txBody>
          <a:bodyPr spcFirstLastPara="1" wrap="square" lIns="68569" tIns="68569" rIns="68569" bIns="68569" anchor="ctr" anchorCtr="0">
            <a:noAutofit/>
          </a:bodyPr>
          <a:lstStyle/>
          <a:p>
            <a:endParaRPr sz="1350"/>
          </a:p>
        </p:txBody>
      </p:sp>
      <p:sp>
        <p:nvSpPr>
          <p:cNvPr id="3" name="Google Shape;161;p6">
            <a:extLst>
              <a:ext uri="{FF2B5EF4-FFF2-40B4-BE49-F238E27FC236}">
                <a16:creationId xmlns:a16="http://schemas.microsoft.com/office/drawing/2014/main" id="{B0005668-B7B6-1052-A647-56ECB25E265B}"/>
              </a:ext>
            </a:extLst>
          </p:cNvPr>
          <p:cNvSpPr/>
          <p:nvPr/>
        </p:nvSpPr>
        <p:spPr>
          <a:xfrm>
            <a:off x="571500" y="6524625"/>
            <a:ext cx="2381250" cy="228600"/>
          </a:xfrm>
          <a:prstGeom prst="rect">
            <a:avLst/>
          </a:prstGeom>
          <a:noFill/>
          <a:ln>
            <a:noFill/>
          </a:ln>
        </p:spPr>
        <p:txBody>
          <a:bodyPr spcFirstLastPara="1" wrap="square" lIns="0" tIns="0" rIns="0" bIns="0" anchor="ctr" anchorCtr="0">
            <a:noAutofit/>
          </a:bodyPr>
          <a:lstStyle/>
          <a:p>
            <a:pPr>
              <a:lnSpc>
                <a:spcPct val="140000"/>
              </a:lnSpc>
            </a:pPr>
            <a:r>
              <a:rPr lang="en-US" sz="1050" dirty="0">
                <a:solidFill>
                  <a:srgbClr val="6B7280"/>
                </a:solidFill>
                <a:latin typeface="Quattrocento Sans"/>
                <a:ea typeface="Quattrocento Sans"/>
                <a:cs typeface="Quattrocento Sans"/>
                <a:sym typeface="Quattrocento Sans"/>
              </a:rPr>
              <a:t>Part II</a:t>
            </a:r>
            <a:endParaRPr sz="1050" dirty="0"/>
          </a:p>
        </p:txBody>
      </p:sp>
      <p:sp>
        <p:nvSpPr>
          <p:cNvPr id="4" name="Rectangle 3">
            <a:extLst>
              <a:ext uri="{FF2B5EF4-FFF2-40B4-BE49-F238E27FC236}">
                <a16:creationId xmlns:a16="http://schemas.microsoft.com/office/drawing/2014/main" id="{CB3D1495-73A1-1DE8-42F2-4DBE7B7FDE0C}"/>
              </a:ext>
            </a:extLst>
          </p:cNvPr>
          <p:cNvSpPr/>
          <p:nvPr/>
        </p:nvSpPr>
        <p:spPr>
          <a:xfrm>
            <a:off x="4354548" y="2238375"/>
            <a:ext cx="3264548" cy="1315745"/>
          </a:xfrm>
          <a:prstGeom prst="rect">
            <a:avLst/>
          </a:prstGeom>
          <a:noFill/>
        </p:spPr>
        <p:txBody>
          <a:bodyPr wrap="none" lIns="68580" tIns="34290" rIns="68580" bIns="34290">
            <a:spAutoFit/>
          </a:bodyPr>
          <a:lstStyle/>
          <a:p>
            <a:pPr algn="ctr"/>
            <a:r>
              <a:rPr lang="en-GB" sz="405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a:t>
            </a:r>
          </a:p>
          <a:p>
            <a:pPr algn="ctr"/>
            <a:endParaRPr lang="en-GB" sz="405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5" name="Rectangle 4">
            <a:extLst>
              <a:ext uri="{FF2B5EF4-FFF2-40B4-BE49-F238E27FC236}">
                <a16:creationId xmlns:a16="http://schemas.microsoft.com/office/drawing/2014/main" id="{EA1FC9C2-FA43-D9C6-7F47-816940B46985}"/>
              </a:ext>
            </a:extLst>
          </p:cNvPr>
          <p:cNvSpPr/>
          <p:nvPr/>
        </p:nvSpPr>
        <p:spPr>
          <a:xfrm>
            <a:off x="4083445" y="2968452"/>
            <a:ext cx="4120360" cy="692497"/>
          </a:xfrm>
          <a:prstGeom prst="rect">
            <a:avLst/>
          </a:prstGeom>
          <a:noFill/>
        </p:spPr>
        <p:txBody>
          <a:bodyPr wrap="none" lIns="68580" tIns="34290" rIns="68580" bIns="34290">
            <a:spAutoFit/>
          </a:bodyPr>
          <a:lstStyle/>
          <a:p>
            <a:pPr algn="ctr"/>
            <a:r>
              <a:rPr lang="en-GB" sz="405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Any Questions?</a:t>
            </a:r>
          </a:p>
        </p:txBody>
      </p:sp>
    </p:spTree>
    <p:extLst>
      <p:ext uri="{BB962C8B-B14F-4D97-AF65-F5344CB8AC3E}">
        <p14:creationId xmlns:p14="http://schemas.microsoft.com/office/powerpoint/2010/main" val="1455912922"/>
      </p:ext>
    </p:extLst>
  </p:cSld>
  <p:clrMapOvr>
    <a:masterClrMapping/>
  </p:clrMapOvr>
  <p:transition>
    <p:fade/>
  </p:transition>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11290</TotalTime>
  <Words>12838</Words>
  <Application>Microsoft Office PowerPoint</Application>
  <PresentationFormat>Widescreen</PresentationFormat>
  <Paragraphs>332</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Quattrocento Sans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ISEA(1)</dc:creator>
  <cp:lastModifiedBy>ISEA(1)</cp:lastModifiedBy>
  <cp:revision>8</cp:revision>
  <dcterms:created xsi:type="dcterms:W3CDTF">2026-07-02T06:32:53Z</dcterms:created>
  <dcterms:modified xsi:type="dcterms:W3CDTF">2026-07-10T03:35:04Z</dcterms:modified>
</cp:coreProperties>
</file>